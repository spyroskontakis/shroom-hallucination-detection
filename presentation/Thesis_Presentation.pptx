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1" r:id="rId5"/>
    <p:sldId id="262" r:id="rId6"/>
    <p:sldId id="280" r:id="rId7"/>
    <p:sldId id="264" r:id="rId8"/>
    <p:sldId id="265" r:id="rId9"/>
    <p:sldId id="269" r:id="rId10"/>
    <p:sldId id="266" r:id="rId11"/>
    <p:sldId id="267" r:id="rId12"/>
    <p:sldId id="270" r:id="rId13"/>
    <p:sldId id="271" r:id="rId14"/>
    <p:sldId id="268" r:id="rId15"/>
    <p:sldId id="272" r:id="rId16"/>
    <p:sldId id="273" r:id="rId17"/>
    <p:sldId id="281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0"/>
    <a:srgbClr val="10243D"/>
    <a:srgbClr val="000000"/>
    <a:srgbClr val="F1EDF6"/>
    <a:srgbClr val="677384"/>
    <a:srgbClr val="EEF3EA"/>
    <a:srgbClr val="EEF3F8"/>
    <a:srgbClr val="FFFFFF"/>
    <a:srgbClr val="E8EFF5"/>
    <a:srgbClr val="B6D1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97034-0FF1-4844-90DA-DB4EE7A87F5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D2B06-3B39-44E0-8101-46E39C56A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32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DDC8-203B-9A8E-1C88-7A199EE5B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C045F-284A-DBCE-5048-A1B638E9E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28E61-47A3-BDE2-486C-F11B7415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33D70-E811-A2F9-B156-1FDED4E2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0397-9F05-3961-97FF-A0AA7F0D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91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AC73-FEF4-A714-B9C7-86DFED81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D30F-555D-1FD5-1AC5-2EF5CA514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C7BE9-5891-56A6-F5B0-2CA033E2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E1B3-033A-23C4-849F-8EB38A36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4E8F7-7779-F2FB-4EEA-8E5CFD7F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9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1A62-CBC3-36A0-36E2-167E4A35D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45712-E751-DCF6-D1CF-0DDF085D7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0D750-122C-EDA7-6FB6-E684821E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B8718-6CDC-6BD5-083B-78E05218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A8A69-9D38-86EC-A9A8-3CE92F56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6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9A58-DB3E-0E51-26AC-003CFB74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1DE00-2128-5C95-EF31-76208CD88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DD867-91E9-9C9E-F070-9F769C555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CC6D2-0DCA-C5F7-758A-812C5B037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8EEBA-3940-13E4-A55C-1C12324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99FE8-E43A-2557-F568-F627087F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4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1FAA-1E22-B4E3-0770-E8270203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3AB69-886F-24A7-23D8-F853A4B18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0CB16-867C-FC85-1E67-3EBB447FF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93507-3F09-985F-234F-0C1F8E0C0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B3664-790B-6FCF-D154-50B2901FC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76543-CDC2-3312-EA71-B6721F21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3874B0-B777-B131-5EBF-E7C46906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E52881-32C8-FC19-4B1A-D693CE63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67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B2DC-65C6-85CB-F437-EEAC2F30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E423F-8DE2-47B2-0F60-C9C9BF68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0D945-8D3A-9583-F6D9-E91E990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2E1E6-3EF0-6412-19ED-67427DCB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8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EECC8-624F-1655-B2FB-D83E3C98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F7BF-3857-FA43-7AB2-4D1AF39B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B78B7-18FD-CFB7-E1CC-2FAA2627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7468-046B-7C63-084F-06393F18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82AB-F51E-F429-2EF2-37A992DA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B113A-8E1F-2238-09E9-C311BE81B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7F51-A4AE-D129-6FA6-88E1689F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38353-123D-EBB2-17D6-D97457C31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3B2C5-B097-C256-E9EE-1685191B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86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D1CC-EBF2-272D-4E3B-AA8881FE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50960-8BF8-3172-FF3E-C297659687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1BCD7-5626-5023-4A63-58661BD97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CF406-9C64-9198-F1CC-808BD7B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A755D-62C0-8B34-6B23-71AA03D0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E687A-B926-081A-FF5C-F1ACF76A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83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3651-3981-C2E7-6EDD-4A39CCE6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6B01-EAEB-6063-66E1-28A782757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586E-EA4A-0BD0-B09E-74D8D16C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BF32-366E-C376-6F92-D4285E67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576F-C39B-3267-1B66-59C7DF5E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7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208AC-1A35-DA4B-1DE9-06DD930A3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20CCE-5042-9924-795C-56E095D19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406A-AF1B-78A0-A8D1-814AAC68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DE78C-1F31-12B7-F165-B83F41FC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3E930-3AD8-B24B-BFE0-82678D10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528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AC2B6-EE8F-908F-1958-A105FB6C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AAA53-AA2A-B3BC-E0C1-84C29FE58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71A59-7A1A-0E7B-70A6-6326B7A86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9CF9A-F433-4A5B-9BC5-5F60FDBE5FE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4CA88-0EDB-9D28-02FF-534270CB4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CEFD0-E3E9-ABE4-9816-945CAE367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61EAA-2D77-44BC-A2FE-5218FFB4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40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2058543" y="10977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ΠΑΝΕΠΙΣΤΗΜΙΟ ΙΩΑΝΝΙΝΩΝ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Text 1"/>
          <p:cNvSpPr/>
          <p:nvPr/>
        </p:nvSpPr>
        <p:spPr>
          <a:xfrm>
            <a:off x="2058543" y="131694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Τμήμα Μηχανικών Ηλεκτρονικών Υπολογιστών και Πληροφορικής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Text 2"/>
          <p:cNvSpPr/>
          <p:nvPr/>
        </p:nvSpPr>
        <p:spPr>
          <a:xfrm>
            <a:off x="240487" y="2896386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Ανίχνευση hallucinations σε συστήματα παραγωγής φυσικής γλώσσας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Text 3"/>
          <p:cNvSpPr/>
          <p:nvPr/>
        </p:nvSpPr>
        <p:spPr>
          <a:xfrm>
            <a:off x="241402" y="351360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B6D1E7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Πειραματική μελέτη στο πλαίσιο του διαγωνισμού SHROOM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Shape 4"/>
          <p:cNvSpPr/>
          <p:nvPr/>
        </p:nvSpPr>
        <p:spPr>
          <a:xfrm>
            <a:off x="241402" y="3975378"/>
            <a:ext cx="1042416" cy="48463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Text 5"/>
          <p:cNvSpPr/>
          <p:nvPr/>
        </p:nvSpPr>
        <p:spPr>
          <a:xfrm>
            <a:off x="242316" y="61166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Σπυρίδων Κοντάκης</a:t>
            </a: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- ΑΜ: 4702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Text 6"/>
          <p:cNvSpPr/>
          <p:nvPr/>
        </p:nvSpPr>
        <p:spPr>
          <a:xfrm>
            <a:off x="241402" y="643371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Επιβλέπων: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Κωνσταντίνος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 Σκιάνης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Text 7"/>
          <p:cNvSpPr/>
          <p:nvPr/>
        </p:nvSpPr>
        <p:spPr>
          <a:xfrm>
            <a:off x="8976852" y="6433718"/>
            <a:ext cx="29245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Ιωάννινα,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Οκτώ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βριος 2026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50" name="Image 0" descr="/mnt/data/SHROOM_CSE_logo_transparent.png">
            <a:extLst>
              <a:ext uri="{FF2B5EF4-FFF2-40B4-BE49-F238E27FC236}">
                <a16:creationId xmlns:a16="http://schemas.microsoft.com/office/drawing/2014/main" id="{B58D901B-6AAF-E569-F33E-AF7500C7C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55" y="230238"/>
            <a:ext cx="1745913" cy="20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9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80C46C-C365-ABF2-AE09-72C5FD8F13A5}"/>
              </a:ext>
            </a:extLst>
          </p:cNvPr>
          <p:cNvSpPr txBox="1"/>
          <p:nvPr/>
        </p:nvSpPr>
        <p:spPr>
          <a:xfrm>
            <a:off x="411480" y="256032"/>
            <a:ext cx="53035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 err="1">
                <a:solidFill>
                  <a:srgbClr val="10243D"/>
                </a:solidFill>
                <a:latin typeface="Aptos"/>
              </a:rPr>
              <a:t>Ποι</a:t>
            </a:r>
            <a:r>
              <a:rPr lang="el-GR" sz="3000" b="1" dirty="0">
                <a:solidFill>
                  <a:srgbClr val="10243D"/>
                </a:solidFill>
                <a:latin typeface="Aptos"/>
              </a:rPr>
              <a:t>ό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 είναι το πρόβ</a:t>
            </a:r>
            <a:r>
              <a:rPr sz="3000" b="1" dirty="0" err="1">
                <a:solidFill>
                  <a:srgbClr val="10243D"/>
                </a:solidFill>
                <a:latin typeface="Aptos"/>
              </a:rPr>
              <a:t>λημ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α;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B5578-F7CC-1072-069E-B73DBD01DC79}"/>
              </a:ext>
            </a:extLst>
          </p:cNvPr>
          <p:cNvSpPr txBox="1"/>
          <p:nvPr/>
        </p:nvSpPr>
        <p:spPr>
          <a:xfrm>
            <a:off x="419248" y="730933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dirty="0">
                <a:solidFill>
                  <a:srgbClr val="374357"/>
                </a:solidFill>
                <a:latin typeface="Aptos"/>
              </a:rPr>
              <a:t>Τα 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συστήμ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ατα μπορούν να παράγουν κείμενο που φαίνεται σωστό,
αλλά δεν υποστηρίζεται από την αναφορά.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5EFAC5-2E25-70E1-53E6-9CB2AA86CF20}"/>
              </a:ext>
            </a:extLst>
          </p:cNvPr>
          <p:cNvSpPr txBox="1"/>
          <p:nvPr/>
        </p:nvSpPr>
        <p:spPr>
          <a:xfrm>
            <a:off x="868679" y="2198101"/>
            <a:ext cx="374903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2400" b="1" dirty="0">
                <a:solidFill>
                  <a:srgbClr val="10243D"/>
                </a:solidFill>
                <a:latin typeface="Aptos"/>
              </a:rPr>
              <a:t>Κείμενο Αναφοράς</a:t>
            </a:r>
            <a:endParaRPr sz="24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BADA2-F7D8-F172-EB8C-452032E8B004}"/>
              </a:ext>
            </a:extLst>
          </p:cNvPr>
          <p:cNvSpPr txBox="1"/>
          <p:nvPr/>
        </p:nvSpPr>
        <p:spPr>
          <a:xfrm>
            <a:off x="6629400" y="2198101"/>
            <a:ext cx="4297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2400" b="1" dirty="0">
                <a:solidFill>
                  <a:srgbClr val="10243D"/>
                </a:solidFill>
                <a:latin typeface="Aptos"/>
              </a:rPr>
              <a:t>Παραγωγή του μοντέλου</a:t>
            </a:r>
            <a:endParaRPr sz="24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6CFFE-FA54-858F-427E-BEFAA9DBF724}"/>
              </a:ext>
            </a:extLst>
          </p:cNvPr>
          <p:cNvSpPr txBox="1"/>
          <p:nvPr/>
        </p:nvSpPr>
        <p:spPr>
          <a:xfrm>
            <a:off x="868680" y="2724125"/>
            <a:ext cx="144289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0" dirty="0">
                <a:solidFill>
                  <a:srgbClr val="0A2D60"/>
                </a:solidFill>
                <a:latin typeface="Aptos"/>
              </a:rPr>
              <a:t>It’s my </a:t>
            </a:r>
            <a:r>
              <a:rPr sz="2400" b="1" dirty="0">
                <a:solidFill>
                  <a:srgbClr val="00B050"/>
                </a:solidFill>
                <a:latin typeface="Aptos"/>
              </a:rPr>
              <a:t>job</a:t>
            </a:r>
            <a:r>
              <a:rPr sz="2400" b="1" dirty="0">
                <a:solidFill>
                  <a:srgbClr val="18999B"/>
                </a:solidFill>
                <a:latin typeface="Apto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360A43-C687-E316-FEEB-B4BFD7218831}"/>
              </a:ext>
            </a:extLst>
          </p:cNvPr>
          <p:cNvSpPr txBox="1"/>
          <p:nvPr/>
        </p:nvSpPr>
        <p:spPr>
          <a:xfrm>
            <a:off x="868680" y="3227928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dirty="0">
                <a:solidFill>
                  <a:srgbClr val="0A2D60"/>
                </a:solidFill>
                <a:latin typeface="Aptos"/>
              </a:rPr>
              <a:t>Είναι </a:t>
            </a:r>
            <a:r>
              <a:rPr sz="2400" b="1" dirty="0">
                <a:solidFill>
                  <a:srgbClr val="00B050"/>
                </a:solidFill>
                <a:latin typeface="Aptos"/>
              </a:rPr>
              <a:t>η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00B050"/>
                </a:solidFill>
                <a:latin typeface="Aptos"/>
              </a:rPr>
              <a:t>δουλειά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0A2D60"/>
                </a:solidFill>
                <a:latin typeface="Aptos"/>
              </a:rPr>
              <a:t>μου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40592-82AF-5F23-EF73-457E25BA3F42}"/>
              </a:ext>
            </a:extLst>
          </p:cNvPr>
          <p:cNvSpPr txBox="1"/>
          <p:nvPr/>
        </p:nvSpPr>
        <p:spPr>
          <a:xfrm>
            <a:off x="6629400" y="2724125"/>
            <a:ext cx="1611018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0" dirty="0">
                <a:solidFill>
                  <a:srgbClr val="0A2D60"/>
                </a:solidFill>
                <a:latin typeface="Aptos"/>
              </a:rPr>
              <a:t>It’s my </a:t>
            </a:r>
            <a:r>
              <a:rPr sz="2400" b="1" dirty="0">
                <a:solidFill>
                  <a:srgbClr val="C00000"/>
                </a:solidFill>
                <a:latin typeface="Aptos"/>
              </a:rPr>
              <a:t>duty</a:t>
            </a:r>
            <a:r>
              <a:rPr sz="2400" b="1" dirty="0">
                <a:solidFill>
                  <a:srgbClr val="D86F0A"/>
                </a:solidFill>
                <a:latin typeface="Aptos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CEBD21-302A-5F47-B752-31916BD912DC}"/>
              </a:ext>
            </a:extLst>
          </p:cNvPr>
          <p:cNvSpPr txBox="1"/>
          <p:nvPr/>
        </p:nvSpPr>
        <p:spPr>
          <a:xfrm>
            <a:off x="6629400" y="3237754"/>
            <a:ext cx="4297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dirty="0">
                <a:solidFill>
                  <a:srgbClr val="0A2D60"/>
                </a:solidFill>
                <a:latin typeface="Aptos"/>
              </a:rPr>
              <a:t>Είναι </a:t>
            </a:r>
            <a:r>
              <a:rPr lang="el-GR" sz="2400" b="1" dirty="0">
                <a:solidFill>
                  <a:srgbClr val="C00000"/>
                </a:solidFill>
                <a:latin typeface="Aptos"/>
              </a:rPr>
              <a:t>το</a:t>
            </a:r>
            <a:r>
              <a:rPr lang="el-GR" sz="2400" b="0" dirty="0">
                <a:solidFill>
                  <a:srgbClr val="0A2D60"/>
                </a:solidFill>
                <a:latin typeface="Aptos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ptos"/>
              </a:rPr>
              <a:t>κα</a:t>
            </a:r>
            <a:r>
              <a:rPr sz="2400" b="1" dirty="0" err="1">
                <a:solidFill>
                  <a:srgbClr val="C00000"/>
                </a:solidFill>
                <a:latin typeface="Aptos"/>
              </a:rPr>
              <a:t>θήκον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0A2D60"/>
                </a:solidFill>
                <a:latin typeface="Aptos"/>
              </a:rPr>
              <a:t>μου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645F24-9871-CF4F-3ACE-FAE5245C253D}"/>
              </a:ext>
            </a:extLst>
          </p:cNvPr>
          <p:cNvSpPr/>
          <p:nvPr/>
        </p:nvSpPr>
        <p:spPr>
          <a:xfrm>
            <a:off x="6035040" y="2113741"/>
            <a:ext cx="10972" cy="1652400"/>
          </a:xfrm>
          <a:prstGeom prst="rect">
            <a:avLst/>
          </a:prstGeom>
          <a:solidFill>
            <a:srgbClr val="C9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561BF7-70C9-02FE-1ADB-21274556D2AB}"/>
              </a:ext>
            </a:extLst>
          </p:cNvPr>
          <p:cNvSpPr/>
          <p:nvPr/>
        </p:nvSpPr>
        <p:spPr>
          <a:xfrm>
            <a:off x="393192" y="2582436"/>
            <a:ext cx="10469880" cy="10972"/>
          </a:xfrm>
          <a:prstGeom prst="rect">
            <a:avLst/>
          </a:prstGeom>
          <a:solidFill>
            <a:srgbClr val="C9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797FC2-C64C-545D-BAFE-714052B10E8A}"/>
              </a:ext>
            </a:extLst>
          </p:cNvPr>
          <p:cNvSpPr txBox="1"/>
          <p:nvPr/>
        </p:nvSpPr>
        <p:spPr>
          <a:xfrm>
            <a:off x="3282203" y="3806844"/>
            <a:ext cx="591964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dirty="0">
                <a:solidFill>
                  <a:srgbClr val="62708A"/>
                </a:solidFill>
                <a:latin typeface="Aptos"/>
              </a:rPr>
              <a:t>Παράδειγμα από το SHROOM Trial Set </a:t>
            </a:r>
            <a:r>
              <a:rPr lang="el-GR" sz="1400" dirty="0">
                <a:solidFill>
                  <a:srgbClr val="62708A"/>
                </a:solidFill>
                <a:latin typeface="Aptos"/>
              </a:rPr>
              <a:t>για το</a:t>
            </a:r>
            <a:r>
              <a:rPr lang="en-GB" sz="1400" dirty="0">
                <a:solidFill>
                  <a:srgbClr val="62708A"/>
                </a:solidFill>
                <a:latin typeface="Aptos"/>
              </a:rPr>
              <a:t> task </a:t>
            </a:r>
            <a:r>
              <a:rPr lang="en-GB" sz="1400" b="0" dirty="0">
                <a:solidFill>
                  <a:srgbClr val="62708A"/>
                </a:solidFill>
                <a:latin typeface="Aptos"/>
              </a:rPr>
              <a:t>Machine Translation (MT)</a:t>
            </a:r>
            <a:endParaRPr sz="1400" b="0" dirty="0">
              <a:solidFill>
                <a:srgbClr val="62708A"/>
              </a:solidFill>
              <a:latin typeface="Aptos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9A480626-880A-AA5A-8814-B9FABCFF798C}"/>
              </a:ext>
            </a:extLst>
          </p:cNvPr>
          <p:cNvSpPr/>
          <p:nvPr/>
        </p:nvSpPr>
        <p:spPr>
          <a:xfrm>
            <a:off x="347472" y="4768312"/>
            <a:ext cx="10561320" cy="693296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D2B1ED-59BE-7EF3-15D8-63DB16AD278A}"/>
              </a:ext>
            </a:extLst>
          </p:cNvPr>
          <p:cNvSpPr txBox="1"/>
          <p:nvPr/>
        </p:nvSpPr>
        <p:spPr>
          <a:xfrm>
            <a:off x="676656" y="4927540"/>
            <a:ext cx="99669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>
                <a:solidFill>
                  <a:srgbClr val="10243D"/>
                </a:solidFill>
                <a:latin typeface="Aptos"/>
              </a:rPr>
              <a:t>Ένα 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γλωσσικό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κείμενο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δεν είναι απαρα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ίτητ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α και σημασιολογικά σωστό.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32575D-632D-3246-6C89-CD7DA58C4AC7}"/>
              </a:ext>
            </a:extLst>
          </p:cNvPr>
          <p:cNvSpPr txBox="1"/>
          <p:nvPr/>
        </p:nvSpPr>
        <p:spPr>
          <a:xfrm>
            <a:off x="639001" y="5584724"/>
            <a:ext cx="102412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dirty="0">
                <a:solidFill>
                  <a:srgbClr val="0A2D60"/>
                </a:solidFill>
                <a:latin typeface="Aptos"/>
              </a:rPr>
              <a:t>Στο SHROOM εξετάζουμε αν το παρα</a:t>
            </a:r>
            <a:r>
              <a:rPr sz="2400" b="0" dirty="0" err="1">
                <a:solidFill>
                  <a:srgbClr val="0A2D60"/>
                </a:solidFill>
                <a:latin typeface="Aptos"/>
              </a:rPr>
              <a:t>γόμενο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0A2D60"/>
                </a:solidFill>
                <a:latin typeface="Aptos"/>
              </a:rPr>
              <a:t>κείμενο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 υπ</a:t>
            </a:r>
            <a:r>
              <a:rPr sz="2400" b="0" dirty="0" err="1">
                <a:solidFill>
                  <a:srgbClr val="0A2D60"/>
                </a:solidFill>
                <a:latin typeface="Aptos"/>
              </a:rPr>
              <a:t>οστηρίζετ</a:t>
            </a:r>
            <a:r>
              <a:rPr sz="2400" b="0" dirty="0">
                <a:solidFill>
                  <a:srgbClr val="0A2D60"/>
                </a:solidFill>
                <a:latin typeface="Aptos"/>
              </a:rPr>
              <a:t>αι από την αναφορά</a:t>
            </a:r>
            <a:r>
              <a:rPr lang="en-GB" sz="2400" b="0" dirty="0">
                <a:solidFill>
                  <a:srgbClr val="0A2D60"/>
                </a:solidFill>
                <a:latin typeface="Aptos"/>
              </a:rPr>
              <a:t>.</a:t>
            </a:r>
            <a:endParaRPr sz="2400" b="0" dirty="0">
              <a:solidFill>
                <a:srgbClr val="0A2D60"/>
              </a:solidFill>
              <a:latin typeface="Aptos"/>
            </a:endParaRP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F474443D-E910-2A24-4A46-CA37AB18CDB8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b="0" dirty="0">
                <a:solidFill>
                  <a:srgbClr val="677384"/>
                </a:solidFill>
                <a:latin typeface="Aptos"/>
              </a:rPr>
              <a:t>2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7149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title">
            <a:extLst>
              <a:ext uri="{FF2B5EF4-FFF2-40B4-BE49-F238E27FC236}">
                <a16:creationId xmlns:a16="http://schemas.microsoft.com/office/drawing/2014/main" id="{3712B871-70BC-4802-B16D-50B482E72272}"/>
              </a:ext>
            </a:extLst>
          </p:cNvPr>
          <p:cNvSpPr>
            <a:spLocks noGrp="1"/>
          </p:cNvSpPr>
          <p:nvPr/>
        </p:nvSpPr>
        <p:spPr>
          <a:xfrm>
            <a:off x="411480" y="197040"/>
            <a:ext cx="952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4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3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Τι είναι το SHROOM;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6BA31-296C-4FB3-97AC-004A34941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69658" y="77121"/>
            <a:ext cx="1637538" cy="1059583"/>
          </a:xfrm>
          <a:prstGeom prst="rect">
            <a:avLst/>
          </a:prstGeom>
        </p:spPr>
      </p:pic>
      <p:sp>
        <p:nvSpPr>
          <p:cNvPr id="4" name="Root">
            <a:extLst>
              <a:ext uri="{FF2B5EF4-FFF2-40B4-BE49-F238E27FC236}">
                <a16:creationId xmlns:a16="http://schemas.microsoft.com/office/drawing/2014/main" id="{56CFB124-5CE5-4A25-A99F-2AD201B36556}"/>
              </a:ext>
            </a:extLst>
          </p:cNvPr>
          <p:cNvSpPr>
            <a:spLocks noGrp="1"/>
          </p:cNvSpPr>
          <p:nvPr/>
        </p:nvSpPr>
        <p:spPr>
          <a:xfrm>
            <a:off x="4667250" y="240583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3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SHROOM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42C400-C23E-4DE6-8742-80F127C533B1}"/>
              </a:ext>
            </a:extLst>
          </p:cNvPr>
          <p:cNvCxnSpPr/>
          <p:nvPr/>
        </p:nvCxnSpPr>
        <p:spPr>
          <a:xfrm>
            <a:off x="6096000" y="3005910"/>
            <a:ext cx="0" cy="24765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200157-5325-444C-8EB8-414C145F98E3}"/>
              </a:ext>
            </a:extLst>
          </p:cNvPr>
          <p:cNvCxnSpPr/>
          <p:nvPr/>
        </p:nvCxnSpPr>
        <p:spPr>
          <a:xfrm>
            <a:off x="3238500" y="3253560"/>
            <a:ext cx="5715000" cy="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597EE5-F9B0-46EF-9A9B-40632E0F1867}"/>
              </a:ext>
            </a:extLst>
          </p:cNvPr>
          <p:cNvCxnSpPr/>
          <p:nvPr/>
        </p:nvCxnSpPr>
        <p:spPr>
          <a:xfrm>
            <a:off x="3238500" y="3253560"/>
            <a:ext cx="0" cy="333375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DCF319-2B06-4CD1-B61E-6EA80855C2B3}"/>
              </a:ext>
            </a:extLst>
          </p:cNvPr>
          <p:cNvCxnSpPr/>
          <p:nvPr/>
        </p:nvCxnSpPr>
        <p:spPr>
          <a:xfrm>
            <a:off x="8953500" y="3253560"/>
            <a:ext cx="0" cy="333375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9" name="Model-agnostic track">
            <a:extLst>
              <a:ext uri="{FF2B5EF4-FFF2-40B4-BE49-F238E27FC236}">
                <a16:creationId xmlns:a16="http://schemas.microsoft.com/office/drawing/2014/main" id="{E9217627-82CF-45B4-ADB5-E6E1F953D3AD}"/>
              </a:ext>
            </a:extLst>
          </p:cNvPr>
          <p:cNvSpPr>
            <a:spLocks noGrp="1"/>
          </p:cNvSpPr>
          <p:nvPr/>
        </p:nvSpPr>
        <p:spPr>
          <a:xfrm>
            <a:off x="1238250" y="365361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888D94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2800" b="1">
                <a:solidFill>
                  <a:srgbClr val="888D94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888D94"/>
                </a:solidFill>
                <a:latin typeface="Aptos"/>
                <a:ea typeface="Aptos"/>
                <a:cs typeface="Aptos"/>
              </a:rPr>
              <a:t>Model-agnostic</a:t>
            </a:r>
          </a:p>
        </p:txBody>
      </p:sp>
      <p:sp>
        <p:nvSpPr>
          <p:cNvPr id="10" name="Model-aware track">
            <a:extLst>
              <a:ext uri="{FF2B5EF4-FFF2-40B4-BE49-F238E27FC236}">
                <a16:creationId xmlns:a16="http://schemas.microsoft.com/office/drawing/2014/main" id="{4BBCA9A4-5ADF-4C41-AEC4-1D38A7AB8929}"/>
              </a:ext>
            </a:extLst>
          </p:cNvPr>
          <p:cNvSpPr>
            <a:spLocks noGrp="1"/>
          </p:cNvSpPr>
          <p:nvPr/>
        </p:nvSpPr>
        <p:spPr>
          <a:xfrm>
            <a:off x="6953250" y="365361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888D94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2800" b="1">
                <a:solidFill>
                  <a:srgbClr val="888D94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888D94"/>
                </a:solidFill>
                <a:latin typeface="Aptos"/>
                <a:ea typeface="Aptos"/>
                <a:cs typeface="Aptos"/>
              </a:rPr>
              <a:t>Model-aware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DBA577-6B86-4A2C-AD0A-BCC4203240C4}"/>
              </a:ext>
            </a:extLst>
          </p:cNvPr>
          <p:cNvCxnSpPr/>
          <p:nvPr/>
        </p:nvCxnSpPr>
        <p:spPr>
          <a:xfrm>
            <a:off x="3238500" y="4291785"/>
            <a:ext cx="0" cy="4191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D58AE7-02FE-4FBB-8964-A5868A0016F1}"/>
              </a:ext>
            </a:extLst>
          </p:cNvPr>
          <p:cNvCxnSpPr/>
          <p:nvPr/>
        </p:nvCxnSpPr>
        <p:spPr>
          <a:xfrm>
            <a:off x="1571625" y="4710885"/>
            <a:ext cx="3333750" cy="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3820A5-069C-477C-BFEF-A432C77FCFDE}"/>
              </a:ext>
            </a:extLst>
          </p:cNvPr>
          <p:cNvCxnSpPr/>
          <p:nvPr/>
        </p:nvCxnSpPr>
        <p:spPr>
          <a:xfrm>
            <a:off x="1571625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14" name="DM 340">
            <a:extLst>
              <a:ext uri="{FF2B5EF4-FFF2-40B4-BE49-F238E27FC236}">
                <a16:creationId xmlns:a16="http://schemas.microsoft.com/office/drawing/2014/main" id="{3890C2CB-8617-4A2D-8866-6762582E5ABC}"/>
              </a:ext>
            </a:extLst>
          </p:cNvPr>
          <p:cNvSpPr>
            <a:spLocks noGrp="1"/>
          </p:cNvSpPr>
          <p:nvPr/>
        </p:nvSpPr>
        <p:spPr>
          <a:xfrm>
            <a:off x="923925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5291E0"/>
                </a:solidFill>
                <a:latin typeface="Aptos"/>
                <a:ea typeface="Aptos"/>
                <a:cs typeface="Aptos"/>
              </a:rPr>
              <a:t>DM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853C3D-3BEC-4C6C-A7F5-E9D66B3ACBBC}"/>
              </a:ext>
            </a:extLst>
          </p:cNvPr>
          <p:cNvCxnSpPr/>
          <p:nvPr/>
        </p:nvCxnSpPr>
        <p:spPr>
          <a:xfrm>
            <a:off x="3238500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16" name="MT 340">
            <a:extLst>
              <a:ext uri="{FF2B5EF4-FFF2-40B4-BE49-F238E27FC236}">
                <a16:creationId xmlns:a16="http://schemas.microsoft.com/office/drawing/2014/main" id="{B64F2AE8-7A88-45B2-97A7-6EBF0AE9CD46}"/>
              </a:ext>
            </a:extLst>
          </p:cNvPr>
          <p:cNvSpPr>
            <a:spLocks noGrp="1"/>
          </p:cNvSpPr>
          <p:nvPr/>
        </p:nvSpPr>
        <p:spPr>
          <a:xfrm>
            <a:off x="2590800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B08A59"/>
                </a:solidFill>
                <a:latin typeface="Aptos"/>
                <a:ea typeface="Aptos"/>
                <a:cs typeface="Aptos"/>
              </a:rPr>
              <a:t>MT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71D79B-B65F-4321-AAC5-77E3B84DBFC1}"/>
              </a:ext>
            </a:extLst>
          </p:cNvPr>
          <p:cNvCxnSpPr/>
          <p:nvPr/>
        </p:nvCxnSpPr>
        <p:spPr>
          <a:xfrm>
            <a:off x="4905375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18" name="PG 340">
            <a:extLst>
              <a:ext uri="{FF2B5EF4-FFF2-40B4-BE49-F238E27FC236}">
                <a16:creationId xmlns:a16="http://schemas.microsoft.com/office/drawing/2014/main" id="{927A835A-1A5A-44F6-B9DE-00FB5405594F}"/>
              </a:ext>
            </a:extLst>
          </p:cNvPr>
          <p:cNvSpPr>
            <a:spLocks noGrp="1"/>
          </p:cNvSpPr>
          <p:nvPr/>
        </p:nvSpPr>
        <p:spPr>
          <a:xfrm>
            <a:off x="4257675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8C6ABE"/>
                </a:solidFill>
                <a:latin typeface="Aptos"/>
                <a:ea typeface="Aptos"/>
                <a:cs typeface="Aptos"/>
              </a:rPr>
              <a:t>PG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A61128-BEE8-4F7C-9CE2-0CECB8B60325}"/>
              </a:ext>
            </a:extLst>
          </p:cNvPr>
          <p:cNvCxnSpPr/>
          <p:nvPr/>
        </p:nvCxnSpPr>
        <p:spPr>
          <a:xfrm>
            <a:off x="8953500" y="4291785"/>
            <a:ext cx="0" cy="4191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22E0A-D146-431F-AF74-A502AB872D8E}"/>
              </a:ext>
            </a:extLst>
          </p:cNvPr>
          <p:cNvCxnSpPr/>
          <p:nvPr/>
        </p:nvCxnSpPr>
        <p:spPr>
          <a:xfrm>
            <a:off x="7286625" y="4710885"/>
            <a:ext cx="3333750" cy="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629A91-C3AE-40DF-BED0-6E4AF047AD67}"/>
              </a:ext>
            </a:extLst>
          </p:cNvPr>
          <p:cNvCxnSpPr/>
          <p:nvPr/>
        </p:nvCxnSpPr>
        <p:spPr>
          <a:xfrm>
            <a:off x="7286625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22" name="DM 940">
            <a:extLst>
              <a:ext uri="{FF2B5EF4-FFF2-40B4-BE49-F238E27FC236}">
                <a16:creationId xmlns:a16="http://schemas.microsoft.com/office/drawing/2014/main" id="{61ADEEC7-6E01-4FAB-8EA2-83A301E661F1}"/>
              </a:ext>
            </a:extLst>
          </p:cNvPr>
          <p:cNvSpPr>
            <a:spLocks noGrp="1"/>
          </p:cNvSpPr>
          <p:nvPr/>
        </p:nvSpPr>
        <p:spPr>
          <a:xfrm>
            <a:off x="6638925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5291E0"/>
                </a:solidFill>
                <a:latin typeface="Aptos"/>
                <a:ea typeface="Aptos"/>
                <a:cs typeface="Aptos"/>
              </a:rPr>
              <a:t>DM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789E88-694C-46A3-8C35-E566C87A354D}"/>
              </a:ext>
            </a:extLst>
          </p:cNvPr>
          <p:cNvCxnSpPr/>
          <p:nvPr/>
        </p:nvCxnSpPr>
        <p:spPr>
          <a:xfrm>
            <a:off x="8953500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24" name="MT 940">
            <a:extLst>
              <a:ext uri="{FF2B5EF4-FFF2-40B4-BE49-F238E27FC236}">
                <a16:creationId xmlns:a16="http://schemas.microsoft.com/office/drawing/2014/main" id="{90602D4A-E5EB-42AB-A7D4-CF0FA9C014E8}"/>
              </a:ext>
            </a:extLst>
          </p:cNvPr>
          <p:cNvSpPr>
            <a:spLocks noGrp="1"/>
          </p:cNvSpPr>
          <p:nvPr/>
        </p:nvSpPr>
        <p:spPr>
          <a:xfrm>
            <a:off x="8305800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B08A59"/>
                </a:solidFill>
                <a:latin typeface="Aptos"/>
                <a:ea typeface="Aptos"/>
                <a:cs typeface="Aptos"/>
              </a:rPr>
              <a:t>MT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9D3B6F-DA9E-44FB-BF80-35334D4C8D6D}"/>
              </a:ext>
            </a:extLst>
          </p:cNvPr>
          <p:cNvCxnSpPr/>
          <p:nvPr/>
        </p:nvCxnSpPr>
        <p:spPr>
          <a:xfrm>
            <a:off x="10620375" y="4710885"/>
            <a:ext cx="0" cy="381000"/>
          </a:xfrm>
          <a:prstGeom prst="straightConnector1">
            <a:avLst/>
          </a:prstGeom>
          <a:ln w="14288">
            <a:solidFill>
              <a:srgbClr val="B8BEC7"/>
            </a:solidFill>
            <a:headEnd type="none" w="med" len="med"/>
            <a:tailEnd type="none" w="med" len="med"/>
          </a:ln>
        </p:spPr>
      </p:cxnSp>
      <p:sp>
        <p:nvSpPr>
          <p:cNvPr id="26" name="PG 940">
            <a:extLst>
              <a:ext uri="{FF2B5EF4-FFF2-40B4-BE49-F238E27FC236}">
                <a16:creationId xmlns:a16="http://schemas.microsoft.com/office/drawing/2014/main" id="{FBB65934-476A-4E65-9F20-8F929C0C7E33}"/>
              </a:ext>
            </a:extLst>
          </p:cNvPr>
          <p:cNvSpPr>
            <a:spLocks noGrp="1"/>
          </p:cNvSpPr>
          <p:nvPr/>
        </p:nvSpPr>
        <p:spPr>
          <a:xfrm>
            <a:off x="9972675" y="5175768"/>
            <a:ext cx="129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8C6ABE"/>
                </a:solidFill>
                <a:latin typeface="Aptos"/>
                <a:ea typeface="Aptos"/>
                <a:cs typeface="Aptos"/>
              </a:rPr>
              <a:t>PG</a:t>
            </a:r>
          </a:p>
        </p:txBody>
      </p:sp>
      <p:sp>
        <p:nvSpPr>
          <p:cNvPr id="30" name="Introduction">
            <a:extLst>
              <a:ext uri="{FF2B5EF4-FFF2-40B4-BE49-F238E27FC236}">
                <a16:creationId xmlns:a16="http://schemas.microsoft.com/office/drawing/2014/main" id="{8B0EAB29-C830-DAFE-E052-1DF8FA3768D0}"/>
              </a:ext>
            </a:extLst>
          </p:cNvPr>
          <p:cNvSpPr>
            <a:spLocks noGrp="1"/>
          </p:cNvSpPr>
          <p:nvPr/>
        </p:nvSpPr>
        <p:spPr>
          <a:xfrm>
            <a:off x="438912" y="393293"/>
            <a:ext cx="10001250" cy="21630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n-GB" sz="2400" dirty="0"/>
              <a:t>Το SHROOM είναι ένας δια</a:t>
            </a:r>
            <a:r>
              <a:rPr lang="en-GB" sz="2400" dirty="0" err="1"/>
              <a:t>γωνισμός</a:t>
            </a:r>
            <a:r>
              <a:rPr lang="en-GB" sz="2400" dirty="0"/>
              <a:t> του SemEval 2024 με </a:t>
            </a:r>
            <a:r>
              <a:rPr lang="en-GB" sz="2400" dirty="0" err="1"/>
              <a:t>στόχο</a:t>
            </a:r>
            <a:r>
              <a:rPr lang="en-GB" sz="2400" dirty="0"/>
              <a:t> την αξιολόγηση μεθόδων α</a:t>
            </a:r>
            <a:r>
              <a:rPr lang="en-GB" sz="2400" dirty="0" err="1"/>
              <a:t>νίχνευσης</a:t>
            </a:r>
            <a:r>
              <a:rPr lang="en-GB" sz="2400" dirty="0"/>
              <a:t> hallucinations σε παρα</a:t>
            </a:r>
            <a:r>
              <a:rPr lang="en-GB" sz="2400" dirty="0" err="1"/>
              <a:t>γόμεν</a:t>
            </a:r>
            <a:r>
              <a:rPr lang="en-GB" sz="2400" dirty="0"/>
              <a:t>α κείμενα, ώστε να μπορούν να συγκριθούν διαφορετικές προσεγγίσεις </a:t>
            </a:r>
            <a:r>
              <a:rPr lang="el-GR" sz="2400" dirty="0"/>
              <a:t>ομάδων</a:t>
            </a:r>
            <a:r>
              <a:rPr lang="en-GB" sz="2400" dirty="0"/>
              <a:t>.</a:t>
            </a:r>
          </a:p>
          <a:p>
            <a:endParaRPr lang="en-GB" sz="2400" dirty="0"/>
          </a:p>
        </p:txBody>
      </p:sp>
      <p:sp>
        <p:nvSpPr>
          <p:cNvPr id="29" name="Page number">
            <a:extLst>
              <a:ext uri="{FF2B5EF4-FFF2-40B4-BE49-F238E27FC236}">
                <a16:creationId xmlns:a16="http://schemas.microsoft.com/office/drawing/2014/main" id="{E15826D2-A481-19B5-D97D-BC5FF9FA1C3C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b="0" dirty="0">
                <a:solidFill>
                  <a:srgbClr val="677384"/>
                </a:solidFill>
                <a:latin typeface="Aptos"/>
              </a:rPr>
              <a:t>3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1070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11480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l-GR" sz="3000" b="1" dirty="0">
                <a:solidFill>
                  <a:srgbClr val="10243D"/>
                </a:solidFill>
                <a:latin typeface="Aptos"/>
              </a:rPr>
              <a:t>Πόσα και </a:t>
            </a:r>
            <a:r>
              <a:rPr lang="el-GR" sz="3000" b="1" dirty="0" err="1">
                <a:solidFill>
                  <a:srgbClr val="10243D"/>
                </a:solidFill>
                <a:latin typeface="Aptos"/>
              </a:rPr>
              <a:t>ποιά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 είναι </a:t>
            </a:r>
            <a:r>
              <a:rPr lang="el-GR" sz="3000" b="1" dirty="0">
                <a:solidFill>
                  <a:srgbClr val="10243D"/>
                </a:solidFill>
                <a:latin typeface="Aptos"/>
              </a:rPr>
              <a:t>τα </a:t>
            </a:r>
            <a:r>
              <a:rPr lang="en-GB" sz="3000" b="1" dirty="0">
                <a:solidFill>
                  <a:srgbClr val="10243D"/>
                </a:solidFill>
                <a:latin typeface="Aptos"/>
              </a:rPr>
              <a:t>tracks 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και τα </a:t>
            </a:r>
            <a:r>
              <a:rPr lang="en-GB" sz="3000" b="1" dirty="0">
                <a:solidFill>
                  <a:srgbClr val="10243D"/>
                </a:solidFill>
                <a:latin typeface="Aptos"/>
              </a:rPr>
              <a:t>tasks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027" y="3617978"/>
            <a:ext cx="4572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0243D"/>
                </a:solidFill>
                <a:latin typeface="Aptos"/>
              </a:rPr>
              <a:t>T</a:t>
            </a:r>
            <a:r>
              <a:rPr lang="en-GB" sz="3000" b="1" dirty="0">
                <a:solidFill>
                  <a:srgbClr val="10243D"/>
                </a:solidFill>
                <a:latin typeface="Aptos"/>
              </a:rPr>
              <a:t>asks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 (Ε</a:t>
            </a:r>
            <a:r>
              <a:rPr lang="el-GR" sz="3000" b="1" dirty="0" err="1">
                <a:solidFill>
                  <a:srgbClr val="10243D"/>
                </a:solidFill>
                <a:latin typeface="Aptos"/>
              </a:rPr>
              <a:t>ργασίες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148330"/>
            <a:ext cx="344786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5291E0"/>
                </a:solidFill>
                <a:latin typeface="Aptos"/>
              </a:rPr>
              <a:t>DM (Definition Modeling)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4861562"/>
            <a:ext cx="348386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10243D"/>
                </a:solidFill>
                <a:latin typeface="Aptos"/>
              </a:rPr>
              <a:t>Παραγωγή ορισμών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" y="4706114"/>
            <a:ext cx="5760000" cy="0"/>
          </a:xfrm>
          <a:prstGeom prst="line">
            <a:avLst/>
          </a:prstGeom>
          <a:ln w="1206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34256" y="4148330"/>
            <a:ext cx="347120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B08A59"/>
                </a:solidFill>
                <a:latin typeface="Aptos"/>
              </a:rPr>
              <a:t>MT (Machine Translation)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4861562"/>
            <a:ext cx="3474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10243D"/>
                </a:solidFill>
                <a:latin typeface="Aptos"/>
              </a:rPr>
              <a:t>Μηχανική μετάφραση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34255" y="4706114"/>
            <a:ext cx="5760000" cy="0"/>
          </a:xfrm>
          <a:prstGeom prst="line">
            <a:avLst/>
          </a:prstGeom>
          <a:ln w="1206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3879" y="4148330"/>
            <a:ext cx="3856248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8C6ABE"/>
                </a:solidFill>
                <a:latin typeface="Aptos"/>
              </a:rPr>
              <a:t>PG (Paraphrase Generation)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861562"/>
            <a:ext cx="352958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10243D"/>
                </a:solidFill>
                <a:latin typeface="Aptos"/>
              </a:rPr>
              <a:t>Παραγωγή παραφράσεων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79" y="4706114"/>
            <a:ext cx="3529584" cy="0"/>
          </a:xfrm>
          <a:prstGeom prst="line">
            <a:avLst/>
          </a:prstGeom>
          <a:ln w="1206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33087" y="3957602"/>
            <a:ext cx="0" cy="1501200"/>
          </a:xfrm>
          <a:prstGeom prst="line">
            <a:avLst/>
          </a:prstGeom>
          <a:ln w="1333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06463" y="5871229"/>
            <a:ext cx="8108263" cy="338328"/>
          </a:xfrm>
          <a:prstGeom prst="rect">
            <a:avLst/>
          </a:prstGeom>
          <a:solidFill>
            <a:srgbClr val="ED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" y="5887453"/>
            <a:ext cx="97840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243D"/>
                </a:solidFill>
                <a:latin typeface="Aptos"/>
              </a:rPr>
              <a:t>Η διπλωματική α</a:t>
            </a:r>
            <a:r>
              <a:rPr sz="2000" b="1" dirty="0" err="1">
                <a:solidFill>
                  <a:srgbClr val="10243D"/>
                </a:solidFill>
                <a:latin typeface="Aptos"/>
              </a:rPr>
              <a:t>κολουθεί</a:t>
            </a:r>
            <a:r>
              <a:rPr sz="2000" b="1" dirty="0">
                <a:solidFill>
                  <a:srgbClr val="10243D"/>
                </a:solidFill>
                <a:latin typeface="Aptos"/>
              </a:rPr>
              <a:t> το model-agnostic track</a:t>
            </a:r>
            <a:r>
              <a:rPr lang="el-GR" sz="2000" b="1" dirty="0">
                <a:solidFill>
                  <a:srgbClr val="10243D"/>
                </a:solidFill>
                <a:latin typeface="Aptos"/>
              </a:rPr>
              <a:t> και στα τρία </a:t>
            </a:r>
            <a:r>
              <a:rPr lang="en-GB" sz="2000" b="1" dirty="0">
                <a:solidFill>
                  <a:srgbClr val="10243D"/>
                </a:solidFill>
                <a:latin typeface="Aptos"/>
              </a:rPr>
              <a:t>tasks</a:t>
            </a:r>
            <a:r>
              <a:rPr sz="2000" b="1" dirty="0">
                <a:solidFill>
                  <a:srgbClr val="10243D"/>
                </a:solidFill>
                <a:latin typeface="Aptos"/>
              </a:rPr>
              <a:t>.</a:t>
            </a:r>
          </a:p>
        </p:txBody>
      </p:sp>
      <p:cxnSp>
        <p:nvCxnSpPr>
          <p:cNvPr id="31" name="Connector 17">
            <a:extLst>
              <a:ext uri="{FF2B5EF4-FFF2-40B4-BE49-F238E27FC236}">
                <a16:creationId xmlns:a16="http://schemas.microsoft.com/office/drawing/2014/main" id="{934BAD8B-3AC2-CF33-1134-66048F9FED74}"/>
              </a:ext>
            </a:extLst>
          </p:cNvPr>
          <p:cNvCxnSpPr/>
          <p:nvPr/>
        </p:nvCxnSpPr>
        <p:spPr>
          <a:xfrm>
            <a:off x="7982426" y="3954002"/>
            <a:ext cx="0" cy="1501200"/>
          </a:xfrm>
          <a:prstGeom prst="line">
            <a:avLst/>
          </a:prstGeom>
          <a:ln w="1333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248450B4-1469-CB07-703D-357F7F3F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469658" y="77121"/>
            <a:ext cx="1637538" cy="1059583"/>
          </a:xfrm>
          <a:prstGeom prst="rect">
            <a:avLst/>
          </a:prstGeom>
        </p:spPr>
      </p:pic>
      <p:sp>
        <p:nvSpPr>
          <p:cNvPr id="40" name="Introduction">
            <a:extLst>
              <a:ext uri="{FF2B5EF4-FFF2-40B4-BE49-F238E27FC236}">
                <a16:creationId xmlns:a16="http://schemas.microsoft.com/office/drawing/2014/main" id="{4A6410E2-0C02-5427-BA78-4619712D3706}"/>
              </a:ext>
            </a:extLst>
          </p:cNvPr>
          <p:cNvSpPr>
            <a:spLocks noGrp="1"/>
          </p:cNvSpPr>
          <p:nvPr/>
        </p:nvSpPr>
        <p:spPr>
          <a:xfrm>
            <a:off x="438912" y="70178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l-GR" sz="240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Ο διαγωνισμός SHROOM περιλαμβάνει δύο tracks αξιολόγησης </a:t>
            </a:r>
            <a:r>
              <a:rPr lang="en-GB" sz="240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40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και τρεις εργασίες (tasks) παραγωγής φυσικής γλώσσας.</a:t>
            </a:r>
            <a:endParaRPr sz="2400" b="0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1027" y="1881303"/>
            <a:ext cx="5760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0243D"/>
                </a:solidFill>
                <a:latin typeface="Aptos"/>
              </a:rPr>
              <a:t>T</a:t>
            </a:r>
            <a:r>
              <a:rPr lang="en-GB" sz="3000" b="1" dirty="0">
                <a:solidFill>
                  <a:srgbClr val="10243D"/>
                </a:solidFill>
                <a:latin typeface="Aptos"/>
              </a:rPr>
              <a:t>racks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 (</a:t>
            </a:r>
            <a:r>
              <a:rPr lang="el-GR" sz="3000" b="1" dirty="0">
                <a:solidFill>
                  <a:srgbClr val="10243D"/>
                </a:solidFill>
                <a:latin typeface="Aptos"/>
              </a:rPr>
              <a:t>Τρόποι αξιολόγησης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2344007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solidFill>
                  <a:srgbClr val="888D94"/>
                </a:solidFill>
              </a:rPr>
              <a:t>Model-agnostic</a:t>
            </a:r>
            <a:endParaRPr sz="2400" b="1" dirty="0">
              <a:solidFill>
                <a:srgbClr val="888D94"/>
              </a:solidFill>
              <a:latin typeface="Aptos"/>
            </a:endParaRPr>
          </a:p>
        </p:txBody>
      </p:sp>
      <p:cxnSp>
        <p:nvCxnSpPr>
          <p:cNvPr id="45" name="Connector 21"/>
          <p:cNvCxnSpPr/>
          <p:nvPr/>
        </p:nvCxnSpPr>
        <p:spPr>
          <a:xfrm>
            <a:off x="438912" y="2782919"/>
            <a:ext cx="6480000" cy="0"/>
          </a:xfrm>
          <a:prstGeom prst="line">
            <a:avLst/>
          </a:prstGeom>
          <a:ln w="1206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8911" y="2892647"/>
            <a:ext cx="575999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l-GR" sz="2400" b="0" dirty="0">
                <a:solidFill>
                  <a:srgbClr val="1F2937"/>
                </a:solidFill>
                <a:latin typeface="Aptos"/>
              </a:rPr>
              <a:t>Χωρίς </a:t>
            </a:r>
            <a:r>
              <a:rPr sz="2400" b="0" dirty="0">
                <a:solidFill>
                  <a:srgbClr val="1F2937"/>
                </a:solidFill>
                <a:latin typeface="Aptos"/>
              </a:rPr>
              <a:t>π</a:t>
            </a:r>
            <a:r>
              <a:rPr sz="2400" b="0" dirty="0" err="1">
                <a:solidFill>
                  <a:srgbClr val="1F2937"/>
                </a:solidFill>
                <a:latin typeface="Aptos"/>
              </a:rPr>
              <a:t>ρόσ</a:t>
            </a:r>
            <a:r>
              <a:rPr sz="2400" b="0" dirty="0">
                <a:solidFill>
                  <a:srgbClr val="1F2937"/>
                </a:solidFill>
                <a:latin typeface="Aptos"/>
              </a:rPr>
              <a:t>βαση στο μοντέλο παραγωγής.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344007"/>
            <a:ext cx="54681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888D94"/>
                </a:solidFill>
                <a:latin typeface="Aptos"/>
              </a:rPr>
              <a:t>Model-a</a:t>
            </a:r>
            <a:r>
              <a:rPr lang="en-GB" sz="2400" b="1" dirty="0">
                <a:solidFill>
                  <a:srgbClr val="888D94"/>
                </a:solidFill>
                <a:latin typeface="Aptos"/>
              </a:rPr>
              <a:t>ware</a:t>
            </a:r>
            <a:endParaRPr sz="2400" b="1" dirty="0">
              <a:solidFill>
                <a:srgbClr val="888D94"/>
              </a:solidFill>
              <a:latin typeface="Aptos"/>
            </a:endParaRPr>
          </a:p>
        </p:txBody>
      </p:sp>
      <p:cxnSp>
        <p:nvCxnSpPr>
          <p:cNvPr id="48" name="Connector 24"/>
          <p:cNvCxnSpPr/>
          <p:nvPr/>
        </p:nvCxnSpPr>
        <p:spPr>
          <a:xfrm>
            <a:off x="6263640" y="2782919"/>
            <a:ext cx="5468112" cy="0"/>
          </a:xfrm>
          <a:prstGeom prst="line">
            <a:avLst/>
          </a:prstGeom>
          <a:ln w="12065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63640" y="2892647"/>
            <a:ext cx="557439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l-GR" sz="2400" b="0" dirty="0">
                <a:solidFill>
                  <a:srgbClr val="1F2937"/>
                </a:solidFill>
                <a:latin typeface="Aptos"/>
              </a:rPr>
              <a:t>Με</a:t>
            </a:r>
            <a:r>
              <a:rPr sz="2400" b="0" dirty="0">
                <a:solidFill>
                  <a:srgbClr val="1F2937"/>
                </a:solidFill>
                <a:latin typeface="Aptos"/>
              </a:rPr>
              <a:t> π</a:t>
            </a:r>
            <a:r>
              <a:rPr sz="2400" b="0" dirty="0" err="1">
                <a:solidFill>
                  <a:srgbClr val="1F2937"/>
                </a:solidFill>
                <a:latin typeface="Aptos"/>
              </a:rPr>
              <a:t>ρόσ</a:t>
            </a:r>
            <a:r>
              <a:rPr sz="2400" b="0" dirty="0">
                <a:solidFill>
                  <a:srgbClr val="1F2937"/>
                </a:solidFill>
                <a:latin typeface="Aptos"/>
              </a:rPr>
              <a:t>βαση στο μοντέλο παραγωγής.</a:t>
            </a:r>
          </a:p>
        </p:txBody>
      </p:sp>
      <p:cxnSp>
        <p:nvCxnSpPr>
          <p:cNvPr id="50" name="Connector 26"/>
          <p:cNvCxnSpPr/>
          <p:nvPr/>
        </p:nvCxnSpPr>
        <p:spPr>
          <a:xfrm>
            <a:off x="6062472" y="2353151"/>
            <a:ext cx="0" cy="932688"/>
          </a:xfrm>
          <a:prstGeom prst="line">
            <a:avLst/>
          </a:prstGeom>
          <a:ln w="12700">
            <a:solidFill>
              <a:srgbClr val="888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E0E38AFB-C6C9-BB2E-4EB0-2AD370D4E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561" y="3590888"/>
            <a:ext cx="488413" cy="48841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FB9AF06-1324-174C-7582-6BAD1D63D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83" y="1875172"/>
            <a:ext cx="464571" cy="464571"/>
          </a:xfrm>
          <a:prstGeom prst="rect">
            <a:avLst/>
          </a:prstGeom>
        </p:spPr>
      </p:pic>
      <p:sp>
        <p:nvSpPr>
          <p:cNvPr id="4" name="Page number">
            <a:extLst>
              <a:ext uri="{FF2B5EF4-FFF2-40B4-BE49-F238E27FC236}">
                <a16:creationId xmlns:a16="http://schemas.microsoft.com/office/drawing/2014/main" id="{50FF8E8C-0C9F-8FDD-B0B6-49C0C3435438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b="0" dirty="0">
                <a:solidFill>
                  <a:srgbClr val="677384"/>
                </a:solidFill>
                <a:latin typeface="Aptos"/>
              </a:rPr>
              <a:t>4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31A01FD6-5EE1-547A-2550-857402D536D2}"/>
              </a:ext>
            </a:extLst>
          </p:cNvPr>
          <p:cNvSpPr/>
          <p:nvPr/>
        </p:nvSpPr>
        <p:spPr>
          <a:xfrm>
            <a:off x="1417320" y="178308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F8E581-F4E7-4356-6EDF-9D8AC364EC6D}"/>
              </a:ext>
            </a:extLst>
          </p:cNvPr>
          <p:cNvSpPr txBox="1"/>
          <p:nvPr/>
        </p:nvSpPr>
        <p:spPr>
          <a:xfrm>
            <a:off x="1612490" y="2058284"/>
            <a:ext cx="291379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22A45"/>
                </a:solidFill>
                <a:latin typeface="Aptos"/>
              </a:rPr>
              <a:t>hyp</a:t>
            </a:r>
            <a:r>
              <a:rPr sz="2600" b="1" dirty="0">
                <a:solidFill>
                  <a:srgbClr val="122A45"/>
                </a:solidFill>
                <a:latin typeface="Aptos"/>
              </a:rPr>
              <a:t> </a:t>
            </a:r>
            <a:r>
              <a:rPr sz="2600" b="0" dirty="0">
                <a:solidFill>
                  <a:srgbClr val="122A45"/>
                </a:solidFill>
                <a:latin typeface="Aptos"/>
              </a:rPr>
              <a:t>(hypothesis)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25E21E-2D76-AF1D-3537-703FF2B9EE10}"/>
              </a:ext>
            </a:extLst>
          </p:cNvPr>
          <p:cNvSpPr txBox="1"/>
          <p:nvPr/>
        </p:nvSpPr>
        <p:spPr>
          <a:xfrm>
            <a:off x="1633531" y="2561204"/>
            <a:ext cx="27157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l-GR" sz="2000" dirty="0">
                <a:solidFill>
                  <a:srgbClr val="2C3744"/>
                </a:solidFill>
                <a:latin typeface="Aptos"/>
              </a:rPr>
              <a:t>Κ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είμενο</a:t>
            </a:r>
            <a:r>
              <a:rPr sz="2000" b="0" i="0" dirty="0">
                <a:solidFill>
                  <a:srgbClr val="2C3744"/>
                </a:solidFill>
                <a:latin typeface="Aptos"/>
              </a:rPr>
              <a:t> π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ρος</a:t>
            </a:r>
            <a:r>
              <a:rPr sz="2000" b="0" i="0" dirty="0">
                <a:solidFill>
                  <a:srgbClr val="2C374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έλεγχο</a:t>
            </a:r>
            <a:endParaRPr sz="2000" b="0" i="0" dirty="0">
              <a:solidFill>
                <a:srgbClr val="2C3744"/>
              </a:solidFill>
              <a:latin typeface="Aptos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FF1367AE-C5CF-E03D-D072-D790795561AD}"/>
              </a:ext>
            </a:extLst>
          </p:cNvPr>
          <p:cNvSpPr/>
          <p:nvPr/>
        </p:nvSpPr>
        <p:spPr>
          <a:xfrm>
            <a:off x="8518177" y="1353312"/>
            <a:ext cx="3017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82F5AD-25EA-1D99-38E8-1F708E251186}"/>
              </a:ext>
            </a:extLst>
          </p:cNvPr>
          <p:cNvSpPr txBox="1"/>
          <p:nvPr/>
        </p:nvSpPr>
        <p:spPr>
          <a:xfrm>
            <a:off x="8800856" y="1563329"/>
            <a:ext cx="2286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22A45"/>
                </a:solidFill>
                <a:latin typeface="Aptos"/>
              </a:rPr>
              <a:t>src</a:t>
            </a:r>
            <a:r>
              <a:rPr sz="2200" b="1" dirty="0">
                <a:solidFill>
                  <a:srgbClr val="122A45"/>
                </a:solidFill>
                <a:latin typeface="Aptos"/>
              </a:rPr>
              <a:t> </a:t>
            </a:r>
            <a:r>
              <a:rPr sz="2600" b="0" dirty="0">
                <a:solidFill>
                  <a:srgbClr val="122A45"/>
                </a:solidFill>
                <a:latin typeface="Aptos"/>
              </a:rPr>
              <a:t>(source)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3D2448-8186-FCBD-66C7-A4374B5C516D}"/>
              </a:ext>
            </a:extLst>
          </p:cNvPr>
          <p:cNvSpPr txBox="1"/>
          <p:nvPr/>
        </p:nvSpPr>
        <p:spPr>
          <a:xfrm>
            <a:off x="8838120" y="1947377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dirty="0" err="1">
                <a:solidFill>
                  <a:srgbClr val="2C3744"/>
                </a:solidFill>
                <a:latin typeface="Aptos"/>
              </a:rPr>
              <a:t>Αρχικό</a:t>
            </a:r>
            <a:r>
              <a:rPr sz="2000" b="0" i="0" dirty="0">
                <a:solidFill>
                  <a:srgbClr val="2C374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κείμενο</a:t>
            </a:r>
            <a:endParaRPr sz="2000" b="0" i="0" dirty="0">
              <a:solidFill>
                <a:srgbClr val="2C3744"/>
              </a:solidFill>
              <a:latin typeface="Aptos"/>
            </a:endParaRPr>
          </a:p>
        </p:txBody>
      </p:sp>
      <p:sp>
        <p:nvSpPr>
          <p:cNvPr id="41" name="Rounded Rectangle 9">
            <a:extLst>
              <a:ext uri="{FF2B5EF4-FFF2-40B4-BE49-F238E27FC236}">
                <a16:creationId xmlns:a16="http://schemas.microsoft.com/office/drawing/2014/main" id="{58CB410D-DACF-EF43-D924-A4014C165501}"/>
              </a:ext>
            </a:extLst>
          </p:cNvPr>
          <p:cNvSpPr/>
          <p:nvPr/>
        </p:nvSpPr>
        <p:spPr>
          <a:xfrm>
            <a:off x="8556520" y="2812559"/>
            <a:ext cx="3017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67E430-6FC8-A88F-583C-770800AA6A74}"/>
              </a:ext>
            </a:extLst>
          </p:cNvPr>
          <p:cNvSpPr txBox="1"/>
          <p:nvPr/>
        </p:nvSpPr>
        <p:spPr>
          <a:xfrm>
            <a:off x="8824848" y="3063775"/>
            <a:ext cx="2286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22A45"/>
                </a:solidFill>
                <a:latin typeface="Aptos"/>
              </a:rPr>
              <a:t>tgt</a:t>
            </a:r>
            <a:r>
              <a:rPr sz="2200" b="1" dirty="0">
                <a:solidFill>
                  <a:srgbClr val="122A45"/>
                </a:solidFill>
                <a:latin typeface="Aptos"/>
              </a:rPr>
              <a:t> </a:t>
            </a:r>
            <a:r>
              <a:rPr sz="2600" b="0" dirty="0">
                <a:solidFill>
                  <a:srgbClr val="122A45"/>
                </a:solidFill>
                <a:latin typeface="Aptos"/>
              </a:rPr>
              <a:t>(target)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57ABB3-69B8-4206-0AFE-670A028E2683}"/>
              </a:ext>
            </a:extLst>
          </p:cNvPr>
          <p:cNvSpPr txBox="1"/>
          <p:nvPr/>
        </p:nvSpPr>
        <p:spPr>
          <a:xfrm>
            <a:off x="8861424" y="3477319"/>
            <a:ext cx="273405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2C3744"/>
                </a:solidFill>
                <a:latin typeface="Aptos"/>
              </a:rPr>
              <a:t>Ανα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μενόμενο</a:t>
            </a:r>
            <a:r>
              <a:rPr sz="2000" b="0" i="0" dirty="0">
                <a:solidFill>
                  <a:srgbClr val="2C374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2C3744"/>
                </a:solidFill>
                <a:latin typeface="Aptos"/>
              </a:rPr>
              <a:t>κείμενο</a:t>
            </a:r>
            <a:endParaRPr sz="2000" b="0" i="0" dirty="0">
              <a:solidFill>
                <a:srgbClr val="2C3744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5BE7F7-D35D-AE18-E2A6-565C441839C7}"/>
              </a:ext>
            </a:extLst>
          </p:cNvPr>
          <p:cNvSpPr txBox="1"/>
          <p:nvPr/>
        </p:nvSpPr>
        <p:spPr>
          <a:xfrm>
            <a:off x="5820205" y="2319537"/>
            <a:ext cx="283464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5C6876"/>
                </a:solidFill>
                <a:latin typeface="Aptos"/>
              </a:rPr>
              <a:t>Κείμενο</a:t>
            </a:r>
            <a:r>
              <a:rPr sz="2000" b="1" i="0" dirty="0">
                <a:solidFill>
                  <a:srgbClr val="5C6876"/>
                </a:solidFill>
                <a:latin typeface="Aptos"/>
              </a:rPr>
              <a:t> αναφοράς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 dirty="0" err="1">
                <a:solidFill>
                  <a:srgbClr val="5C6876"/>
                </a:solidFill>
                <a:latin typeface="Aptos"/>
              </a:rPr>
              <a:t>Ανάλογ</a:t>
            </a:r>
            <a:r>
              <a:rPr sz="2000" b="0" i="0" dirty="0">
                <a:solidFill>
                  <a:srgbClr val="5C6876"/>
                </a:solidFill>
                <a:latin typeface="Aptos"/>
              </a:rPr>
              <a:t>α με το task</a:t>
            </a:r>
          </a:p>
        </p:txBody>
      </p:sp>
      <p:cxnSp>
        <p:nvCxnSpPr>
          <p:cNvPr id="45" name="Connector 13">
            <a:extLst>
              <a:ext uri="{FF2B5EF4-FFF2-40B4-BE49-F238E27FC236}">
                <a16:creationId xmlns:a16="http://schemas.microsoft.com/office/drawing/2014/main" id="{87ADEE8A-15B1-46C6-5EA9-08708CDD6494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4251960" y="1984248"/>
            <a:ext cx="4266217" cy="507518"/>
          </a:xfrm>
          <a:prstGeom prst="line">
            <a:avLst/>
          </a:prstGeom>
          <a:ln w="22860">
            <a:solidFill>
              <a:srgbClr val="9196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76BF9278-4D5C-5379-DECF-C37A0F83C7C2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4251960" y="2561204"/>
            <a:ext cx="4304560" cy="882291"/>
          </a:xfrm>
          <a:prstGeom prst="line">
            <a:avLst/>
          </a:prstGeom>
          <a:ln w="22860">
            <a:solidFill>
              <a:srgbClr val="9196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DA6BD1-5274-8B1C-0122-3A57B29EF8E1}"/>
              </a:ext>
            </a:extLst>
          </p:cNvPr>
          <p:cNvSpPr txBox="1"/>
          <p:nvPr/>
        </p:nvSpPr>
        <p:spPr>
          <a:xfrm>
            <a:off x="216304" y="3667110"/>
            <a:ext cx="2744672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 dirty="0">
                <a:solidFill>
                  <a:srgbClr val="5C6876"/>
                </a:solidFill>
                <a:latin typeface="Aptos"/>
              </a:rPr>
              <a:t>DM: target-referential </a:t>
            </a:r>
            <a:endParaRPr lang="el-GR" sz="2000" b="0" i="1" dirty="0">
              <a:solidFill>
                <a:srgbClr val="5C6876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 dirty="0">
                <a:solidFill>
                  <a:srgbClr val="5C6876"/>
                </a:solidFill>
                <a:latin typeface="Aptos"/>
              </a:rPr>
              <a:t>  MT, PG: dual-referential</a:t>
            </a:r>
          </a:p>
        </p:txBody>
      </p:sp>
      <p:cxnSp>
        <p:nvCxnSpPr>
          <p:cNvPr id="48" name="Connector 16">
            <a:extLst>
              <a:ext uri="{FF2B5EF4-FFF2-40B4-BE49-F238E27FC236}">
                <a16:creationId xmlns:a16="http://schemas.microsoft.com/office/drawing/2014/main" id="{AEFA81BA-8B10-1DD2-801D-487AACEFA1E3}"/>
              </a:ext>
            </a:extLst>
          </p:cNvPr>
          <p:cNvCxnSpPr/>
          <p:nvPr/>
        </p:nvCxnSpPr>
        <p:spPr>
          <a:xfrm>
            <a:off x="201168" y="4522442"/>
            <a:ext cx="11274552" cy="0"/>
          </a:xfrm>
          <a:prstGeom prst="line">
            <a:avLst/>
          </a:prstGeom>
          <a:ln w="15240">
            <a:solidFill>
              <a:srgbClr val="AFB4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CEE053-FADF-EF5B-A141-540820A073FB}"/>
              </a:ext>
            </a:extLst>
          </p:cNvPr>
          <p:cNvSpPr txBox="1"/>
          <p:nvPr/>
        </p:nvSpPr>
        <p:spPr>
          <a:xfrm>
            <a:off x="505969" y="4734822"/>
            <a:ext cx="501091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l-GR" sz="3000" b="1" i="0" dirty="0">
                <a:solidFill>
                  <a:srgbClr val="122A45"/>
                </a:solidFill>
              </a:rPr>
              <a:t>Ζητούμενες προβλέψεις</a:t>
            </a:r>
            <a:endParaRPr sz="3000" b="1" i="0" dirty="0">
              <a:solidFill>
                <a:srgbClr val="122A45"/>
              </a:solidFill>
              <a:latin typeface="Aptos"/>
            </a:endParaRPr>
          </a:p>
        </p:txBody>
      </p:sp>
      <p:sp>
        <p:nvSpPr>
          <p:cNvPr id="50" name="Rounded Rectangle 18">
            <a:extLst>
              <a:ext uri="{FF2B5EF4-FFF2-40B4-BE49-F238E27FC236}">
                <a16:creationId xmlns:a16="http://schemas.microsoft.com/office/drawing/2014/main" id="{18C54751-882C-15A1-21F6-CD0D2A13B60E}"/>
              </a:ext>
            </a:extLst>
          </p:cNvPr>
          <p:cNvSpPr/>
          <p:nvPr/>
        </p:nvSpPr>
        <p:spPr>
          <a:xfrm>
            <a:off x="347472" y="5315318"/>
            <a:ext cx="5400000" cy="1080000"/>
          </a:xfrm>
          <a:prstGeom prst="roundRect">
            <a:avLst/>
          </a:prstGeom>
          <a:solidFill>
            <a:srgbClr val="E5E8EC"/>
          </a:solidFill>
          <a:ln w="12700">
            <a:solidFill>
              <a:srgbClr val="AF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AAE133-F8D3-D87A-523C-F752760BCF35}"/>
              </a:ext>
            </a:extLst>
          </p:cNvPr>
          <p:cNvSpPr txBox="1"/>
          <p:nvPr/>
        </p:nvSpPr>
        <p:spPr>
          <a:xfrm>
            <a:off x="566928" y="5381590"/>
            <a:ext cx="4389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122A45"/>
                </a:solidFill>
                <a:latin typeface="Aptos"/>
              </a:rPr>
              <a:t>p(Hallucination)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B5A131-9CB4-E13D-B760-117124845CEA}"/>
              </a:ext>
            </a:extLst>
          </p:cNvPr>
          <p:cNvSpPr txBox="1"/>
          <p:nvPr/>
        </p:nvSpPr>
        <p:spPr>
          <a:xfrm>
            <a:off x="566927" y="5735942"/>
            <a:ext cx="9235833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2000" dirty="0" err="1"/>
              <a:t>Εκτίμηση</a:t>
            </a:r>
            <a:r>
              <a:rPr lang="en-GB" sz="2000" dirty="0"/>
              <a:t> πιθανότητα</a:t>
            </a:r>
            <a:r>
              <a:rPr lang="el-GR" sz="2000" dirty="0"/>
              <a:t>ς </a:t>
            </a:r>
            <a:r>
              <a:rPr lang="en-GB" sz="2000" dirty="0"/>
              <a:t>χαρα</a:t>
            </a:r>
            <a:r>
              <a:rPr lang="en-GB" sz="2000" dirty="0" err="1"/>
              <a:t>κτηρισμού</a:t>
            </a:r>
            <a:r>
              <a:rPr lang="en-GB" sz="2000" dirty="0"/>
              <a:t> του </a:t>
            </a:r>
            <a:endParaRPr lang="el-GR" sz="2000" dirty="0"/>
          </a:p>
          <a:p>
            <a:r>
              <a:rPr lang="en-GB" sz="2000" dirty="0" err="1"/>
              <a:t>κειμένου</a:t>
            </a:r>
            <a:r>
              <a:rPr lang="en-GB" sz="2000" dirty="0"/>
              <a:t> ως hallucination (0</a:t>
            </a:r>
            <a:r>
              <a:rPr lang="el-GR" sz="2000" dirty="0"/>
              <a:t>-</a:t>
            </a:r>
            <a:r>
              <a:rPr lang="en-GB" sz="2000" dirty="0"/>
              <a:t>1)</a:t>
            </a:r>
          </a:p>
        </p:txBody>
      </p:sp>
      <p:sp>
        <p:nvSpPr>
          <p:cNvPr id="53" name="Rounded Rectangle 21">
            <a:extLst>
              <a:ext uri="{FF2B5EF4-FFF2-40B4-BE49-F238E27FC236}">
                <a16:creationId xmlns:a16="http://schemas.microsoft.com/office/drawing/2014/main" id="{4FF1BC5D-87E0-07A4-1B9A-E7BF13B27EB8}"/>
              </a:ext>
            </a:extLst>
          </p:cNvPr>
          <p:cNvSpPr/>
          <p:nvPr/>
        </p:nvSpPr>
        <p:spPr>
          <a:xfrm>
            <a:off x="6032583" y="5315318"/>
            <a:ext cx="5400000" cy="1080000"/>
          </a:xfrm>
          <a:prstGeom prst="roundRect">
            <a:avLst/>
          </a:prstGeom>
          <a:solidFill>
            <a:srgbClr val="D6DBE1"/>
          </a:solidFill>
          <a:ln w="12700">
            <a:solidFill>
              <a:srgbClr val="AFB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00DCC2-13F0-8FA1-D52A-5DC350A29788}"/>
              </a:ext>
            </a:extLst>
          </p:cNvPr>
          <p:cNvSpPr txBox="1"/>
          <p:nvPr/>
        </p:nvSpPr>
        <p:spPr>
          <a:xfrm>
            <a:off x="6261183" y="5381590"/>
            <a:ext cx="53915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122A45"/>
                </a:solidFill>
                <a:latin typeface="Aptos"/>
              </a:rPr>
              <a:t>Hallucination / Not Hallucination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045753-D44B-48DC-97A7-E59728C737ED}"/>
              </a:ext>
            </a:extLst>
          </p:cNvPr>
          <p:cNvSpPr txBox="1"/>
          <p:nvPr/>
        </p:nvSpPr>
        <p:spPr>
          <a:xfrm>
            <a:off x="6261183" y="5735942"/>
            <a:ext cx="51714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2000" dirty="0">
                <a:solidFill>
                  <a:srgbClr val="2C3744"/>
                </a:solidFill>
              </a:rPr>
              <a:t>Δυαδική</a:t>
            </a:r>
            <a:r>
              <a:rPr sz="2000" b="0" i="0" dirty="0">
                <a:solidFill>
                  <a:srgbClr val="2C3744"/>
                </a:solidFill>
                <a:latin typeface="Aptos"/>
              </a:rPr>
              <a:t> </a:t>
            </a:r>
            <a:r>
              <a:rPr lang="el-GR" sz="2000" b="0" i="0" dirty="0">
                <a:solidFill>
                  <a:srgbClr val="2C3744"/>
                </a:solidFill>
                <a:latin typeface="Aptos"/>
              </a:rPr>
              <a:t>πρόβλεψη </a:t>
            </a:r>
            <a:r>
              <a:rPr lang="en-GB" sz="2000" dirty="0"/>
              <a:t>β</a:t>
            </a:r>
            <a:r>
              <a:rPr lang="en-GB" sz="2000" dirty="0" err="1"/>
              <a:t>άσει</a:t>
            </a:r>
            <a:r>
              <a:rPr lang="en-GB" sz="2000" dirty="0"/>
              <a:t> του p(Hallucination) (</a:t>
            </a:r>
            <a:r>
              <a:rPr lang="en-GB" sz="2000" dirty="0" err="1"/>
              <a:t>όριο</a:t>
            </a:r>
            <a:r>
              <a:rPr lang="en-GB" sz="2000" dirty="0"/>
              <a:t> 0,5)</a:t>
            </a:r>
          </a:p>
          <a:p>
            <a:endParaRPr sz="2000" b="0" i="0" dirty="0">
              <a:solidFill>
                <a:srgbClr val="2C3744"/>
              </a:solidFill>
              <a:latin typeface="Aptos"/>
            </a:endParaRPr>
          </a:p>
        </p:txBody>
      </p:sp>
      <p:sp>
        <p:nvSpPr>
          <p:cNvPr id="58" name="Slide title">
            <a:extLst>
              <a:ext uri="{FF2B5EF4-FFF2-40B4-BE49-F238E27FC236}">
                <a16:creationId xmlns:a16="http://schemas.microsoft.com/office/drawing/2014/main" id="{07B5AFAF-0DDA-1FB7-57B1-B074FAB7EE99}"/>
              </a:ext>
            </a:extLst>
          </p:cNvPr>
          <p:cNvSpPr txBox="1"/>
          <p:nvPr/>
        </p:nvSpPr>
        <p:spPr>
          <a:xfrm>
            <a:off x="411480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22A45"/>
                </a:solidFill>
              </a:rPr>
              <a:t>Τι καλείται να προβλέψει το σύστημά μας;</a:t>
            </a:r>
          </a:p>
        </p:txBody>
      </p:sp>
      <p:sp>
        <p:nvSpPr>
          <p:cNvPr id="60" name="Introduction">
            <a:extLst>
              <a:ext uri="{FF2B5EF4-FFF2-40B4-BE49-F238E27FC236}">
                <a16:creationId xmlns:a16="http://schemas.microsoft.com/office/drawing/2014/main" id="{91E8FE18-DC45-EFDD-4CE4-67200A216462}"/>
              </a:ext>
            </a:extLst>
          </p:cNvPr>
          <p:cNvSpPr>
            <a:spLocks noGrp="1"/>
          </p:cNvSpPr>
          <p:nvPr/>
        </p:nvSpPr>
        <p:spPr>
          <a:xfrm>
            <a:off x="438912" y="70178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2C3744"/>
                </a:solidFill>
              </a:rPr>
              <a:t>Εξετάζουμε αν το παραγόμενο κείμενο υποστηρίζεται από την κατάλληλη</a:t>
            </a:r>
          </a:p>
          <a:p>
            <a:r>
              <a:rPr lang="el-GR" sz="2400" dirty="0">
                <a:solidFill>
                  <a:srgbClr val="2C3744"/>
                </a:solidFill>
              </a:rPr>
              <a:t>αναφορά.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ED339591-EB5A-EA69-BF38-D9E40EA5A100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123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74389-418E-8BA3-9D86-3D22644D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3d22b37-adef-5fd2-b0aa-92d615b67d06.png">
            <a:extLst>
              <a:ext uri="{FF2B5EF4-FFF2-40B4-BE49-F238E27FC236}">
                <a16:creationId xmlns:a16="http://schemas.microsoft.com/office/drawing/2014/main" id="{8C261734-5CF8-F0B4-7651-007E0ABC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"/>
          <a:stretch>
            <a:fillRect/>
          </a:stretch>
        </p:blipFill>
        <p:spPr>
          <a:xfrm>
            <a:off x="350520" y="773305"/>
            <a:ext cx="11625170" cy="567321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39E0C3-F4FC-4D17-2D45-C7D8151FB2D2}"/>
              </a:ext>
            </a:extLst>
          </p:cNvPr>
          <p:cNvSpPr/>
          <p:nvPr/>
        </p:nvSpPr>
        <p:spPr>
          <a:xfrm>
            <a:off x="4015985" y="511521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hyp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(hypothesis)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80CEC3-BA1D-F2B6-F8AB-35AC0082D220}"/>
              </a:ext>
            </a:extLst>
          </p:cNvPr>
          <p:cNvSpPr/>
          <p:nvPr/>
        </p:nvSpPr>
        <p:spPr>
          <a:xfrm>
            <a:off x="10269306" y="1944424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src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(source)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5853D8-485B-9173-E0EB-137F9251261A}"/>
              </a:ext>
            </a:extLst>
          </p:cNvPr>
          <p:cNvSpPr/>
          <p:nvPr/>
        </p:nvSpPr>
        <p:spPr>
          <a:xfrm>
            <a:off x="10270476" y="2574980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tgt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(target)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973692D-DFC0-8EF0-5CBB-ED876E7F7121}"/>
              </a:ext>
            </a:extLst>
          </p:cNvPr>
          <p:cNvSpPr/>
          <p:nvPr/>
        </p:nvSpPr>
        <p:spPr>
          <a:xfrm>
            <a:off x="6678215" y="5612842"/>
            <a:ext cx="1712821" cy="804672"/>
          </a:xfrm>
          <a:prstGeom prst="roundRect">
            <a:avLst/>
          </a:prstGeom>
          <a:solidFill>
            <a:srgbClr val="E7EBF0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p(Hallucination)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C6CB79-DD95-80D8-043A-F096E9EA4200}"/>
              </a:ext>
            </a:extLst>
          </p:cNvPr>
          <p:cNvSpPr/>
          <p:nvPr/>
        </p:nvSpPr>
        <p:spPr>
          <a:xfrm>
            <a:off x="6601314" y="4062408"/>
            <a:ext cx="1866625" cy="804672"/>
          </a:xfrm>
          <a:prstGeom prst="roundRect">
            <a:avLst/>
          </a:prstGeom>
          <a:solidFill>
            <a:srgbClr val="D8DDE3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73152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Hallucination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Not Hallucination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50214204-C7DC-1A5A-4DF5-EE9DC820B48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371850" y="794985"/>
            <a:ext cx="644135" cy="1010955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M 340">
            <a:extLst>
              <a:ext uri="{FF2B5EF4-FFF2-40B4-BE49-F238E27FC236}">
                <a16:creationId xmlns:a16="http://schemas.microsoft.com/office/drawing/2014/main" id="{4A061832-80E2-D273-18C5-F1323B9FC84A}"/>
              </a:ext>
            </a:extLst>
          </p:cNvPr>
          <p:cNvSpPr>
            <a:spLocks noGrp="1"/>
          </p:cNvSpPr>
          <p:nvPr/>
        </p:nvSpPr>
        <p:spPr>
          <a:xfrm>
            <a:off x="7039608" y="2816022"/>
            <a:ext cx="790967" cy="383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5291E0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5291E0"/>
                </a:solidFill>
                <a:latin typeface="Aptos"/>
                <a:ea typeface="Aptos"/>
                <a:cs typeface="Aptos"/>
              </a:rPr>
              <a:t>DM</a:t>
            </a:r>
          </a:p>
        </p:txBody>
      </p:sp>
      <p:sp>
        <p:nvSpPr>
          <p:cNvPr id="27" name="MT 340">
            <a:extLst>
              <a:ext uri="{FF2B5EF4-FFF2-40B4-BE49-F238E27FC236}">
                <a16:creationId xmlns:a16="http://schemas.microsoft.com/office/drawing/2014/main" id="{BDB72883-45E0-6191-2479-1BF0F1F8ED5E}"/>
              </a:ext>
            </a:extLst>
          </p:cNvPr>
          <p:cNvSpPr>
            <a:spLocks noGrp="1"/>
          </p:cNvSpPr>
          <p:nvPr/>
        </p:nvSpPr>
        <p:spPr>
          <a:xfrm>
            <a:off x="7025167" y="3081491"/>
            <a:ext cx="806020" cy="383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B08A59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B08A59"/>
                </a:solidFill>
                <a:latin typeface="Aptos"/>
                <a:ea typeface="Aptos"/>
                <a:cs typeface="Aptos"/>
              </a:rPr>
              <a:t>MT</a:t>
            </a:r>
          </a:p>
        </p:txBody>
      </p:sp>
      <p:sp>
        <p:nvSpPr>
          <p:cNvPr id="29" name="PG 340">
            <a:extLst>
              <a:ext uri="{FF2B5EF4-FFF2-40B4-BE49-F238E27FC236}">
                <a16:creationId xmlns:a16="http://schemas.microsoft.com/office/drawing/2014/main" id="{FA6EE29D-E275-E1B0-61D5-517FC1D1FFBB}"/>
              </a:ext>
            </a:extLst>
          </p:cNvPr>
          <p:cNvSpPr>
            <a:spLocks noGrp="1"/>
          </p:cNvSpPr>
          <p:nvPr/>
        </p:nvSpPr>
        <p:spPr>
          <a:xfrm>
            <a:off x="7020556" y="3356794"/>
            <a:ext cx="790967" cy="383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3400" b="1">
                <a:solidFill>
                  <a:srgbClr val="8C6ABE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8C6ABE"/>
                </a:solidFill>
                <a:latin typeface="Aptos"/>
                <a:ea typeface="Aptos"/>
                <a:cs typeface="Aptos"/>
              </a:rPr>
              <a:t>PG</a:t>
            </a:r>
          </a:p>
        </p:txBody>
      </p:sp>
      <p:sp>
        <p:nvSpPr>
          <p:cNvPr id="43" name="Slide title">
            <a:extLst>
              <a:ext uri="{FF2B5EF4-FFF2-40B4-BE49-F238E27FC236}">
                <a16:creationId xmlns:a16="http://schemas.microsoft.com/office/drawing/2014/main" id="{9228D33C-193D-BF10-8227-6FB614F803AD}"/>
              </a:ext>
            </a:extLst>
          </p:cNvPr>
          <p:cNvSpPr txBox="1"/>
          <p:nvPr/>
        </p:nvSpPr>
        <p:spPr>
          <a:xfrm>
            <a:off x="411480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22A45"/>
                </a:solidFill>
              </a:rPr>
              <a:t>Πεδία του </a:t>
            </a:r>
            <a:r>
              <a:rPr lang="en-GB" sz="3000" b="1" dirty="0">
                <a:solidFill>
                  <a:srgbClr val="122A45"/>
                </a:solidFill>
              </a:rPr>
              <a:t>dataset</a:t>
            </a:r>
            <a:endParaRPr lang="el-GR" sz="3000" b="1" dirty="0">
              <a:solidFill>
                <a:srgbClr val="122A45"/>
              </a:solidFill>
            </a:endParaRPr>
          </a:p>
        </p:txBody>
      </p:sp>
      <p:cxnSp>
        <p:nvCxnSpPr>
          <p:cNvPr id="47" name="Connector 16">
            <a:extLst>
              <a:ext uri="{FF2B5EF4-FFF2-40B4-BE49-F238E27FC236}">
                <a16:creationId xmlns:a16="http://schemas.microsoft.com/office/drawing/2014/main" id="{22C192E7-4FDD-EC94-25A2-CF053C87898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830575" y="2227888"/>
            <a:ext cx="2438731" cy="144741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6">
            <a:extLst>
              <a:ext uri="{FF2B5EF4-FFF2-40B4-BE49-F238E27FC236}">
                <a16:creationId xmlns:a16="http://schemas.microsoft.com/office/drawing/2014/main" id="{E7B80401-08F5-E219-8A06-13699EE94C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9494520" y="2687320"/>
            <a:ext cx="775956" cy="171124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6">
            <a:extLst>
              <a:ext uri="{FF2B5EF4-FFF2-40B4-BE49-F238E27FC236}">
                <a16:creationId xmlns:a16="http://schemas.microsoft.com/office/drawing/2014/main" id="{0D870133-7855-98EB-0085-1B0CE484629B}"/>
              </a:ext>
            </a:extLst>
          </p:cNvPr>
          <p:cNvCxnSpPr>
            <a:cxnSpLocks/>
          </p:cNvCxnSpPr>
          <p:nvPr/>
        </p:nvCxnSpPr>
        <p:spPr>
          <a:xfrm flipV="1">
            <a:off x="4267936" y="2994008"/>
            <a:ext cx="2949678" cy="279211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6">
            <a:extLst>
              <a:ext uri="{FF2B5EF4-FFF2-40B4-BE49-F238E27FC236}">
                <a16:creationId xmlns:a16="http://schemas.microsoft.com/office/drawing/2014/main" id="{9C905CE0-979A-D876-5754-4C4C6802AE3B}"/>
              </a:ext>
            </a:extLst>
          </p:cNvPr>
          <p:cNvCxnSpPr>
            <a:cxnSpLocks/>
          </p:cNvCxnSpPr>
          <p:nvPr/>
        </p:nvCxnSpPr>
        <p:spPr>
          <a:xfrm>
            <a:off x="4267936" y="3274806"/>
            <a:ext cx="2949678" cy="0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16">
            <a:extLst>
              <a:ext uri="{FF2B5EF4-FFF2-40B4-BE49-F238E27FC236}">
                <a16:creationId xmlns:a16="http://schemas.microsoft.com/office/drawing/2014/main" id="{E82814FF-21FC-A3DB-2D57-A283298B4E5A}"/>
              </a:ext>
            </a:extLst>
          </p:cNvPr>
          <p:cNvCxnSpPr>
            <a:cxnSpLocks/>
          </p:cNvCxnSpPr>
          <p:nvPr/>
        </p:nvCxnSpPr>
        <p:spPr>
          <a:xfrm>
            <a:off x="4267936" y="3273219"/>
            <a:ext cx="2949678" cy="256271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16">
            <a:extLst>
              <a:ext uri="{FF2B5EF4-FFF2-40B4-BE49-F238E27FC236}">
                <a16:creationId xmlns:a16="http://schemas.microsoft.com/office/drawing/2014/main" id="{69EECB62-B731-80D9-01B3-FA7FA1BF7D7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642610" y="6015178"/>
            <a:ext cx="1035605" cy="0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ight Brace 88">
            <a:extLst>
              <a:ext uri="{FF2B5EF4-FFF2-40B4-BE49-F238E27FC236}">
                <a16:creationId xmlns:a16="http://schemas.microsoft.com/office/drawing/2014/main" id="{50D2CD51-8FFD-F8C6-CE14-D57E08AC501F}"/>
              </a:ext>
            </a:extLst>
          </p:cNvPr>
          <p:cNvSpPr/>
          <p:nvPr/>
        </p:nvSpPr>
        <p:spPr>
          <a:xfrm>
            <a:off x="5760140" y="3464947"/>
            <a:ext cx="347539" cy="199195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Connector 16">
            <a:extLst>
              <a:ext uri="{FF2B5EF4-FFF2-40B4-BE49-F238E27FC236}">
                <a16:creationId xmlns:a16="http://schemas.microsoft.com/office/drawing/2014/main" id="{C7F93AC6-E4F7-4829-7FC7-22CD459875B7}"/>
              </a:ext>
            </a:extLst>
          </p:cNvPr>
          <p:cNvCxnSpPr>
            <a:cxnSpLocks/>
          </p:cNvCxnSpPr>
          <p:nvPr/>
        </p:nvCxnSpPr>
        <p:spPr>
          <a:xfrm flipV="1">
            <a:off x="5796280" y="4867080"/>
            <a:ext cx="881935" cy="837760"/>
          </a:xfrm>
          <a:prstGeom prst="line">
            <a:avLst/>
          </a:prstGeom>
          <a:ln w="21590">
            <a:solidFill>
              <a:srgbClr val="888D9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69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211F0AF-DB2F-A311-D628-9D07C4B19F83}"/>
              </a:ext>
            </a:extLst>
          </p:cNvPr>
          <p:cNvSpPr/>
          <p:nvPr/>
        </p:nvSpPr>
        <p:spPr>
          <a:xfrm>
            <a:off x="406462" y="5704079"/>
            <a:ext cx="11526946" cy="719791"/>
          </a:xfrm>
          <a:prstGeom prst="rect">
            <a:avLst/>
          </a:prstGeom>
          <a:solidFill>
            <a:srgbClr val="ED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F478D7-E1FD-108F-B8D9-BDDD61165C22}"/>
              </a:ext>
            </a:extLst>
          </p:cNvPr>
          <p:cNvSpPr/>
          <p:nvPr/>
        </p:nvSpPr>
        <p:spPr>
          <a:xfrm>
            <a:off x="2346366" y="803832"/>
            <a:ext cx="7346275" cy="461665"/>
          </a:xfrm>
          <a:prstGeom prst="rect">
            <a:avLst/>
          </a:prstGeom>
          <a:solidFill>
            <a:srgbClr val="ED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E2790-4033-6BD1-9B17-3D36806CE563}"/>
              </a:ext>
            </a:extLst>
          </p:cNvPr>
          <p:cNvSpPr txBox="1"/>
          <p:nvPr/>
        </p:nvSpPr>
        <p:spPr>
          <a:xfrm>
            <a:off x="2447967" y="859538"/>
            <a:ext cx="724467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2400" dirty="0">
                <a:solidFill>
                  <a:srgbClr val="293745"/>
                </a:solidFill>
                <a:latin typeface="Aptos"/>
              </a:rPr>
              <a:t>Το </a:t>
            </a:r>
            <a:r>
              <a:rPr sz="2400" dirty="0">
                <a:solidFill>
                  <a:srgbClr val="293745"/>
                </a:solidFill>
                <a:latin typeface="Aptos"/>
              </a:rPr>
              <a:t>Model-agnostic Development Set </a:t>
            </a:r>
            <a:r>
              <a:rPr lang="el-GR" sz="2400" dirty="0">
                <a:solidFill>
                  <a:srgbClr val="293745"/>
                </a:solidFill>
                <a:latin typeface="Aptos"/>
              </a:rPr>
              <a:t>έχει</a:t>
            </a:r>
            <a:r>
              <a:rPr sz="2400" dirty="0">
                <a:solidFill>
                  <a:srgbClr val="293745"/>
                </a:solidFill>
                <a:latin typeface="Aptos"/>
              </a:rPr>
              <a:t> </a:t>
            </a:r>
            <a:r>
              <a:rPr sz="2400" b="1" dirty="0">
                <a:solidFill>
                  <a:srgbClr val="293745"/>
                </a:solidFill>
                <a:latin typeface="Aptos"/>
              </a:rPr>
              <a:t>499 δείγματα</a:t>
            </a:r>
          </a:p>
        </p:txBody>
      </p:sp>
      <p:pic>
        <p:nvPicPr>
          <p:cNvPr id="7" name="Picture 6" descr="figure_4_5.png">
            <a:extLst>
              <a:ext uri="{FF2B5EF4-FFF2-40B4-BE49-F238E27FC236}">
                <a16:creationId xmlns:a16="http://schemas.microsoft.com/office/drawing/2014/main" id="{0EC5E589-82CD-3E50-64D2-501733B2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52" y="1744551"/>
            <a:ext cx="5932774" cy="3603709"/>
          </a:xfrm>
          <a:prstGeom prst="rect">
            <a:avLst/>
          </a:prstGeom>
        </p:spPr>
      </p:pic>
      <p:pic>
        <p:nvPicPr>
          <p:cNvPr id="9" name="Picture 8" descr="figure_4_6.png">
            <a:extLst>
              <a:ext uri="{FF2B5EF4-FFF2-40B4-BE49-F238E27FC236}">
                <a16:creationId xmlns:a16="http://schemas.microsoft.com/office/drawing/2014/main" id="{9D915BC3-706E-9ED2-0E68-137951A6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992" y="1734691"/>
            <a:ext cx="5614416" cy="36135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68BC33-A5B4-D6F7-6E0F-1FF24EAF81DF}"/>
              </a:ext>
            </a:extLst>
          </p:cNvPr>
          <p:cNvSpPr txBox="1"/>
          <p:nvPr/>
        </p:nvSpPr>
        <p:spPr>
          <a:xfrm>
            <a:off x="1363090" y="1366179"/>
            <a:ext cx="388728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10243D"/>
                </a:solidFill>
                <a:latin typeface="Aptos"/>
              </a:rPr>
              <a:t>Κατανομή 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τελικών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ετικετών</a:t>
            </a:r>
            <a:endParaRPr sz="24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1337F-7332-9E85-C796-337D87FC65BF}"/>
              </a:ext>
            </a:extLst>
          </p:cNvPr>
          <p:cNvSpPr txBox="1"/>
          <p:nvPr/>
        </p:nvSpPr>
        <p:spPr>
          <a:xfrm>
            <a:off x="7276381" y="1366179"/>
            <a:ext cx="370101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10243D"/>
                </a:solidFill>
                <a:latin typeface="Aptos"/>
              </a:rPr>
              <a:t>Κατανομή p(Hallucination)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91518-2246-1474-FDBC-9C8A63D83DF4}"/>
              </a:ext>
            </a:extLst>
          </p:cNvPr>
          <p:cNvSpPr txBox="1"/>
          <p:nvPr/>
        </p:nvSpPr>
        <p:spPr>
          <a:xfrm>
            <a:off x="388373" y="5397904"/>
            <a:ext cx="107899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697480"/>
                </a:solidFill>
                <a:latin typeface="Aptos"/>
              </a:rPr>
              <a:t>Πηγή: Διπλωματική εργασία, Κεφάλαιο 4, Σχήματα 4.5 και 4.6.</a:t>
            </a:r>
          </a:p>
        </p:txBody>
      </p:sp>
      <p:sp>
        <p:nvSpPr>
          <p:cNvPr id="19" name="Σύντομο συμπέρασμα EDA">
            <a:extLst>
              <a:ext uri="{FF2B5EF4-FFF2-40B4-BE49-F238E27FC236}">
                <a16:creationId xmlns:a16="http://schemas.microsoft.com/office/drawing/2014/main" id="{0D16F35A-F0FA-6311-946A-9F9D1DC7C69F}"/>
              </a:ext>
            </a:extLst>
          </p:cNvPr>
          <p:cNvSpPr txBox="1"/>
          <p:nvPr/>
        </p:nvSpPr>
        <p:spPr>
          <a:xfrm>
            <a:off x="448056" y="5685207"/>
            <a:ext cx="1122883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2400" dirty="0"/>
              <a:t>Η κατανομή των </a:t>
            </a:r>
            <a:r>
              <a:rPr lang="en-GB" sz="2400" dirty="0" err="1"/>
              <a:t>ετικετών</a:t>
            </a:r>
            <a:r>
              <a:rPr lang="en-GB" sz="2400" dirty="0"/>
              <a:t> διαφέρει ανά task, ενώ οι </a:t>
            </a:r>
            <a:r>
              <a:rPr lang="en-GB" sz="2400" dirty="0" err="1"/>
              <a:t>ενδιάμεσες</a:t>
            </a:r>
            <a:r>
              <a:rPr lang="en-GB" sz="2400" dirty="0"/>
              <a:t> τιμές της p(Hallucination) </a:t>
            </a:r>
            <a:r>
              <a:rPr lang="en-GB" sz="2400" dirty="0" err="1"/>
              <a:t>δείχνουν</a:t>
            </a:r>
            <a:r>
              <a:rPr lang="en-GB" sz="2400" dirty="0"/>
              <a:t> </a:t>
            </a:r>
            <a:r>
              <a:rPr lang="en-GB" sz="2400" dirty="0" err="1"/>
              <a:t>ότι</a:t>
            </a:r>
            <a:r>
              <a:rPr lang="en-GB" sz="2400" dirty="0"/>
              <a:t> η αξιολόγηση δεν π</a:t>
            </a:r>
            <a:r>
              <a:rPr lang="en-GB" sz="2400" dirty="0" err="1"/>
              <a:t>εριορίζετ</a:t>
            </a:r>
            <a:r>
              <a:rPr lang="en-GB" sz="2400" dirty="0"/>
              <a:t>αι σε μια δυαδική απόφαση.</a:t>
            </a:r>
            <a:endParaRPr sz="240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21" name="Slide title">
            <a:extLst>
              <a:ext uri="{FF2B5EF4-FFF2-40B4-BE49-F238E27FC236}">
                <a16:creationId xmlns:a16="http://schemas.microsoft.com/office/drawing/2014/main" id="{6E03009D-6313-3A26-B973-AA209ADB8927}"/>
              </a:ext>
            </a:extLst>
          </p:cNvPr>
          <p:cNvSpPr txBox="1"/>
          <p:nvPr/>
        </p:nvSpPr>
        <p:spPr>
          <a:xfrm>
            <a:off x="411480" y="256032"/>
            <a:ext cx="555955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3000" b="1" dirty="0">
                <a:solidFill>
                  <a:srgbClr val="122A45"/>
                </a:solidFill>
              </a:rPr>
              <a:t>Exploratory Data Analysis (EDA) </a:t>
            </a:r>
            <a:endParaRPr lang="el-GR" sz="3000" b="1" dirty="0">
              <a:solidFill>
                <a:srgbClr val="122A45"/>
              </a:solidFill>
            </a:endParaRP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06ACCEA2-4AA4-961E-76E8-C18F718859D5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b="0" dirty="0">
                <a:solidFill>
                  <a:srgbClr val="677384"/>
                </a:solidFill>
                <a:latin typeface="Aptos"/>
              </a:rPr>
              <a:t>6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5802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hase 1 card">
            <a:extLst>
              <a:ext uri="{FF2B5EF4-FFF2-40B4-BE49-F238E27FC236}">
                <a16:creationId xmlns:a16="http://schemas.microsoft.com/office/drawing/2014/main" id="{1E62E51C-ED6A-47A8-3B23-8E1D7B1DEF4E}"/>
              </a:ext>
            </a:extLst>
          </p:cNvPr>
          <p:cNvSpPr/>
          <p:nvPr/>
        </p:nvSpPr>
        <p:spPr>
          <a:xfrm>
            <a:off x="393192" y="1566376"/>
            <a:ext cx="3474720" cy="4919472"/>
          </a:xfrm>
          <a:prstGeom prst="rect">
            <a:avLst/>
          </a:prstGeom>
          <a:solidFill>
            <a:srgbClr val="EEF3F8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Phase 1 vertical accent">
            <a:extLst>
              <a:ext uri="{FF2B5EF4-FFF2-40B4-BE49-F238E27FC236}">
                <a16:creationId xmlns:a16="http://schemas.microsoft.com/office/drawing/2014/main" id="{D9CDB62D-B8DA-110F-4D5D-7111D80CC26C}"/>
              </a:ext>
            </a:extLst>
          </p:cNvPr>
          <p:cNvSpPr/>
          <p:nvPr/>
        </p:nvSpPr>
        <p:spPr>
          <a:xfrm>
            <a:off x="548640" y="1566376"/>
            <a:ext cx="57607" cy="4919472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hase 1 horizontal accent">
            <a:extLst>
              <a:ext uri="{FF2B5EF4-FFF2-40B4-BE49-F238E27FC236}">
                <a16:creationId xmlns:a16="http://schemas.microsoft.com/office/drawing/2014/main" id="{131F7AB4-0243-7BD6-3085-F21D549EB27F}"/>
              </a:ext>
            </a:extLst>
          </p:cNvPr>
          <p:cNvSpPr/>
          <p:nvPr/>
        </p:nvSpPr>
        <p:spPr>
          <a:xfrm>
            <a:off x="393192" y="2563072"/>
            <a:ext cx="3474720" cy="57607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E2F684-3F0D-60A8-B0A2-FF085914B9C9}"/>
              </a:ext>
            </a:extLst>
          </p:cNvPr>
          <p:cNvSpPr txBox="1"/>
          <p:nvPr/>
        </p:nvSpPr>
        <p:spPr>
          <a:xfrm>
            <a:off x="740664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1η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6A3098-EF69-FF92-9A78-5E08A97DA582}"/>
              </a:ext>
            </a:extLst>
          </p:cNvPr>
          <p:cNvSpPr txBox="1"/>
          <p:nvPr/>
        </p:nvSpPr>
        <p:spPr>
          <a:xfrm>
            <a:off x="740664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Αρχική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μέθοδος</a:t>
            </a:r>
          </a:p>
        </p:txBody>
      </p:sp>
      <p:sp>
        <p:nvSpPr>
          <p:cNvPr id="78" name="E1">
            <a:extLst>
              <a:ext uri="{FF2B5EF4-FFF2-40B4-BE49-F238E27FC236}">
                <a16:creationId xmlns:a16="http://schemas.microsoft.com/office/drawing/2014/main" id="{48460791-EF3A-9DC1-C630-4BE50A0D9E53}"/>
              </a:ext>
            </a:extLst>
          </p:cNvPr>
          <p:cNvSpPr txBox="1"/>
          <p:nvPr/>
        </p:nvSpPr>
        <p:spPr>
          <a:xfrm>
            <a:off x="722376" y="2791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E1</a:t>
            </a:r>
          </a:p>
        </p:txBody>
      </p:sp>
      <p:sp>
        <p:nvSpPr>
          <p:cNvPr id="80" name="E1 research summary">
            <a:extLst>
              <a:ext uri="{FF2B5EF4-FFF2-40B4-BE49-F238E27FC236}">
                <a16:creationId xmlns:a16="http://schemas.microsoft.com/office/drawing/2014/main" id="{1CAA8D48-4DFB-D91C-7576-5078CE538B71}"/>
              </a:ext>
            </a:extLst>
          </p:cNvPr>
          <p:cNvSpPr txBox="1"/>
          <p:nvPr/>
        </p:nvSpPr>
        <p:spPr>
          <a:xfrm>
            <a:off x="1344168" y="2773384"/>
            <a:ext cx="2276856" cy="630942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Χαρακτηριστικά </a:t>
            </a:r>
            <a:endParaRPr lang="el-GR" sz="2050" b="0" dirty="0">
              <a:solidFill>
                <a:srgbClr val="374357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NLI</a:t>
            </a:r>
          </a:p>
        </p:txBody>
      </p:sp>
      <p:sp>
        <p:nvSpPr>
          <p:cNvPr id="82" name="E2">
            <a:extLst>
              <a:ext uri="{FF2B5EF4-FFF2-40B4-BE49-F238E27FC236}">
                <a16:creationId xmlns:a16="http://schemas.microsoft.com/office/drawing/2014/main" id="{71CEF915-6214-A8E8-0C35-08987F6D4792}"/>
              </a:ext>
            </a:extLst>
          </p:cNvPr>
          <p:cNvSpPr txBox="1"/>
          <p:nvPr/>
        </p:nvSpPr>
        <p:spPr>
          <a:xfrm>
            <a:off x="722376" y="360548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E2</a:t>
            </a:r>
          </a:p>
        </p:txBody>
      </p:sp>
      <p:sp>
        <p:nvSpPr>
          <p:cNvPr id="84" name="E2 research summary">
            <a:extLst>
              <a:ext uri="{FF2B5EF4-FFF2-40B4-BE49-F238E27FC236}">
                <a16:creationId xmlns:a16="http://schemas.microsoft.com/office/drawing/2014/main" id="{9529F13A-D217-23BB-5299-7F29FCC120DC}"/>
              </a:ext>
            </a:extLst>
          </p:cNvPr>
          <p:cNvSpPr txBox="1"/>
          <p:nvPr/>
        </p:nvSpPr>
        <p:spPr>
          <a:xfrm>
            <a:off x="1344168" y="358720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Σημασιολογική ομοιότητα</a:t>
            </a:r>
          </a:p>
        </p:txBody>
      </p:sp>
      <p:sp>
        <p:nvSpPr>
          <p:cNvPr id="86" name="E3">
            <a:extLst>
              <a:ext uri="{FF2B5EF4-FFF2-40B4-BE49-F238E27FC236}">
                <a16:creationId xmlns:a16="http://schemas.microsoft.com/office/drawing/2014/main" id="{23638C00-4AB2-D328-C3F8-AD7169C8F26E}"/>
              </a:ext>
            </a:extLst>
          </p:cNvPr>
          <p:cNvSpPr txBox="1"/>
          <p:nvPr/>
        </p:nvSpPr>
        <p:spPr>
          <a:xfrm>
            <a:off x="722376" y="444673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88" name="E3 research summary">
            <a:extLst>
              <a:ext uri="{FF2B5EF4-FFF2-40B4-BE49-F238E27FC236}">
                <a16:creationId xmlns:a16="http://schemas.microsoft.com/office/drawing/2014/main" id="{A078C985-4CE0-C462-5F80-A58D4F0417A4}"/>
              </a:ext>
            </a:extLst>
          </p:cNvPr>
          <p:cNvSpPr txBox="1"/>
          <p:nvPr/>
        </p:nvSpPr>
        <p:spPr>
          <a:xfrm>
            <a:off x="1344168" y="442844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Συνδυασμός NLI και ομοιότητας</a:t>
            </a:r>
          </a:p>
        </p:txBody>
      </p:sp>
      <p:sp>
        <p:nvSpPr>
          <p:cNvPr id="90" name="E4">
            <a:extLst>
              <a:ext uri="{FF2B5EF4-FFF2-40B4-BE49-F238E27FC236}">
                <a16:creationId xmlns:a16="http://schemas.microsoft.com/office/drawing/2014/main" id="{C99DB392-7706-BA03-F863-4B04438DDB69}"/>
              </a:ext>
            </a:extLst>
          </p:cNvPr>
          <p:cNvSpPr txBox="1"/>
          <p:nvPr/>
        </p:nvSpPr>
        <p:spPr>
          <a:xfrm>
            <a:off x="722376" y="5416000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6A8CAF"/>
                </a:solidFill>
                <a:latin typeface="Aptos"/>
              </a:rPr>
              <a:t>E4</a:t>
            </a:r>
          </a:p>
        </p:txBody>
      </p:sp>
      <p:sp>
        <p:nvSpPr>
          <p:cNvPr id="92" name="E4 research summary">
            <a:extLst>
              <a:ext uri="{FF2B5EF4-FFF2-40B4-BE49-F238E27FC236}">
                <a16:creationId xmlns:a16="http://schemas.microsoft.com/office/drawing/2014/main" id="{AC3B375F-CEBF-2F9C-0B0D-6C93AFB70CB1}"/>
              </a:ext>
            </a:extLst>
          </p:cNvPr>
          <p:cNvSpPr txBox="1"/>
          <p:nvPr/>
        </p:nvSpPr>
        <p:spPr>
          <a:xfrm>
            <a:off x="1344168" y="5397712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Συνθετικά δεδομένα</a:t>
            </a:r>
          </a:p>
        </p:txBody>
      </p:sp>
      <p:sp>
        <p:nvSpPr>
          <p:cNvPr id="94" name="Phase 2 card">
            <a:extLst>
              <a:ext uri="{FF2B5EF4-FFF2-40B4-BE49-F238E27FC236}">
                <a16:creationId xmlns:a16="http://schemas.microsoft.com/office/drawing/2014/main" id="{2FAAA9C2-C752-9DF9-1807-03AA4710E4F9}"/>
              </a:ext>
            </a:extLst>
          </p:cNvPr>
          <p:cNvSpPr/>
          <p:nvPr/>
        </p:nvSpPr>
        <p:spPr>
          <a:xfrm>
            <a:off x="4361688" y="1566376"/>
            <a:ext cx="3474720" cy="4919472"/>
          </a:xfrm>
          <a:prstGeom prst="rect">
            <a:avLst/>
          </a:prstGeom>
          <a:solidFill>
            <a:srgbClr val="F1EDF6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Phase 2 vertical accent">
            <a:extLst>
              <a:ext uri="{FF2B5EF4-FFF2-40B4-BE49-F238E27FC236}">
                <a16:creationId xmlns:a16="http://schemas.microsoft.com/office/drawing/2014/main" id="{3808CB88-AF9E-5742-773A-ECE638ADA759}"/>
              </a:ext>
            </a:extLst>
          </p:cNvPr>
          <p:cNvSpPr/>
          <p:nvPr/>
        </p:nvSpPr>
        <p:spPr>
          <a:xfrm>
            <a:off x="4517136" y="1566376"/>
            <a:ext cx="57607" cy="4919472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Phase 2 horizontal accent">
            <a:extLst>
              <a:ext uri="{FF2B5EF4-FFF2-40B4-BE49-F238E27FC236}">
                <a16:creationId xmlns:a16="http://schemas.microsoft.com/office/drawing/2014/main" id="{2F546AA4-39D7-4B83-C9F1-556AE1C0AF43}"/>
              </a:ext>
            </a:extLst>
          </p:cNvPr>
          <p:cNvSpPr/>
          <p:nvPr/>
        </p:nvSpPr>
        <p:spPr>
          <a:xfrm>
            <a:off x="4361688" y="2563072"/>
            <a:ext cx="3474720" cy="57607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73BD75A-8CB7-85C6-3D5A-7843E34DAD49}"/>
              </a:ext>
            </a:extLst>
          </p:cNvPr>
          <p:cNvSpPr txBox="1"/>
          <p:nvPr/>
        </p:nvSpPr>
        <p:spPr>
          <a:xfrm>
            <a:off x="4709159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2η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40EF1B0-2546-683D-DE73-E9B320A250AA}"/>
              </a:ext>
            </a:extLst>
          </p:cNvPr>
          <p:cNvSpPr txBox="1"/>
          <p:nvPr/>
        </p:nvSpPr>
        <p:spPr>
          <a:xfrm>
            <a:off x="4709159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>
                <a:solidFill>
                  <a:srgbClr val="10243D"/>
                </a:solidFill>
                <a:latin typeface="Aptos"/>
              </a:rPr>
              <a:t>Επ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εκτάσεις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08" name="E5">
            <a:extLst>
              <a:ext uri="{FF2B5EF4-FFF2-40B4-BE49-F238E27FC236}">
                <a16:creationId xmlns:a16="http://schemas.microsoft.com/office/drawing/2014/main" id="{E6D79D0C-37BF-EF7A-B5CE-707D4FEA57BD}"/>
              </a:ext>
            </a:extLst>
          </p:cNvPr>
          <p:cNvSpPr txBox="1"/>
          <p:nvPr/>
        </p:nvSpPr>
        <p:spPr>
          <a:xfrm>
            <a:off x="4690872" y="2773384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110" name="E5 research summary">
            <a:extLst>
              <a:ext uri="{FF2B5EF4-FFF2-40B4-BE49-F238E27FC236}">
                <a16:creationId xmlns:a16="http://schemas.microsoft.com/office/drawing/2014/main" id="{BCCB5DEA-9B0D-9FA8-998E-A34483ECA411}"/>
              </a:ext>
            </a:extLst>
          </p:cNvPr>
          <p:cNvSpPr txBox="1"/>
          <p:nvPr/>
        </p:nvSpPr>
        <p:spPr>
          <a:xfrm>
            <a:off x="5312664" y="2755096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Εξωτερικοί ορισμοί (RAG)</a:t>
            </a:r>
          </a:p>
        </p:txBody>
      </p:sp>
      <p:sp>
        <p:nvSpPr>
          <p:cNvPr id="112" name="E6">
            <a:extLst>
              <a:ext uri="{FF2B5EF4-FFF2-40B4-BE49-F238E27FC236}">
                <a16:creationId xmlns:a16="http://schemas.microsoft.com/office/drawing/2014/main" id="{8F03FF19-D2D5-D730-9004-8C987B4640E5}"/>
              </a:ext>
            </a:extLst>
          </p:cNvPr>
          <p:cNvSpPr txBox="1"/>
          <p:nvPr/>
        </p:nvSpPr>
        <p:spPr>
          <a:xfrm>
            <a:off x="4690872" y="357805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114" name="E6 research summary">
            <a:extLst>
              <a:ext uri="{FF2B5EF4-FFF2-40B4-BE49-F238E27FC236}">
                <a16:creationId xmlns:a16="http://schemas.microsoft.com/office/drawing/2014/main" id="{88872287-42C2-4B28-B848-DCA980441D80}"/>
              </a:ext>
            </a:extLst>
          </p:cNvPr>
          <p:cNvSpPr txBox="1"/>
          <p:nvPr/>
        </p:nvSpPr>
        <p:spPr>
          <a:xfrm>
            <a:off x="5312664" y="355976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9" b="0">
                <a:solidFill>
                  <a:srgbClr val="374357"/>
                </a:solidFill>
                <a:latin typeface="Aptos"/>
              </a:rPr>
              <a:t>Νέοι έλεγχοι και χαρακτηριστικά</a:t>
            </a:r>
          </a:p>
        </p:txBody>
      </p:sp>
      <p:sp>
        <p:nvSpPr>
          <p:cNvPr id="118" name="E7">
            <a:extLst>
              <a:ext uri="{FF2B5EF4-FFF2-40B4-BE49-F238E27FC236}">
                <a16:creationId xmlns:a16="http://schemas.microsoft.com/office/drawing/2014/main" id="{ED8EDDD2-789E-ACD9-CC4A-5FB6DC6CD077}"/>
              </a:ext>
            </a:extLst>
          </p:cNvPr>
          <p:cNvSpPr txBox="1"/>
          <p:nvPr/>
        </p:nvSpPr>
        <p:spPr>
          <a:xfrm>
            <a:off x="4690872" y="4433857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120" name="E7 research summary">
            <a:extLst>
              <a:ext uri="{FF2B5EF4-FFF2-40B4-BE49-F238E27FC236}">
                <a16:creationId xmlns:a16="http://schemas.microsoft.com/office/drawing/2014/main" id="{667CE01F-80AA-3778-8534-A49E58E4DBCE}"/>
              </a:ext>
            </a:extLst>
          </p:cNvPr>
          <p:cNvSpPr txBox="1"/>
          <p:nvPr/>
        </p:nvSpPr>
        <p:spPr>
          <a:xfrm>
            <a:off x="5312664" y="4415569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Επιλεκτικό Agentic RAG</a:t>
            </a:r>
          </a:p>
        </p:txBody>
      </p:sp>
      <p:sp>
        <p:nvSpPr>
          <p:cNvPr id="122" name="E8">
            <a:extLst>
              <a:ext uri="{FF2B5EF4-FFF2-40B4-BE49-F238E27FC236}">
                <a16:creationId xmlns:a16="http://schemas.microsoft.com/office/drawing/2014/main" id="{3018A9D7-D982-4CCC-9E32-D7D98E03CE97}"/>
              </a:ext>
            </a:extLst>
          </p:cNvPr>
          <p:cNvSpPr txBox="1"/>
          <p:nvPr/>
        </p:nvSpPr>
        <p:spPr>
          <a:xfrm>
            <a:off x="4709160" y="5412265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124" name="E8 research summary">
            <a:extLst>
              <a:ext uri="{FF2B5EF4-FFF2-40B4-BE49-F238E27FC236}">
                <a16:creationId xmlns:a16="http://schemas.microsoft.com/office/drawing/2014/main" id="{FE08B6B1-663F-C937-FD2C-34F55F63A443}"/>
              </a:ext>
            </a:extLst>
          </p:cNvPr>
          <p:cNvSpPr txBox="1"/>
          <p:nvPr/>
        </p:nvSpPr>
        <p:spPr>
          <a:xfrm>
            <a:off x="5330952" y="5393977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 err="1">
                <a:solidFill>
                  <a:srgbClr val="374357"/>
                </a:solidFill>
                <a:latin typeface="Aptos"/>
              </a:rPr>
              <a:t>Ρυθμίσεις</a:t>
            </a:r>
            <a:r>
              <a:rPr sz="2050" b="0" dirty="0">
                <a:solidFill>
                  <a:srgbClr val="374357"/>
                </a:solidFill>
                <a:latin typeface="Aptos"/>
              </a:rPr>
              <a:t> Random Forest</a:t>
            </a:r>
          </a:p>
        </p:txBody>
      </p:sp>
      <p:sp>
        <p:nvSpPr>
          <p:cNvPr id="126" name="Phase 3 card">
            <a:extLst>
              <a:ext uri="{FF2B5EF4-FFF2-40B4-BE49-F238E27FC236}">
                <a16:creationId xmlns:a16="http://schemas.microsoft.com/office/drawing/2014/main" id="{76A68D5B-F62B-FCB2-A8A7-B908234C9C2D}"/>
              </a:ext>
            </a:extLst>
          </p:cNvPr>
          <p:cNvSpPr/>
          <p:nvPr/>
        </p:nvSpPr>
        <p:spPr>
          <a:xfrm>
            <a:off x="8330183" y="1566376"/>
            <a:ext cx="3474720" cy="4919472"/>
          </a:xfrm>
          <a:prstGeom prst="rect">
            <a:avLst/>
          </a:prstGeom>
          <a:solidFill>
            <a:srgbClr val="EEF3EA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Phase 3 vertical accent">
            <a:extLst>
              <a:ext uri="{FF2B5EF4-FFF2-40B4-BE49-F238E27FC236}">
                <a16:creationId xmlns:a16="http://schemas.microsoft.com/office/drawing/2014/main" id="{A7B08C34-E838-3176-D45E-85F3AC84FDDE}"/>
              </a:ext>
            </a:extLst>
          </p:cNvPr>
          <p:cNvSpPr/>
          <p:nvPr/>
        </p:nvSpPr>
        <p:spPr>
          <a:xfrm>
            <a:off x="8485632" y="1566376"/>
            <a:ext cx="57607" cy="4919472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Phase 3 horizontal accent">
            <a:extLst>
              <a:ext uri="{FF2B5EF4-FFF2-40B4-BE49-F238E27FC236}">
                <a16:creationId xmlns:a16="http://schemas.microsoft.com/office/drawing/2014/main" id="{7CBBB08B-D92A-22FE-5722-E0387C8EE7ED}"/>
              </a:ext>
            </a:extLst>
          </p:cNvPr>
          <p:cNvSpPr/>
          <p:nvPr/>
        </p:nvSpPr>
        <p:spPr>
          <a:xfrm>
            <a:off x="8330183" y="2563072"/>
            <a:ext cx="3474720" cy="57607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0864425-6CF7-2FED-1397-DA69CFA3F316}"/>
              </a:ext>
            </a:extLst>
          </p:cNvPr>
          <p:cNvSpPr txBox="1"/>
          <p:nvPr/>
        </p:nvSpPr>
        <p:spPr>
          <a:xfrm>
            <a:off x="8677656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3η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E4FAE0A-CE20-FE1C-7F62-0F9C9D6A1242}"/>
              </a:ext>
            </a:extLst>
          </p:cNvPr>
          <p:cNvSpPr txBox="1"/>
          <p:nvPr/>
        </p:nvSpPr>
        <p:spPr>
          <a:xfrm>
            <a:off x="8677656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Νέες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ροσεγγίσεις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40" name="E9">
            <a:extLst>
              <a:ext uri="{FF2B5EF4-FFF2-40B4-BE49-F238E27FC236}">
                <a16:creationId xmlns:a16="http://schemas.microsoft.com/office/drawing/2014/main" id="{EDD23B5F-4928-61F4-DD8E-CFFB6F9AE58A}"/>
              </a:ext>
            </a:extLst>
          </p:cNvPr>
          <p:cNvSpPr txBox="1"/>
          <p:nvPr/>
        </p:nvSpPr>
        <p:spPr>
          <a:xfrm>
            <a:off x="8659367" y="287396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142" name="E9 research summary">
            <a:extLst>
              <a:ext uri="{FF2B5EF4-FFF2-40B4-BE49-F238E27FC236}">
                <a16:creationId xmlns:a16="http://schemas.microsoft.com/office/drawing/2014/main" id="{BD8421F3-43C3-9E68-D057-5DC51875DE57}"/>
              </a:ext>
            </a:extLst>
          </p:cNvPr>
          <p:cNvSpPr txBox="1"/>
          <p:nvPr/>
        </p:nvSpPr>
        <p:spPr>
          <a:xfrm>
            <a:off x="9281159" y="285568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επιμέρους ισχυρισμών</a:t>
            </a:r>
          </a:p>
        </p:txBody>
      </p:sp>
      <p:sp>
        <p:nvSpPr>
          <p:cNvPr id="144" name="E10">
            <a:extLst>
              <a:ext uri="{FF2B5EF4-FFF2-40B4-BE49-F238E27FC236}">
                <a16:creationId xmlns:a16="http://schemas.microsoft.com/office/drawing/2014/main" id="{82760879-750E-6F62-D7B3-434A0FF80C13}"/>
              </a:ext>
            </a:extLst>
          </p:cNvPr>
          <p:cNvSpPr txBox="1"/>
          <p:nvPr/>
        </p:nvSpPr>
        <p:spPr>
          <a:xfrm>
            <a:off x="8659367" y="3934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146" name="E10 research summary">
            <a:extLst>
              <a:ext uri="{FF2B5EF4-FFF2-40B4-BE49-F238E27FC236}">
                <a16:creationId xmlns:a16="http://schemas.microsoft.com/office/drawing/2014/main" id="{29103900-E418-5985-BAB3-96D4B4F28A8B}"/>
              </a:ext>
            </a:extLst>
          </p:cNvPr>
          <p:cNvSpPr txBox="1"/>
          <p:nvPr/>
        </p:nvSpPr>
        <p:spPr>
          <a:xfrm>
            <a:off x="9281159" y="3916384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πλήρους hyp (FactCG)</a:t>
            </a:r>
          </a:p>
        </p:txBody>
      </p:sp>
      <p:sp>
        <p:nvSpPr>
          <p:cNvPr id="148" name="E11">
            <a:extLst>
              <a:ext uri="{FF2B5EF4-FFF2-40B4-BE49-F238E27FC236}">
                <a16:creationId xmlns:a16="http://schemas.microsoft.com/office/drawing/2014/main" id="{98F73694-9880-BE7C-A1E1-05F70A2AEB0F}"/>
              </a:ext>
            </a:extLst>
          </p:cNvPr>
          <p:cNvSpPr txBox="1"/>
          <p:nvPr/>
        </p:nvSpPr>
        <p:spPr>
          <a:xfrm>
            <a:off x="8659367" y="499537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150" name="E11 research summary">
            <a:extLst>
              <a:ext uri="{FF2B5EF4-FFF2-40B4-BE49-F238E27FC236}">
                <a16:creationId xmlns:a16="http://schemas.microsoft.com/office/drawing/2014/main" id="{E3E85C70-3C05-E6C5-1E5F-BADCE9F76B8E}"/>
              </a:ext>
            </a:extLst>
          </p:cNvPr>
          <p:cNvSpPr txBox="1"/>
          <p:nvPr/>
        </p:nvSpPr>
        <p:spPr>
          <a:xfrm>
            <a:off x="9281159" y="497708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Fine-tuning transformer</a:t>
            </a:r>
          </a:p>
        </p:txBody>
      </p:sp>
      <p:sp>
        <p:nvSpPr>
          <p:cNvPr id="154" name="Right Arrow 48">
            <a:extLst>
              <a:ext uri="{FF2B5EF4-FFF2-40B4-BE49-F238E27FC236}">
                <a16:creationId xmlns:a16="http://schemas.microsoft.com/office/drawing/2014/main" id="{5696D1E0-FBFC-BFBE-8293-AD4801A17D60}"/>
              </a:ext>
            </a:extLst>
          </p:cNvPr>
          <p:cNvSpPr/>
          <p:nvPr/>
        </p:nvSpPr>
        <p:spPr>
          <a:xfrm>
            <a:off x="3950208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ight Arrow 49">
            <a:extLst>
              <a:ext uri="{FF2B5EF4-FFF2-40B4-BE49-F238E27FC236}">
                <a16:creationId xmlns:a16="http://schemas.microsoft.com/office/drawing/2014/main" id="{567344BC-A962-44C9-6515-584B0762AB94}"/>
              </a:ext>
            </a:extLst>
          </p:cNvPr>
          <p:cNvSpPr/>
          <p:nvPr/>
        </p:nvSpPr>
        <p:spPr>
          <a:xfrm>
            <a:off x="7918704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Slide title">
            <a:extLst>
              <a:ext uri="{FF2B5EF4-FFF2-40B4-BE49-F238E27FC236}">
                <a16:creationId xmlns:a16="http://schemas.microsoft.com/office/drawing/2014/main" id="{D13B590D-1BB6-3901-C5A1-0A25434B87D4}"/>
              </a:ext>
            </a:extLst>
          </p:cNvPr>
          <p:cNvSpPr txBox="1"/>
          <p:nvPr/>
        </p:nvSpPr>
        <p:spPr>
          <a:xfrm>
            <a:off x="429236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Πώς οργανώθηκαν τα πειράματα;</a:t>
            </a:r>
          </a:p>
        </p:txBody>
      </p:sp>
      <p:sp>
        <p:nvSpPr>
          <p:cNvPr id="168" name="Introduction">
            <a:extLst>
              <a:ext uri="{FF2B5EF4-FFF2-40B4-BE49-F238E27FC236}">
                <a16:creationId xmlns:a16="http://schemas.microsoft.com/office/drawing/2014/main" id="{ADA6EE8E-58AE-0D1F-9F84-81B554AE33DD}"/>
              </a:ext>
            </a:extLst>
          </p:cNvPr>
          <p:cNvSpPr>
            <a:spLocks noGrp="1"/>
          </p:cNvSpPr>
          <p:nvPr/>
        </p:nvSpPr>
        <p:spPr>
          <a:xfrm>
            <a:off x="438912" y="662452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Κάθε πείραμα εξετάζει μια διαφορετική πλευρά της ανίχνευσης hallucinations.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0CE95350-1962-ABF1-A293-8817F2B720CA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b="0" dirty="0">
                <a:solidFill>
                  <a:srgbClr val="677384"/>
                </a:solidFill>
                <a:latin typeface="Aptos"/>
              </a:rPr>
              <a:t>7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7113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53319-81AD-27F5-71FF-A6E385D8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hase 1 card">
            <a:extLst>
              <a:ext uri="{FF2B5EF4-FFF2-40B4-BE49-F238E27FC236}">
                <a16:creationId xmlns:a16="http://schemas.microsoft.com/office/drawing/2014/main" id="{64B271D8-B5C7-2300-BAFD-B4C0A777AD0F}"/>
              </a:ext>
            </a:extLst>
          </p:cNvPr>
          <p:cNvSpPr/>
          <p:nvPr/>
        </p:nvSpPr>
        <p:spPr>
          <a:xfrm>
            <a:off x="393192" y="1566376"/>
            <a:ext cx="3474720" cy="4919472"/>
          </a:xfrm>
          <a:prstGeom prst="rect">
            <a:avLst/>
          </a:prstGeom>
          <a:solidFill>
            <a:srgbClr val="EEF3F8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Phase 1 vertical accent">
            <a:extLst>
              <a:ext uri="{FF2B5EF4-FFF2-40B4-BE49-F238E27FC236}">
                <a16:creationId xmlns:a16="http://schemas.microsoft.com/office/drawing/2014/main" id="{67122AAC-1E6C-36CE-FAFA-D9584ACFA2BE}"/>
              </a:ext>
            </a:extLst>
          </p:cNvPr>
          <p:cNvSpPr/>
          <p:nvPr/>
        </p:nvSpPr>
        <p:spPr>
          <a:xfrm>
            <a:off x="548640" y="1566376"/>
            <a:ext cx="57607" cy="4919472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hase 1 horizontal accent">
            <a:extLst>
              <a:ext uri="{FF2B5EF4-FFF2-40B4-BE49-F238E27FC236}">
                <a16:creationId xmlns:a16="http://schemas.microsoft.com/office/drawing/2014/main" id="{05863139-4E1F-8A11-2574-92E7E5209DD5}"/>
              </a:ext>
            </a:extLst>
          </p:cNvPr>
          <p:cNvSpPr/>
          <p:nvPr/>
        </p:nvSpPr>
        <p:spPr>
          <a:xfrm>
            <a:off x="393192" y="2563072"/>
            <a:ext cx="3474720" cy="57607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BE8492-6C1D-5CFF-6CDF-254F09BD8E72}"/>
              </a:ext>
            </a:extLst>
          </p:cNvPr>
          <p:cNvSpPr txBox="1"/>
          <p:nvPr/>
        </p:nvSpPr>
        <p:spPr>
          <a:xfrm>
            <a:off x="740664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1η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4F8AEF-76F3-F348-1C04-430D90044BDD}"/>
              </a:ext>
            </a:extLst>
          </p:cNvPr>
          <p:cNvSpPr txBox="1"/>
          <p:nvPr/>
        </p:nvSpPr>
        <p:spPr>
          <a:xfrm>
            <a:off x="740664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Αρχική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μέθοδος</a:t>
            </a:r>
          </a:p>
        </p:txBody>
      </p:sp>
      <p:sp>
        <p:nvSpPr>
          <p:cNvPr id="78" name="E1">
            <a:extLst>
              <a:ext uri="{FF2B5EF4-FFF2-40B4-BE49-F238E27FC236}">
                <a16:creationId xmlns:a16="http://schemas.microsoft.com/office/drawing/2014/main" id="{BA446777-A868-9141-C2D6-A6A554B0FB02}"/>
              </a:ext>
            </a:extLst>
          </p:cNvPr>
          <p:cNvSpPr txBox="1"/>
          <p:nvPr/>
        </p:nvSpPr>
        <p:spPr>
          <a:xfrm>
            <a:off x="722376" y="2791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E1</a:t>
            </a:r>
          </a:p>
        </p:txBody>
      </p:sp>
      <p:sp>
        <p:nvSpPr>
          <p:cNvPr id="80" name="E1 research summary">
            <a:extLst>
              <a:ext uri="{FF2B5EF4-FFF2-40B4-BE49-F238E27FC236}">
                <a16:creationId xmlns:a16="http://schemas.microsoft.com/office/drawing/2014/main" id="{D57F6321-76FD-FA6C-BCB5-EF5E154DA06B}"/>
              </a:ext>
            </a:extLst>
          </p:cNvPr>
          <p:cNvSpPr txBox="1"/>
          <p:nvPr/>
        </p:nvSpPr>
        <p:spPr>
          <a:xfrm>
            <a:off x="1344168" y="2773384"/>
            <a:ext cx="2276856" cy="630942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Χαρακτηριστικά </a:t>
            </a:r>
            <a:endParaRPr lang="el-GR" sz="2050" b="0" dirty="0">
              <a:solidFill>
                <a:srgbClr val="374357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NLI</a:t>
            </a:r>
          </a:p>
        </p:txBody>
      </p:sp>
      <p:sp>
        <p:nvSpPr>
          <p:cNvPr id="82" name="E2">
            <a:extLst>
              <a:ext uri="{FF2B5EF4-FFF2-40B4-BE49-F238E27FC236}">
                <a16:creationId xmlns:a16="http://schemas.microsoft.com/office/drawing/2014/main" id="{EA12202B-7CB8-335E-297C-551928AC29DA}"/>
              </a:ext>
            </a:extLst>
          </p:cNvPr>
          <p:cNvSpPr txBox="1"/>
          <p:nvPr/>
        </p:nvSpPr>
        <p:spPr>
          <a:xfrm>
            <a:off x="722376" y="360548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E2</a:t>
            </a:r>
          </a:p>
        </p:txBody>
      </p:sp>
      <p:sp>
        <p:nvSpPr>
          <p:cNvPr id="84" name="E2 research summary">
            <a:extLst>
              <a:ext uri="{FF2B5EF4-FFF2-40B4-BE49-F238E27FC236}">
                <a16:creationId xmlns:a16="http://schemas.microsoft.com/office/drawing/2014/main" id="{1659157D-1497-C68A-580C-58E9C6234A66}"/>
              </a:ext>
            </a:extLst>
          </p:cNvPr>
          <p:cNvSpPr txBox="1"/>
          <p:nvPr/>
        </p:nvSpPr>
        <p:spPr>
          <a:xfrm>
            <a:off x="1344168" y="358720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Σημασιολογική ομοιότητα</a:t>
            </a:r>
          </a:p>
        </p:txBody>
      </p:sp>
      <p:sp>
        <p:nvSpPr>
          <p:cNvPr id="86" name="E3">
            <a:extLst>
              <a:ext uri="{FF2B5EF4-FFF2-40B4-BE49-F238E27FC236}">
                <a16:creationId xmlns:a16="http://schemas.microsoft.com/office/drawing/2014/main" id="{B80CCBBA-A2B7-D1EF-5AEF-EAEFE1E405C8}"/>
              </a:ext>
            </a:extLst>
          </p:cNvPr>
          <p:cNvSpPr txBox="1"/>
          <p:nvPr/>
        </p:nvSpPr>
        <p:spPr>
          <a:xfrm>
            <a:off x="722376" y="444673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88" name="E3 research summary">
            <a:extLst>
              <a:ext uri="{FF2B5EF4-FFF2-40B4-BE49-F238E27FC236}">
                <a16:creationId xmlns:a16="http://schemas.microsoft.com/office/drawing/2014/main" id="{1107A2A2-827D-D273-47B6-4E0F8F62891B}"/>
              </a:ext>
            </a:extLst>
          </p:cNvPr>
          <p:cNvSpPr txBox="1"/>
          <p:nvPr/>
        </p:nvSpPr>
        <p:spPr>
          <a:xfrm>
            <a:off x="1344168" y="442844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Συνδυασμός NLI και ομοιότητας</a:t>
            </a:r>
          </a:p>
        </p:txBody>
      </p:sp>
      <p:sp>
        <p:nvSpPr>
          <p:cNvPr id="90" name="E4">
            <a:extLst>
              <a:ext uri="{FF2B5EF4-FFF2-40B4-BE49-F238E27FC236}">
                <a16:creationId xmlns:a16="http://schemas.microsoft.com/office/drawing/2014/main" id="{AE7A8457-EBF0-DFCD-8A7E-7C1FECBF2908}"/>
              </a:ext>
            </a:extLst>
          </p:cNvPr>
          <p:cNvSpPr txBox="1"/>
          <p:nvPr/>
        </p:nvSpPr>
        <p:spPr>
          <a:xfrm>
            <a:off x="722376" y="5416000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6A8CAF"/>
                </a:solidFill>
                <a:latin typeface="Aptos"/>
              </a:rPr>
              <a:t>E4</a:t>
            </a:r>
          </a:p>
        </p:txBody>
      </p:sp>
      <p:sp>
        <p:nvSpPr>
          <p:cNvPr id="92" name="E4 research summary">
            <a:extLst>
              <a:ext uri="{FF2B5EF4-FFF2-40B4-BE49-F238E27FC236}">
                <a16:creationId xmlns:a16="http://schemas.microsoft.com/office/drawing/2014/main" id="{8334A29D-8045-2589-E335-8F97FF5819E3}"/>
              </a:ext>
            </a:extLst>
          </p:cNvPr>
          <p:cNvSpPr txBox="1"/>
          <p:nvPr/>
        </p:nvSpPr>
        <p:spPr>
          <a:xfrm>
            <a:off x="1344168" y="5397712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Συνθετικά δεδομένα</a:t>
            </a:r>
          </a:p>
        </p:txBody>
      </p:sp>
      <p:sp>
        <p:nvSpPr>
          <p:cNvPr id="94" name="Phase 2 card">
            <a:extLst>
              <a:ext uri="{FF2B5EF4-FFF2-40B4-BE49-F238E27FC236}">
                <a16:creationId xmlns:a16="http://schemas.microsoft.com/office/drawing/2014/main" id="{EB3D68FC-D9A6-1D9E-D556-7A31CCD63E87}"/>
              </a:ext>
            </a:extLst>
          </p:cNvPr>
          <p:cNvSpPr/>
          <p:nvPr/>
        </p:nvSpPr>
        <p:spPr>
          <a:xfrm>
            <a:off x="4361688" y="1566376"/>
            <a:ext cx="3474720" cy="4919472"/>
          </a:xfrm>
          <a:prstGeom prst="rect">
            <a:avLst/>
          </a:prstGeom>
          <a:solidFill>
            <a:srgbClr val="F1EDF6">
              <a:alpha val="60000"/>
            </a:srgbClr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Phase 2 vertical accent">
            <a:extLst>
              <a:ext uri="{FF2B5EF4-FFF2-40B4-BE49-F238E27FC236}">
                <a16:creationId xmlns:a16="http://schemas.microsoft.com/office/drawing/2014/main" id="{A986014A-A636-E400-1024-E574F4CF3AA0}"/>
              </a:ext>
            </a:extLst>
          </p:cNvPr>
          <p:cNvSpPr/>
          <p:nvPr/>
        </p:nvSpPr>
        <p:spPr>
          <a:xfrm>
            <a:off x="4517136" y="1566376"/>
            <a:ext cx="57607" cy="4919472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Phase 2 horizontal accent">
            <a:extLst>
              <a:ext uri="{FF2B5EF4-FFF2-40B4-BE49-F238E27FC236}">
                <a16:creationId xmlns:a16="http://schemas.microsoft.com/office/drawing/2014/main" id="{602337F4-F272-0B64-F1FA-1AF73B570A3A}"/>
              </a:ext>
            </a:extLst>
          </p:cNvPr>
          <p:cNvSpPr/>
          <p:nvPr/>
        </p:nvSpPr>
        <p:spPr>
          <a:xfrm>
            <a:off x="4361688" y="2563072"/>
            <a:ext cx="3474720" cy="57607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595DF1C-AAC7-DC0F-909E-E23D71C98BB4}"/>
              </a:ext>
            </a:extLst>
          </p:cNvPr>
          <p:cNvSpPr txBox="1"/>
          <p:nvPr/>
        </p:nvSpPr>
        <p:spPr>
          <a:xfrm>
            <a:off x="4709159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2η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8DB02FE-40CE-BD5F-2E6E-E88313A48F78}"/>
              </a:ext>
            </a:extLst>
          </p:cNvPr>
          <p:cNvSpPr txBox="1"/>
          <p:nvPr/>
        </p:nvSpPr>
        <p:spPr>
          <a:xfrm>
            <a:off x="4709159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>
                <a:solidFill>
                  <a:srgbClr val="10243D"/>
                </a:solidFill>
                <a:latin typeface="Aptos"/>
              </a:rPr>
              <a:t>Επ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εκτάσεις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08" name="E5">
            <a:extLst>
              <a:ext uri="{FF2B5EF4-FFF2-40B4-BE49-F238E27FC236}">
                <a16:creationId xmlns:a16="http://schemas.microsoft.com/office/drawing/2014/main" id="{AC74ED95-C3DE-1CB0-F217-4C5052F559A4}"/>
              </a:ext>
            </a:extLst>
          </p:cNvPr>
          <p:cNvSpPr txBox="1"/>
          <p:nvPr/>
        </p:nvSpPr>
        <p:spPr>
          <a:xfrm>
            <a:off x="4690872" y="2773384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110" name="E5 research summary">
            <a:extLst>
              <a:ext uri="{FF2B5EF4-FFF2-40B4-BE49-F238E27FC236}">
                <a16:creationId xmlns:a16="http://schemas.microsoft.com/office/drawing/2014/main" id="{00C3ADEB-C407-A3C6-BB96-CDA787DF2505}"/>
              </a:ext>
            </a:extLst>
          </p:cNvPr>
          <p:cNvSpPr txBox="1"/>
          <p:nvPr/>
        </p:nvSpPr>
        <p:spPr>
          <a:xfrm>
            <a:off x="5312664" y="2755096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Εξωτερικοί ορισμοί (RAG)</a:t>
            </a:r>
          </a:p>
        </p:txBody>
      </p:sp>
      <p:sp>
        <p:nvSpPr>
          <p:cNvPr id="112" name="E6">
            <a:extLst>
              <a:ext uri="{FF2B5EF4-FFF2-40B4-BE49-F238E27FC236}">
                <a16:creationId xmlns:a16="http://schemas.microsoft.com/office/drawing/2014/main" id="{23B76EF0-33E8-0F23-2DEB-AA796564CB35}"/>
              </a:ext>
            </a:extLst>
          </p:cNvPr>
          <p:cNvSpPr txBox="1"/>
          <p:nvPr/>
        </p:nvSpPr>
        <p:spPr>
          <a:xfrm>
            <a:off x="4690872" y="357805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114" name="E6 research summary">
            <a:extLst>
              <a:ext uri="{FF2B5EF4-FFF2-40B4-BE49-F238E27FC236}">
                <a16:creationId xmlns:a16="http://schemas.microsoft.com/office/drawing/2014/main" id="{5585BF32-C744-7BC1-51E0-D800B4E5346B}"/>
              </a:ext>
            </a:extLst>
          </p:cNvPr>
          <p:cNvSpPr txBox="1"/>
          <p:nvPr/>
        </p:nvSpPr>
        <p:spPr>
          <a:xfrm>
            <a:off x="5312664" y="355976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9" b="0">
                <a:solidFill>
                  <a:srgbClr val="374357"/>
                </a:solidFill>
                <a:latin typeface="Aptos"/>
              </a:rPr>
              <a:t>Νέοι έλεγχοι και χαρακτηριστικά</a:t>
            </a:r>
          </a:p>
        </p:txBody>
      </p:sp>
      <p:sp>
        <p:nvSpPr>
          <p:cNvPr id="118" name="E7">
            <a:extLst>
              <a:ext uri="{FF2B5EF4-FFF2-40B4-BE49-F238E27FC236}">
                <a16:creationId xmlns:a16="http://schemas.microsoft.com/office/drawing/2014/main" id="{88FA1662-EE42-BD6B-3833-34F9BFE6925A}"/>
              </a:ext>
            </a:extLst>
          </p:cNvPr>
          <p:cNvSpPr txBox="1"/>
          <p:nvPr/>
        </p:nvSpPr>
        <p:spPr>
          <a:xfrm>
            <a:off x="4690872" y="4433857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120" name="E7 research summary">
            <a:extLst>
              <a:ext uri="{FF2B5EF4-FFF2-40B4-BE49-F238E27FC236}">
                <a16:creationId xmlns:a16="http://schemas.microsoft.com/office/drawing/2014/main" id="{AD093402-AA45-D1F7-D5FF-3177DE4335B2}"/>
              </a:ext>
            </a:extLst>
          </p:cNvPr>
          <p:cNvSpPr txBox="1"/>
          <p:nvPr/>
        </p:nvSpPr>
        <p:spPr>
          <a:xfrm>
            <a:off x="5312664" y="4415569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Επιλεκτικό Agentic RAG</a:t>
            </a:r>
          </a:p>
        </p:txBody>
      </p:sp>
      <p:sp>
        <p:nvSpPr>
          <p:cNvPr id="122" name="E8">
            <a:extLst>
              <a:ext uri="{FF2B5EF4-FFF2-40B4-BE49-F238E27FC236}">
                <a16:creationId xmlns:a16="http://schemas.microsoft.com/office/drawing/2014/main" id="{B432E5B1-3762-292E-256F-18FA14EADDCC}"/>
              </a:ext>
            </a:extLst>
          </p:cNvPr>
          <p:cNvSpPr txBox="1"/>
          <p:nvPr/>
        </p:nvSpPr>
        <p:spPr>
          <a:xfrm>
            <a:off x="4709160" y="5412265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124" name="E8 research summary">
            <a:extLst>
              <a:ext uri="{FF2B5EF4-FFF2-40B4-BE49-F238E27FC236}">
                <a16:creationId xmlns:a16="http://schemas.microsoft.com/office/drawing/2014/main" id="{304AE110-0963-A89D-0096-18AB3BB2B258}"/>
              </a:ext>
            </a:extLst>
          </p:cNvPr>
          <p:cNvSpPr txBox="1"/>
          <p:nvPr/>
        </p:nvSpPr>
        <p:spPr>
          <a:xfrm>
            <a:off x="5330952" y="5393977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 err="1">
                <a:solidFill>
                  <a:srgbClr val="374357"/>
                </a:solidFill>
                <a:latin typeface="Aptos"/>
              </a:rPr>
              <a:t>Ρυθμίσεις</a:t>
            </a:r>
            <a:r>
              <a:rPr sz="2050" b="0" dirty="0">
                <a:solidFill>
                  <a:srgbClr val="374357"/>
                </a:solidFill>
                <a:latin typeface="Aptos"/>
              </a:rPr>
              <a:t> Random Forest</a:t>
            </a:r>
          </a:p>
        </p:txBody>
      </p:sp>
      <p:sp>
        <p:nvSpPr>
          <p:cNvPr id="126" name="Phase 3 card">
            <a:extLst>
              <a:ext uri="{FF2B5EF4-FFF2-40B4-BE49-F238E27FC236}">
                <a16:creationId xmlns:a16="http://schemas.microsoft.com/office/drawing/2014/main" id="{1D7E86A2-B195-06DD-BFE7-078E27A5A3BF}"/>
              </a:ext>
            </a:extLst>
          </p:cNvPr>
          <p:cNvSpPr/>
          <p:nvPr/>
        </p:nvSpPr>
        <p:spPr>
          <a:xfrm>
            <a:off x="8330183" y="1566376"/>
            <a:ext cx="3474720" cy="4919472"/>
          </a:xfrm>
          <a:prstGeom prst="rect">
            <a:avLst/>
          </a:prstGeom>
          <a:solidFill>
            <a:srgbClr val="EEF3EA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Phase 3 vertical accent">
            <a:extLst>
              <a:ext uri="{FF2B5EF4-FFF2-40B4-BE49-F238E27FC236}">
                <a16:creationId xmlns:a16="http://schemas.microsoft.com/office/drawing/2014/main" id="{51A845E8-FEBA-A48A-CEC8-2E8ECCDE241E}"/>
              </a:ext>
            </a:extLst>
          </p:cNvPr>
          <p:cNvSpPr/>
          <p:nvPr/>
        </p:nvSpPr>
        <p:spPr>
          <a:xfrm>
            <a:off x="8485632" y="1566376"/>
            <a:ext cx="57607" cy="4919472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Phase 3 horizontal accent">
            <a:extLst>
              <a:ext uri="{FF2B5EF4-FFF2-40B4-BE49-F238E27FC236}">
                <a16:creationId xmlns:a16="http://schemas.microsoft.com/office/drawing/2014/main" id="{5E94B59F-673B-BC09-E07B-572386251EDF}"/>
              </a:ext>
            </a:extLst>
          </p:cNvPr>
          <p:cNvSpPr/>
          <p:nvPr/>
        </p:nvSpPr>
        <p:spPr>
          <a:xfrm>
            <a:off x="8330183" y="2563072"/>
            <a:ext cx="3474720" cy="57607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C79B46-D753-B572-2BB9-68DC4A72F4B4}"/>
              </a:ext>
            </a:extLst>
          </p:cNvPr>
          <p:cNvSpPr txBox="1"/>
          <p:nvPr/>
        </p:nvSpPr>
        <p:spPr>
          <a:xfrm>
            <a:off x="8677656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3η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FA83C6B-B21A-4D8C-DAF1-7CA25FAC7415}"/>
              </a:ext>
            </a:extLst>
          </p:cNvPr>
          <p:cNvSpPr txBox="1"/>
          <p:nvPr/>
        </p:nvSpPr>
        <p:spPr>
          <a:xfrm>
            <a:off x="8677656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Νέες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ροσεγγίσεις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40" name="E9">
            <a:extLst>
              <a:ext uri="{FF2B5EF4-FFF2-40B4-BE49-F238E27FC236}">
                <a16:creationId xmlns:a16="http://schemas.microsoft.com/office/drawing/2014/main" id="{EBBCE247-7204-3CE3-70B0-390BD0B0F616}"/>
              </a:ext>
            </a:extLst>
          </p:cNvPr>
          <p:cNvSpPr txBox="1"/>
          <p:nvPr/>
        </p:nvSpPr>
        <p:spPr>
          <a:xfrm>
            <a:off x="8659367" y="287396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142" name="E9 research summary">
            <a:extLst>
              <a:ext uri="{FF2B5EF4-FFF2-40B4-BE49-F238E27FC236}">
                <a16:creationId xmlns:a16="http://schemas.microsoft.com/office/drawing/2014/main" id="{0D80959F-3503-0FFC-61C2-91F138D9B7A2}"/>
              </a:ext>
            </a:extLst>
          </p:cNvPr>
          <p:cNvSpPr txBox="1"/>
          <p:nvPr/>
        </p:nvSpPr>
        <p:spPr>
          <a:xfrm>
            <a:off x="9281159" y="285568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επιμέρους ισχυρισμών</a:t>
            </a:r>
          </a:p>
        </p:txBody>
      </p:sp>
      <p:sp>
        <p:nvSpPr>
          <p:cNvPr id="144" name="E10">
            <a:extLst>
              <a:ext uri="{FF2B5EF4-FFF2-40B4-BE49-F238E27FC236}">
                <a16:creationId xmlns:a16="http://schemas.microsoft.com/office/drawing/2014/main" id="{02A4DF39-9E96-A78B-75CA-EED02FB87F83}"/>
              </a:ext>
            </a:extLst>
          </p:cNvPr>
          <p:cNvSpPr txBox="1"/>
          <p:nvPr/>
        </p:nvSpPr>
        <p:spPr>
          <a:xfrm>
            <a:off x="8659367" y="3934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146" name="E10 research summary">
            <a:extLst>
              <a:ext uri="{FF2B5EF4-FFF2-40B4-BE49-F238E27FC236}">
                <a16:creationId xmlns:a16="http://schemas.microsoft.com/office/drawing/2014/main" id="{3DB97E9E-B3A0-378B-734F-E71D3CFE2699}"/>
              </a:ext>
            </a:extLst>
          </p:cNvPr>
          <p:cNvSpPr txBox="1"/>
          <p:nvPr/>
        </p:nvSpPr>
        <p:spPr>
          <a:xfrm>
            <a:off x="9281159" y="3916384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πλήρους hyp (FactCG)</a:t>
            </a:r>
          </a:p>
        </p:txBody>
      </p:sp>
      <p:sp>
        <p:nvSpPr>
          <p:cNvPr id="148" name="E11">
            <a:extLst>
              <a:ext uri="{FF2B5EF4-FFF2-40B4-BE49-F238E27FC236}">
                <a16:creationId xmlns:a16="http://schemas.microsoft.com/office/drawing/2014/main" id="{EE451D0F-41D8-7DA3-0F1B-4BD3337FEC90}"/>
              </a:ext>
            </a:extLst>
          </p:cNvPr>
          <p:cNvSpPr txBox="1"/>
          <p:nvPr/>
        </p:nvSpPr>
        <p:spPr>
          <a:xfrm>
            <a:off x="8659367" y="499537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150" name="E11 research summary">
            <a:extLst>
              <a:ext uri="{FF2B5EF4-FFF2-40B4-BE49-F238E27FC236}">
                <a16:creationId xmlns:a16="http://schemas.microsoft.com/office/drawing/2014/main" id="{0C8DE84A-F1E0-3FF7-2581-6C302AB037D0}"/>
              </a:ext>
            </a:extLst>
          </p:cNvPr>
          <p:cNvSpPr txBox="1"/>
          <p:nvPr/>
        </p:nvSpPr>
        <p:spPr>
          <a:xfrm>
            <a:off x="9281159" y="497708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Fine-tuning transformer</a:t>
            </a:r>
          </a:p>
        </p:txBody>
      </p:sp>
      <p:sp>
        <p:nvSpPr>
          <p:cNvPr id="154" name="Right Arrow 48">
            <a:extLst>
              <a:ext uri="{FF2B5EF4-FFF2-40B4-BE49-F238E27FC236}">
                <a16:creationId xmlns:a16="http://schemas.microsoft.com/office/drawing/2014/main" id="{ED8F96FF-2EFB-63EE-528A-B68F398610C1}"/>
              </a:ext>
            </a:extLst>
          </p:cNvPr>
          <p:cNvSpPr/>
          <p:nvPr/>
        </p:nvSpPr>
        <p:spPr>
          <a:xfrm>
            <a:off x="3950208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ight Arrow 49">
            <a:extLst>
              <a:ext uri="{FF2B5EF4-FFF2-40B4-BE49-F238E27FC236}">
                <a16:creationId xmlns:a16="http://schemas.microsoft.com/office/drawing/2014/main" id="{88A41E30-D21A-0062-F4D7-3BD363F6CA6B}"/>
              </a:ext>
            </a:extLst>
          </p:cNvPr>
          <p:cNvSpPr/>
          <p:nvPr/>
        </p:nvSpPr>
        <p:spPr>
          <a:xfrm>
            <a:off x="7918704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Slide title">
            <a:extLst>
              <a:ext uri="{FF2B5EF4-FFF2-40B4-BE49-F238E27FC236}">
                <a16:creationId xmlns:a16="http://schemas.microsoft.com/office/drawing/2014/main" id="{02F35372-BB7E-1143-339C-C98A0258A4A7}"/>
              </a:ext>
            </a:extLst>
          </p:cNvPr>
          <p:cNvSpPr txBox="1"/>
          <p:nvPr/>
        </p:nvSpPr>
        <p:spPr>
          <a:xfrm>
            <a:off x="429236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Πώς οργανώθηκαν τα πειράματα;</a:t>
            </a:r>
          </a:p>
        </p:txBody>
      </p:sp>
      <p:sp>
        <p:nvSpPr>
          <p:cNvPr id="168" name="Introduction">
            <a:extLst>
              <a:ext uri="{FF2B5EF4-FFF2-40B4-BE49-F238E27FC236}">
                <a16:creationId xmlns:a16="http://schemas.microsoft.com/office/drawing/2014/main" id="{C13144DF-7DE6-A26A-C448-C548B4D76DB4}"/>
              </a:ext>
            </a:extLst>
          </p:cNvPr>
          <p:cNvSpPr>
            <a:spLocks noGrp="1"/>
          </p:cNvSpPr>
          <p:nvPr/>
        </p:nvSpPr>
        <p:spPr>
          <a:xfrm>
            <a:off x="438912" y="662452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Κάθε πείραμα εξετάζει μια διαφορετική πλευρά της ανίχνευσης hallucinations.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F39E3-D62B-C476-E841-D5457D1E7ADF}"/>
              </a:ext>
            </a:extLst>
          </p:cNvPr>
          <p:cNvSpPr/>
          <p:nvPr/>
        </p:nvSpPr>
        <p:spPr>
          <a:xfrm>
            <a:off x="4360672" y="1561296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67E82-4215-CBC8-7FBD-BFD9142C533C}"/>
              </a:ext>
            </a:extLst>
          </p:cNvPr>
          <p:cNvSpPr/>
          <p:nvPr/>
        </p:nvSpPr>
        <p:spPr>
          <a:xfrm>
            <a:off x="8328456" y="1582928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A7DC4-D324-1737-3F25-44FD1EC3542C}"/>
              </a:ext>
            </a:extLst>
          </p:cNvPr>
          <p:cNvSpPr/>
          <p:nvPr/>
        </p:nvSpPr>
        <p:spPr>
          <a:xfrm>
            <a:off x="3950208" y="3916384"/>
            <a:ext cx="408736" cy="402336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469472-0A5F-D14C-A8A2-D8A6BBE74C5E}"/>
              </a:ext>
            </a:extLst>
          </p:cNvPr>
          <p:cNvSpPr/>
          <p:nvPr/>
        </p:nvSpPr>
        <p:spPr>
          <a:xfrm>
            <a:off x="7907528" y="3921464"/>
            <a:ext cx="404368" cy="34239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65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ounded Rectangle 14">
            <a:extLst>
              <a:ext uri="{FF2B5EF4-FFF2-40B4-BE49-F238E27FC236}">
                <a16:creationId xmlns:a16="http://schemas.microsoft.com/office/drawing/2014/main" id="{FF507354-45EC-8C3C-ED84-F4A4335C9CEB}"/>
              </a:ext>
            </a:extLst>
          </p:cNvPr>
          <p:cNvSpPr/>
          <p:nvPr/>
        </p:nvSpPr>
        <p:spPr>
          <a:xfrm>
            <a:off x="10119215" y="3800978"/>
            <a:ext cx="1894984" cy="610175"/>
          </a:xfrm>
          <a:prstGeom prst="roundRect">
            <a:avLst/>
          </a:prstGeom>
          <a:solidFill>
            <a:srgbClr val="D8DDE3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73152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Hallucination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Not Hallucination</a:t>
            </a:r>
          </a:p>
        </p:txBody>
      </p:sp>
      <p:sp>
        <p:nvSpPr>
          <p:cNvPr id="71" name="Rounded Rectangle 13">
            <a:extLst>
              <a:ext uri="{FF2B5EF4-FFF2-40B4-BE49-F238E27FC236}">
                <a16:creationId xmlns:a16="http://schemas.microsoft.com/office/drawing/2014/main" id="{D28DEFC4-D021-3DEF-FA47-A8725E55751B}"/>
              </a:ext>
            </a:extLst>
          </p:cNvPr>
          <p:cNvSpPr/>
          <p:nvPr/>
        </p:nvSpPr>
        <p:spPr>
          <a:xfrm>
            <a:off x="10107215" y="3014594"/>
            <a:ext cx="1894985" cy="535450"/>
          </a:xfrm>
          <a:prstGeom prst="roundRect">
            <a:avLst/>
          </a:prstGeom>
          <a:solidFill>
            <a:srgbClr val="E7EBF0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22A45"/>
                </a:solidFill>
                <a:latin typeface="Aptos"/>
              </a:rPr>
              <a:t>p(Hallucination)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6706" y="364420"/>
            <a:ext cx="683333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6A8CAF"/>
                </a:solidFill>
                <a:latin typeface="Aptos"/>
              </a:rPr>
              <a:t>E1–E4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542032" y="2862770"/>
            <a:ext cx="356616" cy="640080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42032" y="3502850"/>
            <a:ext cx="356616" cy="914400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86984" y="2844482"/>
            <a:ext cx="347472" cy="475488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586984" y="3777170"/>
            <a:ext cx="347472" cy="658368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52360" y="3557714"/>
            <a:ext cx="329184" cy="0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29216" y="3557714"/>
            <a:ext cx="228600" cy="0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0624" y="2350706"/>
            <a:ext cx="50292" cy="2404872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654" y="2310824"/>
            <a:ext cx="233629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0243D"/>
                </a:solidFill>
                <a:latin typeface="Aptos"/>
              </a:rPr>
              <a:t>Κείμεν</a:t>
            </a:r>
            <a:r>
              <a:rPr sz="2000" b="1" dirty="0">
                <a:solidFill>
                  <a:srgbClr val="10243D"/>
                </a:solidFill>
                <a:latin typeface="Aptos"/>
              </a:rPr>
              <a:t>α εισόδου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2295841"/>
            <a:ext cx="2688336" cy="1316736"/>
          </a:xfrm>
          <a:prstGeom prst="rect">
            <a:avLst/>
          </a:prstGeom>
          <a:solidFill>
            <a:srgbClr val="FEFDFC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98648" y="2295841"/>
            <a:ext cx="50292" cy="1316736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81528" y="2403784"/>
            <a:ext cx="2203704" cy="3693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NLI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1528" y="2847714"/>
            <a:ext cx="2203704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677384"/>
                </a:solidFill>
                <a:latin typeface="Aptos"/>
              </a:rPr>
              <a:t>6 χαρακτηριστικά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3169428"/>
            <a:ext cx="2203704" cy="24622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77384"/>
                </a:solidFill>
                <a:latin typeface="Aptos"/>
              </a:rPr>
              <a:t>DeBERTa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3813746"/>
            <a:ext cx="2688336" cy="1426464"/>
          </a:xfrm>
          <a:prstGeom prst="rect">
            <a:avLst/>
          </a:prstGeom>
          <a:solidFill>
            <a:srgbClr val="FEFDFC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898648" y="3813746"/>
            <a:ext cx="50292" cy="1426464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81528" y="3814746"/>
            <a:ext cx="2331720" cy="7386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Σημασιολογική
ομοιότητα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1528" y="4588515"/>
            <a:ext cx="2203704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677384"/>
                </a:solidFill>
                <a:latin typeface="Aptos"/>
              </a:rPr>
              <a:t>8 χαρακτηριστικά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928516"/>
            <a:ext cx="2203704" cy="24622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77384"/>
                </a:solidFill>
                <a:latin typeface="Aptos"/>
              </a:rPr>
              <a:t>MPNet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34456" y="2997722"/>
            <a:ext cx="1517904" cy="1097015"/>
          </a:xfrm>
          <a:prstGeom prst="rect">
            <a:avLst/>
          </a:prstGeom>
          <a:solidFill>
            <a:srgbClr val="EEF3F8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34456" y="2997722"/>
            <a:ext cx="50292" cy="1097015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25896" y="3147496"/>
            <a:ext cx="134416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0243D"/>
                </a:solidFill>
                <a:latin typeface="Aptos"/>
              </a:rPr>
              <a:t>Συνένωση</a:t>
            </a:r>
            <a:endParaRPr sz="20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86184" y="3720731"/>
            <a:ext cx="1344168" cy="55399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677384"/>
                </a:solidFill>
              </a:rPr>
              <a:t>14 features</a:t>
            </a:r>
            <a:br>
              <a:rPr lang="en-GB" dirty="0">
                <a:solidFill>
                  <a:srgbClr val="677384"/>
                </a:solidFill>
              </a:rPr>
            </a:br>
            <a:endParaRPr dirty="0">
              <a:solidFill>
                <a:srgbClr val="677384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81544" y="2930566"/>
            <a:ext cx="1947672" cy="1243275"/>
          </a:xfrm>
          <a:prstGeom prst="rect">
            <a:avLst/>
          </a:prstGeom>
          <a:solidFill>
            <a:srgbClr val="FEFDFC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81544" y="2930566"/>
            <a:ext cx="50292" cy="1243275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72831" y="3019985"/>
            <a:ext cx="2191593" cy="61555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243D"/>
                </a:solidFill>
                <a:latin typeface="Aptos"/>
              </a:rPr>
              <a:t>Random Forest
Regressor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3742123"/>
            <a:ext cx="1664208" cy="2769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677384"/>
                </a:solidFill>
                <a:latin typeface="Aptos"/>
              </a:rPr>
              <a:t>500 </a:t>
            </a:r>
            <a:r>
              <a:rPr b="0" dirty="0" err="1">
                <a:solidFill>
                  <a:srgbClr val="677384"/>
                </a:solidFill>
                <a:latin typeface="Aptos"/>
              </a:rPr>
              <a:t>δέντρ</a:t>
            </a:r>
            <a:r>
              <a:rPr b="0" dirty="0">
                <a:solidFill>
                  <a:srgbClr val="677384"/>
                </a:solidFill>
                <a:latin typeface="Aptos"/>
              </a:rPr>
              <a:t>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57816" y="2679890"/>
            <a:ext cx="50292" cy="1773936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0624" y="5475224"/>
            <a:ext cx="9345168" cy="3566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10243D"/>
                </a:solidFill>
                <a:latin typeface="Aptos"/>
              </a:rPr>
              <a:t>Τι </a:t>
            </a:r>
            <a:r>
              <a:rPr sz="2200" b="1" dirty="0" err="1">
                <a:solidFill>
                  <a:srgbClr val="10243D"/>
                </a:solidFill>
                <a:latin typeface="Aptos"/>
              </a:rPr>
              <a:t>εξετάζει</a:t>
            </a:r>
            <a:r>
              <a:rPr sz="2200" b="1" dirty="0">
                <a:solidFill>
                  <a:srgbClr val="10243D"/>
                </a:solidFill>
                <a:latin typeface="Aptos"/>
              </a:rPr>
              <a:t> κάθε π</a:t>
            </a:r>
            <a:r>
              <a:rPr sz="2200" b="1" dirty="0" err="1">
                <a:solidFill>
                  <a:srgbClr val="10243D"/>
                </a:solidFill>
                <a:latin typeface="Aptos"/>
              </a:rPr>
              <a:t>είρ</a:t>
            </a:r>
            <a:r>
              <a:rPr sz="2200" b="1" dirty="0">
                <a:solidFill>
                  <a:srgbClr val="10243D"/>
                </a:solidFill>
                <a:latin typeface="Aptos"/>
              </a:rPr>
              <a:t>αμα;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" y="5952744"/>
            <a:ext cx="50292" cy="466344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943600"/>
            <a:ext cx="4572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6A8CAF"/>
                </a:solidFill>
                <a:latin typeface="Aptos"/>
              </a:rPr>
              <a:t>E1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943600"/>
            <a:ext cx="2176272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0" dirty="0">
                <a:solidFill>
                  <a:srgbClr val="374357"/>
                </a:solidFill>
                <a:latin typeface="Aptos"/>
              </a:rPr>
              <a:t>Μόνο NLI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5952744"/>
            <a:ext cx="50292" cy="466344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83864" y="5943600"/>
            <a:ext cx="4572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A8CAF"/>
                </a:solidFill>
                <a:latin typeface="Aptos"/>
              </a:rPr>
              <a:t>E2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8496" y="5943600"/>
            <a:ext cx="2176272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0" dirty="0">
                <a:solidFill>
                  <a:srgbClr val="374357"/>
                </a:solidFill>
                <a:latin typeface="Aptos"/>
              </a:rPr>
              <a:t>Μόνο ομοιότητα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54496" y="5952744"/>
            <a:ext cx="50292" cy="466344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5943600"/>
            <a:ext cx="4572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5431" y="5943600"/>
            <a:ext cx="2176272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374357"/>
                </a:solidFill>
                <a:latin typeface="Aptos"/>
              </a:rPr>
              <a:t>Συνδυασμός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71432" y="5952744"/>
            <a:ext cx="50292" cy="466344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17736" y="5943600"/>
            <a:ext cx="4572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A8CAF"/>
                </a:solidFill>
                <a:latin typeface="Aptos"/>
              </a:rPr>
              <a:t>E4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7" y="6032161"/>
            <a:ext cx="2176272" cy="2800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820" b="0" dirty="0">
                <a:solidFill>
                  <a:srgbClr val="374357"/>
                </a:solidFill>
                <a:latin typeface="Aptos"/>
              </a:rPr>
              <a:t>+</a:t>
            </a:r>
            <a:r>
              <a:rPr sz="1820" b="0" dirty="0">
                <a:solidFill>
                  <a:srgbClr val="374357"/>
                </a:solidFill>
                <a:latin typeface="Aptos"/>
              </a:rPr>
              <a:t>518 </a:t>
            </a:r>
            <a:r>
              <a:rPr sz="1820" b="0" dirty="0" err="1">
                <a:solidFill>
                  <a:srgbClr val="374357"/>
                </a:solidFill>
                <a:latin typeface="Aptos"/>
              </a:rPr>
              <a:t>συνθετικά</a:t>
            </a:r>
            <a:endParaRPr sz="1820"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63" name="Rounded Rectangle 10">
            <a:extLst>
              <a:ext uri="{FF2B5EF4-FFF2-40B4-BE49-F238E27FC236}">
                <a16:creationId xmlns:a16="http://schemas.microsoft.com/office/drawing/2014/main" id="{FB91F60F-1E12-FB17-0F84-C01926BAB989}"/>
              </a:ext>
            </a:extLst>
          </p:cNvPr>
          <p:cNvSpPr/>
          <p:nvPr/>
        </p:nvSpPr>
        <p:spPr>
          <a:xfrm>
            <a:off x="569481" y="4196020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hyp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(hypothesis)</a:t>
            </a:r>
          </a:p>
        </p:txBody>
      </p:sp>
      <p:sp>
        <p:nvSpPr>
          <p:cNvPr id="65" name="Rounded Rectangle 11">
            <a:extLst>
              <a:ext uri="{FF2B5EF4-FFF2-40B4-BE49-F238E27FC236}">
                <a16:creationId xmlns:a16="http://schemas.microsoft.com/office/drawing/2014/main" id="{41A528BD-5E5E-C3FE-F4FE-75EC97AE6BFB}"/>
              </a:ext>
            </a:extLst>
          </p:cNvPr>
          <p:cNvSpPr/>
          <p:nvPr/>
        </p:nvSpPr>
        <p:spPr>
          <a:xfrm>
            <a:off x="569459" y="2655479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src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(source)</a:t>
            </a:r>
          </a:p>
        </p:txBody>
      </p:sp>
      <p:sp>
        <p:nvSpPr>
          <p:cNvPr id="67" name="Rounded Rectangle 12">
            <a:extLst>
              <a:ext uri="{FF2B5EF4-FFF2-40B4-BE49-F238E27FC236}">
                <a16:creationId xmlns:a16="http://schemas.microsoft.com/office/drawing/2014/main" id="{E6F8951A-887C-684E-3A2E-13B9DE69E996}"/>
              </a:ext>
            </a:extLst>
          </p:cNvPr>
          <p:cNvSpPr/>
          <p:nvPr/>
        </p:nvSpPr>
        <p:spPr>
          <a:xfrm>
            <a:off x="570629" y="3425735"/>
            <a:ext cx="18076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22A45"/>
                </a:solidFill>
                <a:latin typeface="Aptos"/>
              </a:rPr>
              <a:t>tgt</a:t>
            </a:r>
            <a:r>
              <a:rPr sz="1800" b="0" i="0" dirty="0">
                <a:solidFill>
                  <a:srgbClr val="122A45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22A45"/>
                </a:solidFill>
                <a:latin typeface="Aptos"/>
              </a:rPr>
              <a:t>(target)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BC96DA-9069-A7E3-7257-9F5F5C4AA2C2}"/>
              </a:ext>
            </a:extLst>
          </p:cNvPr>
          <p:cNvSpPr txBox="1"/>
          <p:nvPr/>
        </p:nvSpPr>
        <p:spPr>
          <a:xfrm>
            <a:off x="10136514" y="2633964"/>
            <a:ext cx="2336292" cy="30777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l-GR" sz="2000" b="1" dirty="0">
                <a:solidFill>
                  <a:srgbClr val="10243D"/>
                </a:solidFill>
                <a:latin typeface="Aptos"/>
              </a:rPr>
              <a:t>Έξοδοι</a:t>
            </a:r>
            <a:endParaRPr sz="2000" b="1" dirty="0">
              <a:solidFill>
                <a:srgbClr val="10243D"/>
              </a:solidFill>
              <a:latin typeface="Aptos"/>
            </a:endParaRPr>
          </a:p>
        </p:txBody>
      </p:sp>
      <p:cxnSp>
        <p:nvCxnSpPr>
          <p:cNvPr id="78" name="Connector 9">
            <a:extLst>
              <a:ext uri="{FF2B5EF4-FFF2-40B4-BE49-F238E27FC236}">
                <a16:creationId xmlns:a16="http://schemas.microsoft.com/office/drawing/2014/main" id="{4E16374E-6767-4314-4B85-5AA5B7DCB4E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1066707" y="3558730"/>
            <a:ext cx="0" cy="242248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lide title">
            <a:extLst>
              <a:ext uri="{FF2B5EF4-FFF2-40B4-BE49-F238E27FC236}">
                <a16:creationId xmlns:a16="http://schemas.microsoft.com/office/drawing/2014/main" id="{8DFF9766-CFA1-198B-204D-E75C6D282625}"/>
              </a:ext>
            </a:extLst>
          </p:cNvPr>
          <p:cNvSpPr txBox="1"/>
          <p:nvPr/>
        </p:nvSpPr>
        <p:spPr>
          <a:xfrm>
            <a:off x="411480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Πώς λειτουργεί η αρχική μέθοδος;</a:t>
            </a:r>
          </a:p>
        </p:txBody>
      </p:sp>
      <p:sp>
        <p:nvSpPr>
          <p:cNvPr id="99" name="Introduction">
            <a:extLst>
              <a:ext uri="{FF2B5EF4-FFF2-40B4-BE49-F238E27FC236}">
                <a16:creationId xmlns:a16="http://schemas.microsoft.com/office/drawing/2014/main" id="{26B8B191-D33F-96D5-C314-99CEE986D04B}"/>
              </a:ext>
            </a:extLst>
          </p:cNvPr>
          <p:cNvSpPr>
            <a:spLocks noGrp="1"/>
          </p:cNvSpPr>
          <p:nvPr/>
        </p:nvSpPr>
        <p:spPr>
          <a:xfrm>
            <a:off x="438911" y="701780"/>
            <a:ext cx="16040386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Εξαγωγή χαρακτηριστικών από τα κείμενα και πρόβλεψη μέσω Random Forest.</a:t>
            </a:r>
          </a:p>
          <a:p>
            <a:endParaRPr lang="el-GR" sz="2400" dirty="0">
              <a:solidFill>
                <a:srgbClr val="2C3744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7316AC-AB03-A7AF-31F7-A4A5E7BF4024}"/>
              </a:ext>
            </a:extLst>
          </p:cNvPr>
          <p:cNvSpPr txBox="1"/>
          <p:nvPr/>
        </p:nvSpPr>
        <p:spPr>
          <a:xfrm>
            <a:off x="5205047" y="22407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6A8CAF"/>
                </a:solidFill>
              </a:rPr>
              <a:t>E1</a:t>
            </a:r>
            <a:endParaRPr lang="en-GB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F0748B0-C798-3383-6CE7-A54644ECC07A}"/>
              </a:ext>
            </a:extLst>
          </p:cNvPr>
          <p:cNvSpPr txBox="1"/>
          <p:nvPr/>
        </p:nvSpPr>
        <p:spPr>
          <a:xfrm>
            <a:off x="5205043" y="37622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6A8CAF"/>
                </a:solidFill>
              </a:rPr>
              <a:t>E</a:t>
            </a:r>
            <a:r>
              <a:rPr lang="el-GR" b="1" dirty="0">
                <a:solidFill>
                  <a:srgbClr val="6A8CAF"/>
                </a:solidFill>
              </a:rPr>
              <a:t>2</a:t>
            </a:r>
            <a:endParaRPr lang="en-GB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2858F30-AF59-31D3-EB79-F25C09DE0655}"/>
              </a:ext>
            </a:extLst>
          </p:cNvPr>
          <p:cNvSpPr txBox="1"/>
          <p:nvPr/>
        </p:nvSpPr>
        <p:spPr>
          <a:xfrm>
            <a:off x="7086600" y="292373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6A8CAF"/>
                </a:solidFill>
              </a:rPr>
              <a:t>E</a:t>
            </a:r>
            <a:r>
              <a:rPr lang="el-GR" b="1" dirty="0">
                <a:solidFill>
                  <a:srgbClr val="6A8CAF"/>
                </a:solidFill>
              </a:rPr>
              <a:t>3</a:t>
            </a:r>
            <a:endParaRPr lang="en-GB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306BE1-139E-D413-76E6-9F5DC969A124}"/>
              </a:ext>
            </a:extLst>
          </p:cNvPr>
          <p:cNvSpPr/>
          <p:nvPr/>
        </p:nvSpPr>
        <p:spPr>
          <a:xfrm>
            <a:off x="6272326" y="1462721"/>
            <a:ext cx="2688336" cy="1316736"/>
          </a:xfrm>
          <a:prstGeom prst="rect">
            <a:avLst/>
          </a:prstGeom>
          <a:solidFill>
            <a:srgbClr val="FEFDFC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25E4043-4E4F-7958-D77D-B4D6AA073D00}"/>
              </a:ext>
            </a:extLst>
          </p:cNvPr>
          <p:cNvSpPr/>
          <p:nvPr/>
        </p:nvSpPr>
        <p:spPr>
          <a:xfrm>
            <a:off x="6272326" y="1462721"/>
            <a:ext cx="50292" cy="1316736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345548-838A-1596-75F2-11B5E18064CF}"/>
              </a:ext>
            </a:extLst>
          </p:cNvPr>
          <p:cNvSpPr txBox="1"/>
          <p:nvPr/>
        </p:nvSpPr>
        <p:spPr>
          <a:xfrm>
            <a:off x="6455206" y="1570664"/>
            <a:ext cx="2203704" cy="3693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solidFill>
                  <a:srgbClr val="10243D"/>
                </a:solidFill>
                <a:latin typeface="Aptos"/>
              </a:rPr>
              <a:t>Synthetic Data</a:t>
            </a:r>
            <a:endParaRPr sz="24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BAE1F7F-2607-98DD-86C8-F0F2D9F03266}"/>
              </a:ext>
            </a:extLst>
          </p:cNvPr>
          <p:cNvSpPr txBox="1"/>
          <p:nvPr/>
        </p:nvSpPr>
        <p:spPr>
          <a:xfrm>
            <a:off x="6455206" y="2008175"/>
            <a:ext cx="2203704" cy="55399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l-GR" dirty="0">
                <a:solidFill>
                  <a:srgbClr val="677384"/>
                </a:solidFill>
                <a:latin typeface="Aptos"/>
              </a:rPr>
              <a:t>Δημιουργία επιπλέον </a:t>
            </a:r>
            <a:r>
              <a:rPr lang="en-GB" sz="1800" b="0" dirty="0">
                <a:solidFill>
                  <a:srgbClr val="677384"/>
                </a:solidFill>
                <a:latin typeface="Aptos"/>
              </a:rPr>
              <a:t>518</a:t>
            </a:r>
            <a:r>
              <a:rPr lang="el-GR" sz="1800" b="0" dirty="0">
                <a:solidFill>
                  <a:srgbClr val="677384"/>
                </a:solidFill>
                <a:latin typeface="Aptos"/>
              </a:rPr>
              <a:t> δειγμάτων</a:t>
            </a:r>
            <a:r>
              <a:rPr lang="en-GB" sz="1800" b="0" dirty="0">
                <a:solidFill>
                  <a:srgbClr val="677384"/>
                </a:solidFill>
                <a:latin typeface="Aptos"/>
              </a:rPr>
              <a:t> </a:t>
            </a:r>
            <a:endParaRPr sz="1800" b="0" dirty="0">
              <a:solidFill>
                <a:srgbClr val="677384"/>
              </a:solidFill>
              <a:latin typeface="Apto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261B47C-30E5-5980-3E30-0067BE3EF388}"/>
              </a:ext>
            </a:extLst>
          </p:cNvPr>
          <p:cNvSpPr txBox="1"/>
          <p:nvPr/>
        </p:nvSpPr>
        <p:spPr>
          <a:xfrm>
            <a:off x="8578725" y="13875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6A8CAF"/>
                </a:solidFill>
              </a:rPr>
              <a:t>E</a:t>
            </a:r>
            <a:r>
              <a:rPr lang="el-GR" b="1" dirty="0">
                <a:solidFill>
                  <a:srgbClr val="6A8CAF"/>
                </a:solidFill>
              </a:rPr>
              <a:t>4</a:t>
            </a:r>
            <a:endParaRPr lang="en-GB" dirty="0"/>
          </a:p>
        </p:txBody>
      </p:sp>
      <p:cxnSp>
        <p:nvCxnSpPr>
          <p:cNvPr id="117" name="Connector 5">
            <a:extLst>
              <a:ext uri="{FF2B5EF4-FFF2-40B4-BE49-F238E27FC236}">
                <a16:creationId xmlns:a16="http://schemas.microsoft.com/office/drawing/2014/main" id="{C2710BD9-0773-1489-ACD6-D6179E463F49}"/>
              </a:ext>
            </a:extLst>
          </p:cNvPr>
          <p:cNvCxnSpPr>
            <a:cxnSpLocks/>
            <a:stCxn id="106" idx="2"/>
          </p:cNvCxnSpPr>
          <p:nvPr/>
        </p:nvCxnSpPr>
        <p:spPr>
          <a:xfrm flipH="1">
            <a:off x="7608567" y="2779457"/>
            <a:ext cx="7927" cy="783337"/>
          </a:xfrm>
          <a:prstGeom prst="line">
            <a:avLst/>
          </a:prstGeom>
          <a:ln w="21590">
            <a:solidFill>
              <a:srgbClr val="6A8C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age number">
            <a:extLst>
              <a:ext uri="{FF2B5EF4-FFF2-40B4-BE49-F238E27FC236}">
                <a16:creationId xmlns:a16="http://schemas.microsoft.com/office/drawing/2014/main" id="{BC1523CF-F4FA-5B55-C375-A95AEC4EB5D0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dirty="0">
                <a:solidFill>
                  <a:srgbClr val="677384"/>
                </a:solidFill>
                <a:latin typeface="Aptos"/>
              </a:rPr>
              <a:t>8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4392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73384" y="301752"/>
            <a:ext cx="722376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6A8CAF"/>
                </a:solidFill>
                <a:latin typeface="Aptos"/>
              </a:rPr>
              <a:t>E1–E4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755648"/>
            <a:ext cx="3602736" cy="56692"/>
          </a:xfrm>
          <a:prstGeom prst="rect">
            <a:avLst/>
          </a:prstGeom>
          <a:solidFill>
            <a:srgbClr val="6A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51960" y="1755648"/>
            <a:ext cx="3602736" cy="56692"/>
          </a:xfrm>
          <a:prstGeom prst="rect">
            <a:avLst/>
          </a:prstGeom>
          <a:solidFill>
            <a:srgbClr val="6A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4152" y="1755648"/>
            <a:ext cx="3602736" cy="56692"/>
          </a:xfrm>
          <a:prstGeom prst="rect">
            <a:avLst/>
          </a:prstGeom>
          <a:solidFill>
            <a:srgbClr val="6A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4096512" y="1801368"/>
            <a:ext cx="0" cy="3959352"/>
          </a:xfrm>
          <a:prstGeom prst="line">
            <a:avLst/>
          </a:prstGeom>
          <a:ln w="10795">
            <a:solidFill>
              <a:srgbClr val="C4C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7918704" y="1801368"/>
            <a:ext cx="0" cy="3959352"/>
          </a:xfrm>
          <a:prstGeom prst="line">
            <a:avLst/>
          </a:prstGeom>
          <a:ln w="10795">
            <a:solidFill>
              <a:srgbClr val="C4C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" y="1780032"/>
            <a:ext cx="341071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10243D"/>
                </a:solidFill>
                <a:latin typeface="Aptos"/>
              </a:rPr>
              <a:t>NLI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2266188"/>
            <a:ext cx="3410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>
                <a:solidFill>
                  <a:srgbClr val="677384"/>
                </a:solidFill>
                <a:latin typeface="Aptos"/>
              </a:rPr>
              <a:t>Natural Language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585037"/>
            <a:ext cx="3438144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374357"/>
                </a:solidFill>
                <a:latin typeface="Aptos"/>
              </a:rPr>
              <a:t>Εξετάζει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τη σημασιολογική 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σχέση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του hyp με την αναφορά.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3652782"/>
            <a:ext cx="341985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0243D"/>
                </a:solidFill>
                <a:latin typeface="Aptos"/>
              </a:rPr>
              <a:t>Τρεις πιθα</a:t>
            </a:r>
            <a:r>
              <a:rPr sz="1800" b="1" dirty="0" err="1">
                <a:solidFill>
                  <a:srgbClr val="10243D"/>
                </a:solidFill>
                <a:latin typeface="Aptos"/>
              </a:rPr>
              <a:t>νές</a:t>
            </a:r>
            <a:r>
              <a:rPr sz="18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0243D"/>
                </a:solidFill>
                <a:latin typeface="Aptos"/>
              </a:rPr>
              <a:t>σχέσεις</a:t>
            </a:r>
            <a:r>
              <a:rPr lang="el-GR" sz="1800" b="1" dirty="0">
                <a:solidFill>
                  <a:srgbClr val="10243D"/>
                </a:solidFill>
                <a:latin typeface="Aptos"/>
              </a:rPr>
              <a:t>:</a:t>
            </a:r>
            <a:endParaRPr sz="180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" y="4069694"/>
            <a:ext cx="1059179" cy="2569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>
                <a:solidFill>
                  <a:srgbClr val="374357"/>
                </a:solidFill>
                <a:latin typeface="Aptos"/>
              </a:rPr>
              <a:t>Entailment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444598"/>
            <a:ext cx="833626" cy="2569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>
                <a:solidFill>
                  <a:srgbClr val="374357"/>
                </a:solidFill>
                <a:latin typeface="Aptos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819502"/>
            <a:ext cx="1313685" cy="2569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>
                <a:solidFill>
                  <a:srgbClr val="374357"/>
                </a:solidFill>
                <a:latin typeface="Aptos"/>
              </a:rPr>
              <a:t>Contradiction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" y="538581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>
                <a:solidFill>
                  <a:srgbClr val="6A8CAF"/>
                </a:solidFill>
                <a:latin typeface="Aptos"/>
              </a:rPr>
              <a:t>6 χαρακτηριστικά · DeBERTa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89760"/>
            <a:ext cx="344728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0" b="1" dirty="0">
                <a:solidFill>
                  <a:srgbClr val="10243D"/>
                </a:solidFill>
                <a:latin typeface="Aptos"/>
              </a:rPr>
              <a:t>Σημασιολογική
ομοιότητα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24328"/>
            <a:ext cx="344728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>
                <a:solidFill>
                  <a:srgbClr val="677384"/>
                </a:solidFill>
                <a:latin typeface="Aptos"/>
              </a:rPr>
              <a:t>Semantic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80944"/>
            <a:ext cx="344728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374357"/>
                </a:solidFill>
                <a:latin typeface="Aptos"/>
              </a:rPr>
              <a:t>Μετρά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π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όσο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κοντά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β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ρίσκοντ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αι δύο κείμενα ως προς το νόημά τους.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24675"/>
            <a:ext cx="3447288" cy="794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20" b="0" dirty="0">
                <a:solidFill>
                  <a:srgbClr val="374357"/>
                </a:solidFill>
                <a:latin typeface="Aptos"/>
              </a:rPr>
              <a:t>Κάθε </a:t>
            </a:r>
            <a:r>
              <a:rPr sz="1720" b="0" dirty="0" err="1">
                <a:solidFill>
                  <a:srgbClr val="374357"/>
                </a:solidFill>
                <a:latin typeface="Aptos"/>
              </a:rPr>
              <a:t>κείμενο</a:t>
            </a:r>
            <a:r>
              <a:rPr sz="1720" b="0" dirty="0">
                <a:solidFill>
                  <a:srgbClr val="374357"/>
                </a:solidFill>
                <a:latin typeface="Aptos"/>
              </a:rPr>
              <a:t> μετα</a:t>
            </a:r>
            <a:r>
              <a:rPr sz="1720" b="0" dirty="0" err="1">
                <a:solidFill>
                  <a:srgbClr val="374357"/>
                </a:solidFill>
                <a:latin typeface="Aptos"/>
              </a:rPr>
              <a:t>τρέ</a:t>
            </a:r>
            <a:r>
              <a:rPr sz="1720" b="0" dirty="0">
                <a:solidFill>
                  <a:srgbClr val="374357"/>
                </a:solidFill>
                <a:latin typeface="Aptos"/>
              </a:rPr>
              <a:t>πεται</a:t>
            </a:r>
            <a:r>
              <a:rPr lang="el-GR" sz="1720" dirty="0">
                <a:solidFill>
                  <a:srgbClr val="374357"/>
                </a:solidFill>
              </a:rPr>
              <a:t> σε διάνυσμα (</a:t>
            </a:r>
            <a:r>
              <a:rPr lang="en-GB" sz="1720" dirty="0">
                <a:solidFill>
                  <a:srgbClr val="374357"/>
                </a:solidFill>
              </a:rPr>
              <a:t>embedding).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GB" sz="1720"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97680" y="4788408"/>
            <a:ext cx="344728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0" dirty="0">
                <a:solidFill>
                  <a:srgbClr val="374357"/>
                </a:solidFill>
                <a:latin typeface="Aptos"/>
              </a:rPr>
              <a:t>Σύγκριση με cosine similarity.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385816"/>
            <a:ext cx="344728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>
                <a:solidFill>
                  <a:srgbClr val="6A8CAF"/>
                </a:solidFill>
                <a:latin typeface="Aptos"/>
              </a:rPr>
              <a:t>8 χαρακτηριστικά · MPNet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1882140"/>
            <a:ext cx="3410712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40" b="1" dirty="0">
                <a:solidFill>
                  <a:srgbClr val="10243D"/>
                </a:solidFill>
                <a:latin typeface="Aptos"/>
              </a:rPr>
              <a:t>Random Forest
Regressor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619756"/>
            <a:ext cx="34381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0" b="0" dirty="0" err="1">
                <a:solidFill>
                  <a:srgbClr val="677384"/>
                </a:solidFill>
                <a:latin typeface="Aptos"/>
              </a:rPr>
              <a:t>Μοντέλο</a:t>
            </a:r>
            <a:r>
              <a:rPr sz="1670" b="0" dirty="0">
                <a:solidFill>
                  <a:srgbClr val="677384"/>
                </a:solidFill>
                <a:latin typeface="Aptos"/>
              </a:rPr>
              <a:t> πα</a:t>
            </a:r>
            <a:r>
              <a:rPr sz="1670" b="0" dirty="0" err="1">
                <a:solidFill>
                  <a:srgbClr val="677384"/>
                </a:solidFill>
                <a:latin typeface="Aptos"/>
              </a:rPr>
              <a:t>λινδρόμησης</a:t>
            </a:r>
            <a:endParaRPr sz="1670" b="0" dirty="0">
              <a:solidFill>
                <a:srgbClr val="67738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19872" y="2893144"/>
            <a:ext cx="3410712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374357"/>
                </a:solidFill>
                <a:latin typeface="Aptos"/>
              </a:rPr>
              <a:t>Μαθα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ίνει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 πώς να α</a:t>
            </a:r>
            <a:r>
              <a:rPr sz="2000" b="0" dirty="0" err="1">
                <a:solidFill>
                  <a:srgbClr val="374357"/>
                </a:solidFill>
                <a:latin typeface="Aptos"/>
              </a:rPr>
              <a:t>ξιο</a:t>
            </a:r>
            <a:r>
              <a:rPr sz="2000" b="0" dirty="0">
                <a:solidFill>
                  <a:srgbClr val="374357"/>
                </a:solidFill>
                <a:latin typeface="Aptos"/>
              </a:rPr>
              <a:t>ποιεί μαζί τα διαθέσιμα αριθμητικά χαρακτηριστικά.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4056888"/>
            <a:ext cx="3410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>
                <a:solidFill>
                  <a:srgbClr val="10243D"/>
                </a:solidFill>
                <a:latin typeface="Aptos"/>
              </a:rPr>
              <a:t>500 </a:t>
            </a:r>
            <a:r>
              <a:rPr sz="1750" b="1" dirty="0" err="1">
                <a:solidFill>
                  <a:srgbClr val="10243D"/>
                </a:solidFill>
                <a:latin typeface="Aptos"/>
              </a:rPr>
              <a:t>δέντρ</a:t>
            </a:r>
            <a:r>
              <a:rPr sz="1750" b="1" dirty="0">
                <a:solidFill>
                  <a:srgbClr val="10243D"/>
                </a:solidFill>
                <a:latin typeface="Aptos"/>
              </a:rPr>
              <a:t>α απόφασης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529328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0" dirty="0">
                <a:solidFill>
                  <a:srgbClr val="374357"/>
                </a:solidFill>
                <a:latin typeface="Aptos"/>
              </a:rPr>
              <a:t>Συνδυάζει </a:t>
            </a:r>
            <a:r>
              <a:rPr sz="1720" b="0" dirty="0" err="1">
                <a:solidFill>
                  <a:srgbClr val="374357"/>
                </a:solidFill>
                <a:latin typeface="Aptos"/>
              </a:rPr>
              <a:t>τις</a:t>
            </a:r>
            <a:r>
              <a:rPr sz="1720" b="0" dirty="0">
                <a:solidFill>
                  <a:srgbClr val="374357"/>
                </a:solidFill>
                <a:latin typeface="Aptos"/>
              </a:rPr>
              <a:t> προβλέψεις τους μέσω </a:t>
            </a:r>
            <a:r>
              <a:rPr sz="1720" b="0" dirty="0" err="1">
                <a:solidFill>
                  <a:srgbClr val="374357"/>
                </a:solidFill>
                <a:latin typeface="Aptos"/>
              </a:rPr>
              <a:t>μέσου</a:t>
            </a:r>
            <a:r>
              <a:rPr sz="1720" b="0" dirty="0">
                <a:solidFill>
                  <a:srgbClr val="374357"/>
                </a:solidFill>
                <a:latin typeface="Aptos"/>
              </a:rPr>
              <a:t> </a:t>
            </a:r>
            <a:r>
              <a:rPr sz="1720" b="0" dirty="0" err="1">
                <a:solidFill>
                  <a:srgbClr val="374357"/>
                </a:solidFill>
                <a:latin typeface="Aptos"/>
              </a:rPr>
              <a:t>όρου</a:t>
            </a:r>
            <a:r>
              <a:rPr sz="1720" b="0" dirty="0">
                <a:solidFill>
                  <a:srgbClr val="374357"/>
                </a:solidFill>
                <a:latin typeface="Aptos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5385816"/>
            <a:ext cx="34107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6A8CAF"/>
                </a:solidFill>
                <a:latin typeface="Aptos"/>
              </a:rPr>
              <a:t>Έξοδος: p(Hallucination)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0624" y="5870448"/>
            <a:ext cx="11375136" cy="0"/>
          </a:xfrm>
          <a:prstGeom prst="line">
            <a:avLst/>
          </a:prstGeom>
          <a:ln w="12700">
            <a:solidFill>
              <a:srgbClr val="C4C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8912" y="6049591"/>
            <a:ext cx="11173968" cy="3000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dirty="0">
                <a:solidFill>
                  <a:srgbClr val="10243D"/>
                </a:solidFill>
                <a:latin typeface="Aptos"/>
              </a:rPr>
              <a:t>Τα scores του NLI και της ομοιότητας είναι χαρακτηριστικά </a:t>
            </a:r>
            <a:r>
              <a:rPr lang="el-GR" sz="1950" b="0" dirty="0">
                <a:solidFill>
                  <a:srgbClr val="10243D"/>
                </a:solidFill>
                <a:latin typeface="Aptos"/>
              </a:rPr>
              <a:t>και</a:t>
            </a:r>
            <a:r>
              <a:rPr sz="1950" b="0" dirty="0">
                <a:solidFill>
                  <a:srgbClr val="10243D"/>
                </a:solidFill>
                <a:latin typeface="Aptos"/>
              </a:rPr>
              <a:t> όχι α</a:t>
            </a:r>
            <a:r>
              <a:rPr sz="1950" b="0" dirty="0" err="1">
                <a:solidFill>
                  <a:srgbClr val="10243D"/>
                </a:solidFill>
                <a:latin typeface="Aptos"/>
              </a:rPr>
              <a:t>υτόνομες</a:t>
            </a:r>
            <a:r>
              <a:rPr sz="1950" b="0" dirty="0">
                <a:solidFill>
                  <a:srgbClr val="10243D"/>
                </a:solidFill>
                <a:latin typeface="Aptos"/>
              </a:rPr>
              <a:t> απ</a:t>
            </a:r>
            <a:r>
              <a:rPr sz="1950" b="0" dirty="0" err="1">
                <a:solidFill>
                  <a:srgbClr val="10243D"/>
                </a:solidFill>
                <a:latin typeface="Aptos"/>
              </a:rPr>
              <a:t>οφάσεις</a:t>
            </a:r>
            <a:r>
              <a:rPr sz="1950" b="0" dirty="0">
                <a:solidFill>
                  <a:srgbClr val="10243D"/>
                </a:solidFill>
                <a:latin typeface="Aptos"/>
              </a:rPr>
              <a:t>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6CD2C3B-17E2-4436-5C1F-6C5C150640E8}"/>
              </a:ext>
            </a:extLst>
          </p:cNvPr>
          <p:cNvCxnSpPr/>
          <p:nvPr/>
        </p:nvCxnSpPr>
        <p:spPr>
          <a:xfrm>
            <a:off x="1775460" y="4218003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E92D45-5A95-203C-6F8E-015B43984465}"/>
              </a:ext>
            </a:extLst>
          </p:cNvPr>
          <p:cNvCxnSpPr/>
          <p:nvPr/>
        </p:nvCxnSpPr>
        <p:spPr>
          <a:xfrm>
            <a:off x="1775460" y="4568523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A20C48-2C1D-E966-9917-3833D0EE4834}"/>
              </a:ext>
            </a:extLst>
          </p:cNvPr>
          <p:cNvCxnSpPr/>
          <p:nvPr/>
        </p:nvCxnSpPr>
        <p:spPr>
          <a:xfrm>
            <a:off x="1775460" y="4949523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ECE59ED-C1DE-D594-ADBA-37B7495C2365}"/>
              </a:ext>
            </a:extLst>
          </p:cNvPr>
          <p:cNvSpPr txBox="1"/>
          <p:nvPr/>
        </p:nvSpPr>
        <p:spPr>
          <a:xfrm>
            <a:off x="2171710" y="4378023"/>
            <a:ext cx="204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374357"/>
                </a:solidFill>
              </a:rPr>
              <a:t>Ουδετερότητα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13ADFB-7474-6075-64FB-C61C7AAFAE41}"/>
              </a:ext>
            </a:extLst>
          </p:cNvPr>
          <p:cNvSpPr txBox="1"/>
          <p:nvPr/>
        </p:nvSpPr>
        <p:spPr>
          <a:xfrm>
            <a:off x="2186940" y="4751403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374357"/>
                </a:solidFill>
              </a:rPr>
              <a:t>Αντίφαση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B55948-7937-E157-9A48-D077767815D2}"/>
              </a:ext>
            </a:extLst>
          </p:cNvPr>
          <p:cNvSpPr txBox="1"/>
          <p:nvPr/>
        </p:nvSpPr>
        <p:spPr>
          <a:xfrm>
            <a:off x="2156460" y="4027503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374357"/>
                </a:solidFill>
              </a:rPr>
              <a:t>Υποστήριξη</a:t>
            </a:r>
            <a:endParaRPr lang="en-GB" dirty="0"/>
          </a:p>
        </p:txBody>
      </p:sp>
      <p:pic>
        <p:nvPicPr>
          <p:cNvPr id="51" name="Graphic 50" descr="Close with solid fill">
            <a:extLst>
              <a:ext uri="{FF2B5EF4-FFF2-40B4-BE49-F238E27FC236}">
                <a16:creationId xmlns:a16="http://schemas.microsoft.com/office/drawing/2014/main" id="{127A66B1-02B2-2DF0-43E6-9C06EFB80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5684" y="4730436"/>
            <a:ext cx="213903" cy="213903"/>
          </a:xfrm>
          <a:prstGeom prst="rect">
            <a:avLst/>
          </a:prstGeom>
        </p:spPr>
      </p:pic>
      <p:pic>
        <p:nvPicPr>
          <p:cNvPr id="53" name="Graphic 52" descr="Question Mark with solid fill">
            <a:extLst>
              <a:ext uri="{FF2B5EF4-FFF2-40B4-BE49-F238E27FC236}">
                <a16:creationId xmlns:a16="http://schemas.microsoft.com/office/drawing/2014/main" id="{FBBDFADC-D11C-18F1-71AD-C7C97B23E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1321" y="4354884"/>
            <a:ext cx="213903" cy="213903"/>
          </a:xfrm>
          <a:prstGeom prst="rect">
            <a:avLst/>
          </a:prstGeom>
        </p:spPr>
      </p:pic>
      <p:pic>
        <p:nvPicPr>
          <p:cNvPr id="55" name="Graphic 54" descr="Checkbox Checked with solid fill">
            <a:extLst>
              <a:ext uri="{FF2B5EF4-FFF2-40B4-BE49-F238E27FC236}">
                <a16:creationId xmlns:a16="http://schemas.microsoft.com/office/drawing/2014/main" id="{1F1F86DC-46DD-15E6-07AC-61B266F41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5787" y="3917863"/>
            <a:ext cx="354953" cy="354953"/>
          </a:xfrm>
          <a:prstGeom prst="rect">
            <a:avLst/>
          </a:prstGeom>
        </p:spPr>
      </p:pic>
      <p:pic>
        <p:nvPicPr>
          <p:cNvPr id="34" name="Graphic 33" descr="Linear Graph outline">
            <a:extLst>
              <a:ext uri="{FF2B5EF4-FFF2-40B4-BE49-F238E27FC236}">
                <a16:creationId xmlns:a16="http://schemas.microsoft.com/office/drawing/2014/main" id="{FB079590-AD65-F19C-1935-49765E3ED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168" y="4434840"/>
            <a:ext cx="426718" cy="426718"/>
          </a:xfrm>
          <a:prstGeom prst="rect">
            <a:avLst/>
          </a:prstGeom>
        </p:spPr>
      </p:pic>
      <p:pic>
        <p:nvPicPr>
          <p:cNvPr id="35" name="Graphic 34" descr="Forest scene outline">
            <a:extLst>
              <a:ext uri="{FF2B5EF4-FFF2-40B4-BE49-F238E27FC236}">
                <a16:creationId xmlns:a16="http://schemas.microsoft.com/office/drawing/2014/main" id="{80CEC87F-E8BC-29E0-7778-3E32573B7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9296" y="1795272"/>
            <a:ext cx="914400" cy="914400"/>
          </a:xfrm>
          <a:prstGeom prst="rect">
            <a:avLst/>
          </a:prstGeom>
        </p:spPr>
      </p:pic>
      <p:sp>
        <p:nvSpPr>
          <p:cNvPr id="47" name="Slide title">
            <a:extLst>
              <a:ext uri="{FF2B5EF4-FFF2-40B4-BE49-F238E27FC236}">
                <a16:creationId xmlns:a16="http://schemas.microsoft.com/office/drawing/2014/main" id="{115B5A3F-F2DE-552D-21C6-D101760A8C1F}"/>
              </a:ext>
            </a:extLst>
          </p:cNvPr>
          <p:cNvSpPr txBox="1"/>
          <p:nvPr/>
        </p:nvSpPr>
        <p:spPr>
          <a:xfrm>
            <a:off x="411480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Βασικά στοιχεία της αρχικής μεθόδου</a:t>
            </a:r>
          </a:p>
        </p:txBody>
      </p:sp>
      <p:sp>
        <p:nvSpPr>
          <p:cNvPr id="49" name="Introduction">
            <a:extLst>
              <a:ext uri="{FF2B5EF4-FFF2-40B4-BE49-F238E27FC236}">
                <a16:creationId xmlns:a16="http://schemas.microsoft.com/office/drawing/2014/main" id="{B37CDFB5-37A9-9997-4CDD-5027CDAA5506}"/>
              </a:ext>
            </a:extLst>
          </p:cNvPr>
          <p:cNvSpPr>
            <a:spLocks noGrp="1"/>
          </p:cNvSpPr>
          <p:nvPr/>
        </p:nvSpPr>
        <p:spPr>
          <a:xfrm>
            <a:off x="438911" y="662452"/>
            <a:ext cx="10634471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Το NLI και η σημασιολογική ομοιότητα εξάγουν ενδείξεις, τις οποίες συνδυάζει ο Random Forest.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839DE177-F035-2536-2C53-7E7D3752B353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300" dirty="0">
                <a:solidFill>
                  <a:srgbClr val="677384"/>
                </a:solidFill>
                <a:latin typeface="Aptos"/>
              </a:rPr>
              <a:t>9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8043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hase 1 card">
            <a:extLst>
              <a:ext uri="{FF2B5EF4-FFF2-40B4-BE49-F238E27FC236}">
                <a16:creationId xmlns:a16="http://schemas.microsoft.com/office/drawing/2014/main" id="{F31BAED6-2684-4975-5805-97FD14C876C5}"/>
              </a:ext>
            </a:extLst>
          </p:cNvPr>
          <p:cNvSpPr/>
          <p:nvPr/>
        </p:nvSpPr>
        <p:spPr>
          <a:xfrm>
            <a:off x="393192" y="1566376"/>
            <a:ext cx="3474720" cy="4919472"/>
          </a:xfrm>
          <a:prstGeom prst="rect">
            <a:avLst/>
          </a:prstGeom>
          <a:solidFill>
            <a:srgbClr val="EEF3F8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hase 1 vertical accent">
            <a:extLst>
              <a:ext uri="{FF2B5EF4-FFF2-40B4-BE49-F238E27FC236}">
                <a16:creationId xmlns:a16="http://schemas.microsoft.com/office/drawing/2014/main" id="{C2DED347-8D57-CDAF-D13A-BCE3E5E0F39D}"/>
              </a:ext>
            </a:extLst>
          </p:cNvPr>
          <p:cNvSpPr/>
          <p:nvPr/>
        </p:nvSpPr>
        <p:spPr>
          <a:xfrm>
            <a:off x="548640" y="1566376"/>
            <a:ext cx="57607" cy="4919472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hase 1 horizontal accent">
            <a:extLst>
              <a:ext uri="{FF2B5EF4-FFF2-40B4-BE49-F238E27FC236}">
                <a16:creationId xmlns:a16="http://schemas.microsoft.com/office/drawing/2014/main" id="{78BE847A-9C3A-0C34-CA25-76B9769B6F9E}"/>
              </a:ext>
            </a:extLst>
          </p:cNvPr>
          <p:cNvSpPr/>
          <p:nvPr/>
        </p:nvSpPr>
        <p:spPr>
          <a:xfrm>
            <a:off x="393192" y="2563072"/>
            <a:ext cx="3474720" cy="57607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95314-2456-1EFB-00BD-1E7776DE4FBE}"/>
              </a:ext>
            </a:extLst>
          </p:cNvPr>
          <p:cNvSpPr txBox="1"/>
          <p:nvPr/>
        </p:nvSpPr>
        <p:spPr>
          <a:xfrm>
            <a:off x="740664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1η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 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4D903-9119-6888-5D8C-095274FA99D7}"/>
              </a:ext>
            </a:extLst>
          </p:cNvPr>
          <p:cNvSpPr txBox="1"/>
          <p:nvPr/>
        </p:nvSpPr>
        <p:spPr>
          <a:xfrm>
            <a:off x="740664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Αρχική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μέθοδος</a:t>
            </a:r>
          </a:p>
        </p:txBody>
      </p:sp>
      <p:sp>
        <p:nvSpPr>
          <p:cNvPr id="13" name="E1">
            <a:extLst>
              <a:ext uri="{FF2B5EF4-FFF2-40B4-BE49-F238E27FC236}">
                <a16:creationId xmlns:a16="http://schemas.microsoft.com/office/drawing/2014/main" id="{533A379C-9C5B-9047-70A0-EF29B571C4CD}"/>
              </a:ext>
            </a:extLst>
          </p:cNvPr>
          <p:cNvSpPr txBox="1"/>
          <p:nvPr/>
        </p:nvSpPr>
        <p:spPr>
          <a:xfrm>
            <a:off x="722376" y="2791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E1</a:t>
            </a:r>
          </a:p>
        </p:txBody>
      </p:sp>
      <p:sp>
        <p:nvSpPr>
          <p:cNvPr id="15" name="E1 research summary">
            <a:extLst>
              <a:ext uri="{FF2B5EF4-FFF2-40B4-BE49-F238E27FC236}">
                <a16:creationId xmlns:a16="http://schemas.microsoft.com/office/drawing/2014/main" id="{2CA0CF14-4EB0-C5E3-B3E1-8FA1793927FA}"/>
              </a:ext>
            </a:extLst>
          </p:cNvPr>
          <p:cNvSpPr txBox="1"/>
          <p:nvPr/>
        </p:nvSpPr>
        <p:spPr>
          <a:xfrm>
            <a:off x="1344168" y="2773384"/>
            <a:ext cx="2276856" cy="630942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Χαρακτηριστικά </a:t>
            </a:r>
            <a:endParaRPr lang="el-GR" sz="2050" b="0" dirty="0">
              <a:solidFill>
                <a:srgbClr val="374357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NLI</a:t>
            </a:r>
          </a:p>
        </p:txBody>
      </p:sp>
      <p:sp>
        <p:nvSpPr>
          <p:cNvPr id="17" name="E2">
            <a:extLst>
              <a:ext uri="{FF2B5EF4-FFF2-40B4-BE49-F238E27FC236}">
                <a16:creationId xmlns:a16="http://schemas.microsoft.com/office/drawing/2014/main" id="{5618B33D-9C82-E7AA-8633-B538ED47057D}"/>
              </a:ext>
            </a:extLst>
          </p:cNvPr>
          <p:cNvSpPr txBox="1"/>
          <p:nvPr/>
        </p:nvSpPr>
        <p:spPr>
          <a:xfrm>
            <a:off x="722376" y="360548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E2</a:t>
            </a:r>
          </a:p>
        </p:txBody>
      </p:sp>
      <p:sp>
        <p:nvSpPr>
          <p:cNvPr id="19" name="E2 research summary">
            <a:extLst>
              <a:ext uri="{FF2B5EF4-FFF2-40B4-BE49-F238E27FC236}">
                <a16:creationId xmlns:a16="http://schemas.microsoft.com/office/drawing/2014/main" id="{8F0AFA75-03A9-6249-DE0D-54EA2965AB92}"/>
              </a:ext>
            </a:extLst>
          </p:cNvPr>
          <p:cNvSpPr txBox="1"/>
          <p:nvPr/>
        </p:nvSpPr>
        <p:spPr>
          <a:xfrm>
            <a:off x="1344168" y="358720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Σημασιολογική ομοιότητα</a:t>
            </a:r>
          </a:p>
        </p:txBody>
      </p:sp>
      <p:sp>
        <p:nvSpPr>
          <p:cNvPr id="21" name="E3">
            <a:extLst>
              <a:ext uri="{FF2B5EF4-FFF2-40B4-BE49-F238E27FC236}">
                <a16:creationId xmlns:a16="http://schemas.microsoft.com/office/drawing/2014/main" id="{BF2DF5CD-6F40-5218-84BC-EBB1E0732A93}"/>
              </a:ext>
            </a:extLst>
          </p:cNvPr>
          <p:cNvSpPr txBox="1"/>
          <p:nvPr/>
        </p:nvSpPr>
        <p:spPr>
          <a:xfrm>
            <a:off x="722376" y="444673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23" name="E3 research summary">
            <a:extLst>
              <a:ext uri="{FF2B5EF4-FFF2-40B4-BE49-F238E27FC236}">
                <a16:creationId xmlns:a16="http://schemas.microsoft.com/office/drawing/2014/main" id="{7334E8F4-298D-388B-58EF-8C7C7AE7D224}"/>
              </a:ext>
            </a:extLst>
          </p:cNvPr>
          <p:cNvSpPr txBox="1"/>
          <p:nvPr/>
        </p:nvSpPr>
        <p:spPr>
          <a:xfrm>
            <a:off x="1344168" y="442844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Συνδυασμός NLI και ομοιότητας</a:t>
            </a:r>
          </a:p>
        </p:txBody>
      </p:sp>
      <p:sp>
        <p:nvSpPr>
          <p:cNvPr id="25" name="E4">
            <a:extLst>
              <a:ext uri="{FF2B5EF4-FFF2-40B4-BE49-F238E27FC236}">
                <a16:creationId xmlns:a16="http://schemas.microsoft.com/office/drawing/2014/main" id="{0B3D1289-11EE-1F00-B61B-4361F050DEEC}"/>
              </a:ext>
            </a:extLst>
          </p:cNvPr>
          <p:cNvSpPr txBox="1"/>
          <p:nvPr/>
        </p:nvSpPr>
        <p:spPr>
          <a:xfrm>
            <a:off x="722376" y="5416000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6A8CAF"/>
                </a:solidFill>
                <a:latin typeface="Aptos"/>
              </a:rPr>
              <a:t>E4</a:t>
            </a:r>
          </a:p>
        </p:txBody>
      </p:sp>
      <p:sp>
        <p:nvSpPr>
          <p:cNvPr id="27" name="E4 research summary">
            <a:extLst>
              <a:ext uri="{FF2B5EF4-FFF2-40B4-BE49-F238E27FC236}">
                <a16:creationId xmlns:a16="http://schemas.microsoft.com/office/drawing/2014/main" id="{25430A19-FE71-6A04-D25B-A4914DB23429}"/>
              </a:ext>
            </a:extLst>
          </p:cNvPr>
          <p:cNvSpPr txBox="1"/>
          <p:nvPr/>
        </p:nvSpPr>
        <p:spPr>
          <a:xfrm>
            <a:off x="1344168" y="5397712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Συνθετικά δεδομένα</a:t>
            </a:r>
          </a:p>
        </p:txBody>
      </p:sp>
      <p:sp>
        <p:nvSpPr>
          <p:cNvPr id="29" name="Phase 2 card">
            <a:extLst>
              <a:ext uri="{FF2B5EF4-FFF2-40B4-BE49-F238E27FC236}">
                <a16:creationId xmlns:a16="http://schemas.microsoft.com/office/drawing/2014/main" id="{44EEC7CE-3343-D6EE-DB41-135FA2670BE8}"/>
              </a:ext>
            </a:extLst>
          </p:cNvPr>
          <p:cNvSpPr/>
          <p:nvPr/>
        </p:nvSpPr>
        <p:spPr>
          <a:xfrm>
            <a:off x="4361688" y="1566376"/>
            <a:ext cx="3474720" cy="4919472"/>
          </a:xfrm>
          <a:prstGeom prst="rect">
            <a:avLst/>
          </a:prstGeom>
          <a:solidFill>
            <a:srgbClr val="F1EDF6">
              <a:alpha val="60000"/>
            </a:srgbClr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hase 2 vertical accent">
            <a:extLst>
              <a:ext uri="{FF2B5EF4-FFF2-40B4-BE49-F238E27FC236}">
                <a16:creationId xmlns:a16="http://schemas.microsoft.com/office/drawing/2014/main" id="{09B03649-F167-62ED-5D72-240F7C490D72}"/>
              </a:ext>
            </a:extLst>
          </p:cNvPr>
          <p:cNvSpPr/>
          <p:nvPr/>
        </p:nvSpPr>
        <p:spPr>
          <a:xfrm>
            <a:off x="4517136" y="1566376"/>
            <a:ext cx="57607" cy="4919472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hase 2 horizontal accent">
            <a:extLst>
              <a:ext uri="{FF2B5EF4-FFF2-40B4-BE49-F238E27FC236}">
                <a16:creationId xmlns:a16="http://schemas.microsoft.com/office/drawing/2014/main" id="{6F0E5A1C-A4A7-088C-9172-CC1EF537D3E6}"/>
              </a:ext>
            </a:extLst>
          </p:cNvPr>
          <p:cNvSpPr/>
          <p:nvPr/>
        </p:nvSpPr>
        <p:spPr>
          <a:xfrm>
            <a:off x="4361688" y="2563072"/>
            <a:ext cx="3474720" cy="57607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DE5AE-CDDA-2D2E-AA54-F67CD462D784}"/>
              </a:ext>
            </a:extLst>
          </p:cNvPr>
          <p:cNvSpPr txBox="1"/>
          <p:nvPr/>
        </p:nvSpPr>
        <p:spPr>
          <a:xfrm>
            <a:off x="4709159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2η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DA44B1-3A4F-5631-6B7C-B777DF4D4D4E}"/>
              </a:ext>
            </a:extLst>
          </p:cNvPr>
          <p:cNvSpPr txBox="1"/>
          <p:nvPr/>
        </p:nvSpPr>
        <p:spPr>
          <a:xfrm>
            <a:off x="4709159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>
                <a:solidFill>
                  <a:srgbClr val="10243D"/>
                </a:solidFill>
                <a:latin typeface="Aptos"/>
              </a:rPr>
              <a:t>Επ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εκτάσεις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39" name="E5">
            <a:extLst>
              <a:ext uri="{FF2B5EF4-FFF2-40B4-BE49-F238E27FC236}">
                <a16:creationId xmlns:a16="http://schemas.microsoft.com/office/drawing/2014/main" id="{18F343BB-224E-0D9A-2536-B3B245354D07}"/>
              </a:ext>
            </a:extLst>
          </p:cNvPr>
          <p:cNvSpPr txBox="1"/>
          <p:nvPr/>
        </p:nvSpPr>
        <p:spPr>
          <a:xfrm>
            <a:off x="4690872" y="2773384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41" name="E5 research summary">
            <a:extLst>
              <a:ext uri="{FF2B5EF4-FFF2-40B4-BE49-F238E27FC236}">
                <a16:creationId xmlns:a16="http://schemas.microsoft.com/office/drawing/2014/main" id="{3CC7DBE9-283E-D382-8402-3D024841D769}"/>
              </a:ext>
            </a:extLst>
          </p:cNvPr>
          <p:cNvSpPr txBox="1"/>
          <p:nvPr/>
        </p:nvSpPr>
        <p:spPr>
          <a:xfrm>
            <a:off x="5312664" y="2755096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Εξωτερικοί ορισμοί (RAG)</a:t>
            </a:r>
          </a:p>
        </p:txBody>
      </p:sp>
      <p:sp>
        <p:nvSpPr>
          <p:cNvPr id="43" name="E6">
            <a:extLst>
              <a:ext uri="{FF2B5EF4-FFF2-40B4-BE49-F238E27FC236}">
                <a16:creationId xmlns:a16="http://schemas.microsoft.com/office/drawing/2014/main" id="{8A574B5E-0ED8-8AD6-D7D8-4B3C1A5DD1BD}"/>
              </a:ext>
            </a:extLst>
          </p:cNvPr>
          <p:cNvSpPr txBox="1"/>
          <p:nvPr/>
        </p:nvSpPr>
        <p:spPr>
          <a:xfrm>
            <a:off x="4690872" y="357805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45" name="E6 research summary">
            <a:extLst>
              <a:ext uri="{FF2B5EF4-FFF2-40B4-BE49-F238E27FC236}">
                <a16:creationId xmlns:a16="http://schemas.microsoft.com/office/drawing/2014/main" id="{D7F68B67-25BC-5593-73D5-9515536050D7}"/>
              </a:ext>
            </a:extLst>
          </p:cNvPr>
          <p:cNvSpPr txBox="1"/>
          <p:nvPr/>
        </p:nvSpPr>
        <p:spPr>
          <a:xfrm>
            <a:off x="5312664" y="355976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9" b="0">
                <a:solidFill>
                  <a:srgbClr val="374357"/>
                </a:solidFill>
                <a:latin typeface="Aptos"/>
              </a:rPr>
              <a:t>Νέοι έλεγχοι και χαρακτηριστικά</a:t>
            </a:r>
          </a:p>
        </p:txBody>
      </p:sp>
      <p:sp>
        <p:nvSpPr>
          <p:cNvPr id="47" name="E7">
            <a:extLst>
              <a:ext uri="{FF2B5EF4-FFF2-40B4-BE49-F238E27FC236}">
                <a16:creationId xmlns:a16="http://schemas.microsoft.com/office/drawing/2014/main" id="{77792670-10B0-1A51-9164-A8CC02B52507}"/>
              </a:ext>
            </a:extLst>
          </p:cNvPr>
          <p:cNvSpPr txBox="1"/>
          <p:nvPr/>
        </p:nvSpPr>
        <p:spPr>
          <a:xfrm>
            <a:off x="4690872" y="4433857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49" name="E7 research summary">
            <a:extLst>
              <a:ext uri="{FF2B5EF4-FFF2-40B4-BE49-F238E27FC236}">
                <a16:creationId xmlns:a16="http://schemas.microsoft.com/office/drawing/2014/main" id="{C4CA9C84-B519-308F-2B90-9B6D45D41A96}"/>
              </a:ext>
            </a:extLst>
          </p:cNvPr>
          <p:cNvSpPr txBox="1"/>
          <p:nvPr/>
        </p:nvSpPr>
        <p:spPr>
          <a:xfrm>
            <a:off x="5312664" y="4415569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Επιλεκτικό Agentic RAG</a:t>
            </a:r>
          </a:p>
        </p:txBody>
      </p:sp>
      <p:sp>
        <p:nvSpPr>
          <p:cNvPr id="51" name="E8">
            <a:extLst>
              <a:ext uri="{FF2B5EF4-FFF2-40B4-BE49-F238E27FC236}">
                <a16:creationId xmlns:a16="http://schemas.microsoft.com/office/drawing/2014/main" id="{575854FF-68AC-683C-E0C6-6EA6569D2AAE}"/>
              </a:ext>
            </a:extLst>
          </p:cNvPr>
          <p:cNvSpPr txBox="1"/>
          <p:nvPr/>
        </p:nvSpPr>
        <p:spPr>
          <a:xfrm>
            <a:off x="4709160" y="5412265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53" name="E8 research summary">
            <a:extLst>
              <a:ext uri="{FF2B5EF4-FFF2-40B4-BE49-F238E27FC236}">
                <a16:creationId xmlns:a16="http://schemas.microsoft.com/office/drawing/2014/main" id="{4FA05EF3-4835-8BD6-6DA1-648EEC4B622B}"/>
              </a:ext>
            </a:extLst>
          </p:cNvPr>
          <p:cNvSpPr txBox="1"/>
          <p:nvPr/>
        </p:nvSpPr>
        <p:spPr>
          <a:xfrm>
            <a:off x="5330952" y="5393977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 err="1">
                <a:solidFill>
                  <a:srgbClr val="374357"/>
                </a:solidFill>
                <a:latin typeface="Aptos"/>
              </a:rPr>
              <a:t>Ρυθμίσεις</a:t>
            </a:r>
            <a:r>
              <a:rPr sz="2050" b="0" dirty="0">
                <a:solidFill>
                  <a:srgbClr val="374357"/>
                </a:solidFill>
                <a:latin typeface="Aptos"/>
              </a:rPr>
              <a:t> Random Forest</a:t>
            </a:r>
          </a:p>
        </p:txBody>
      </p:sp>
      <p:sp>
        <p:nvSpPr>
          <p:cNvPr id="55" name="Phase 3 card">
            <a:extLst>
              <a:ext uri="{FF2B5EF4-FFF2-40B4-BE49-F238E27FC236}">
                <a16:creationId xmlns:a16="http://schemas.microsoft.com/office/drawing/2014/main" id="{C8EFA8E6-003C-7349-F8AB-9B9F5C357FE7}"/>
              </a:ext>
            </a:extLst>
          </p:cNvPr>
          <p:cNvSpPr/>
          <p:nvPr/>
        </p:nvSpPr>
        <p:spPr>
          <a:xfrm>
            <a:off x="8330183" y="1566376"/>
            <a:ext cx="3474720" cy="4919472"/>
          </a:xfrm>
          <a:prstGeom prst="rect">
            <a:avLst/>
          </a:prstGeom>
          <a:solidFill>
            <a:srgbClr val="EEF3EA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hase 3 vertical accent">
            <a:extLst>
              <a:ext uri="{FF2B5EF4-FFF2-40B4-BE49-F238E27FC236}">
                <a16:creationId xmlns:a16="http://schemas.microsoft.com/office/drawing/2014/main" id="{6CD8531D-EC67-88C6-6DFE-FA339D71AB71}"/>
              </a:ext>
            </a:extLst>
          </p:cNvPr>
          <p:cNvSpPr/>
          <p:nvPr/>
        </p:nvSpPr>
        <p:spPr>
          <a:xfrm>
            <a:off x="8485632" y="1566376"/>
            <a:ext cx="57607" cy="4919472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hase 3 horizontal accent">
            <a:extLst>
              <a:ext uri="{FF2B5EF4-FFF2-40B4-BE49-F238E27FC236}">
                <a16:creationId xmlns:a16="http://schemas.microsoft.com/office/drawing/2014/main" id="{22796266-DA40-7FAB-1078-2A8BFFB57CB3}"/>
              </a:ext>
            </a:extLst>
          </p:cNvPr>
          <p:cNvSpPr/>
          <p:nvPr/>
        </p:nvSpPr>
        <p:spPr>
          <a:xfrm>
            <a:off x="8330183" y="2563072"/>
            <a:ext cx="3474720" cy="57607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B2F46E-8E19-FF87-67E2-28870470597A}"/>
              </a:ext>
            </a:extLst>
          </p:cNvPr>
          <p:cNvSpPr txBox="1"/>
          <p:nvPr/>
        </p:nvSpPr>
        <p:spPr>
          <a:xfrm>
            <a:off x="8677656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3η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4C37AE-BBAA-D80A-7E36-79033FF10CF6}"/>
              </a:ext>
            </a:extLst>
          </p:cNvPr>
          <p:cNvSpPr txBox="1"/>
          <p:nvPr/>
        </p:nvSpPr>
        <p:spPr>
          <a:xfrm>
            <a:off x="8677656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Νέες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ροσεγγίσεις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65" name="E9">
            <a:extLst>
              <a:ext uri="{FF2B5EF4-FFF2-40B4-BE49-F238E27FC236}">
                <a16:creationId xmlns:a16="http://schemas.microsoft.com/office/drawing/2014/main" id="{59739A8F-A27E-D7C7-3A1E-A9C7754883E7}"/>
              </a:ext>
            </a:extLst>
          </p:cNvPr>
          <p:cNvSpPr txBox="1"/>
          <p:nvPr/>
        </p:nvSpPr>
        <p:spPr>
          <a:xfrm>
            <a:off x="8659367" y="287396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67" name="E9 research summary">
            <a:extLst>
              <a:ext uri="{FF2B5EF4-FFF2-40B4-BE49-F238E27FC236}">
                <a16:creationId xmlns:a16="http://schemas.microsoft.com/office/drawing/2014/main" id="{88B2089C-4742-768A-8E60-DA97E74F70AD}"/>
              </a:ext>
            </a:extLst>
          </p:cNvPr>
          <p:cNvSpPr txBox="1"/>
          <p:nvPr/>
        </p:nvSpPr>
        <p:spPr>
          <a:xfrm>
            <a:off x="9281159" y="285568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επιμέρους ισχυρισμών</a:t>
            </a:r>
          </a:p>
        </p:txBody>
      </p:sp>
      <p:sp>
        <p:nvSpPr>
          <p:cNvPr id="69" name="E10">
            <a:extLst>
              <a:ext uri="{FF2B5EF4-FFF2-40B4-BE49-F238E27FC236}">
                <a16:creationId xmlns:a16="http://schemas.microsoft.com/office/drawing/2014/main" id="{D87006DA-D6F7-22CA-B03B-3BDD67662CEC}"/>
              </a:ext>
            </a:extLst>
          </p:cNvPr>
          <p:cNvSpPr txBox="1"/>
          <p:nvPr/>
        </p:nvSpPr>
        <p:spPr>
          <a:xfrm>
            <a:off x="8659367" y="3934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71" name="E10 research summary">
            <a:extLst>
              <a:ext uri="{FF2B5EF4-FFF2-40B4-BE49-F238E27FC236}">
                <a16:creationId xmlns:a16="http://schemas.microsoft.com/office/drawing/2014/main" id="{469A5279-EB47-0C0A-14CF-3DEBB980D21D}"/>
              </a:ext>
            </a:extLst>
          </p:cNvPr>
          <p:cNvSpPr txBox="1"/>
          <p:nvPr/>
        </p:nvSpPr>
        <p:spPr>
          <a:xfrm>
            <a:off x="9281159" y="3916384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πλήρους hyp (FactCG)</a:t>
            </a:r>
          </a:p>
        </p:txBody>
      </p:sp>
      <p:sp>
        <p:nvSpPr>
          <p:cNvPr id="73" name="E11">
            <a:extLst>
              <a:ext uri="{FF2B5EF4-FFF2-40B4-BE49-F238E27FC236}">
                <a16:creationId xmlns:a16="http://schemas.microsoft.com/office/drawing/2014/main" id="{2B9B9CCA-486F-54E6-B44D-D45061ECD5F5}"/>
              </a:ext>
            </a:extLst>
          </p:cNvPr>
          <p:cNvSpPr txBox="1"/>
          <p:nvPr/>
        </p:nvSpPr>
        <p:spPr>
          <a:xfrm>
            <a:off x="8659367" y="499537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75" name="E11 research summary">
            <a:extLst>
              <a:ext uri="{FF2B5EF4-FFF2-40B4-BE49-F238E27FC236}">
                <a16:creationId xmlns:a16="http://schemas.microsoft.com/office/drawing/2014/main" id="{1764459C-4683-7A67-E64A-D63BA6AEEF26}"/>
              </a:ext>
            </a:extLst>
          </p:cNvPr>
          <p:cNvSpPr txBox="1"/>
          <p:nvPr/>
        </p:nvSpPr>
        <p:spPr>
          <a:xfrm>
            <a:off x="9281159" y="497708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Fine-tuning transformer</a:t>
            </a:r>
          </a:p>
        </p:txBody>
      </p:sp>
      <p:sp>
        <p:nvSpPr>
          <p:cNvPr id="77" name="Right Arrow 48">
            <a:extLst>
              <a:ext uri="{FF2B5EF4-FFF2-40B4-BE49-F238E27FC236}">
                <a16:creationId xmlns:a16="http://schemas.microsoft.com/office/drawing/2014/main" id="{96420381-3559-4CE9-F0EE-61E173C23EA6}"/>
              </a:ext>
            </a:extLst>
          </p:cNvPr>
          <p:cNvSpPr/>
          <p:nvPr/>
        </p:nvSpPr>
        <p:spPr>
          <a:xfrm>
            <a:off x="3950208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ight Arrow 49">
            <a:extLst>
              <a:ext uri="{FF2B5EF4-FFF2-40B4-BE49-F238E27FC236}">
                <a16:creationId xmlns:a16="http://schemas.microsoft.com/office/drawing/2014/main" id="{A140B351-80AF-CC10-C953-75F6C54B1F1B}"/>
              </a:ext>
            </a:extLst>
          </p:cNvPr>
          <p:cNvSpPr/>
          <p:nvPr/>
        </p:nvSpPr>
        <p:spPr>
          <a:xfrm>
            <a:off x="7918704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Slide title">
            <a:extLst>
              <a:ext uri="{FF2B5EF4-FFF2-40B4-BE49-F238E27FC236}">
                <a16:creationId xmlns:a16="http://schemas.microsoft.com/office/drawing/2014/main" id="{1A1EB7C8-A090-4E21-E091-B0618A02AC91}"/>
              </a:ext>
            </a:extLst>
          </p:cNvPr>
          <p:cNvSpPr txBox="1"/>
          <p:nvPr/>
        </p:nvSpPr>
        <p:spPr>
          <a:xfrm>
            <a:off x="429236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Πώς οργανώθηκαν τα πειράματα;</a:t>
            </a:r>
          </a:p>
        </p:txBody>
      </p:sp>
      <p:sp>
        <p:nvSpPr>
          <p:cNvPr id="85" name="Introduction">
            <a:extLst>
              <a:ext uri="{FF2B5EF4-FFF2-40B4-BE49-F238E27FC236}">
                <a16:creationId xmlns:a16="http://schemas.microsoft.com/office/drawing/2014/main" id="{D397F151-213A-9F40-4C82-818F4939EF3C}"/>
              </a:ext>
            </a:extLst>
          </p:cNvPr>
          <p:cNvSpPr>
            <a:spLocks noGrp="1"/>
          </p:cNvSpPr>
          <p:nvPr/>
        </p:nvSpPr>
        <p:spPr>
          <a:xfrm>
            <a:off x="438912" y="662452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Κάθε πείραμα εξετάζει μια διαφορετική πλευρά της ανίχνευσης hallucinations.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C6FEEEF-55E6-A1EE-F84C-23AFF1675E59}"/>
              </a:ext>
            </a:extLst>
          </p:cNvPr>
          <p:cNvSpPr/>
          <p:nvPr/>
        </p:nvSpPr>
        <p:spPr>
          <a:xfrm>
            <a:off x="8328532" y="1576536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CA9D2FB-53C1-2C5B-3403-00D69E6A92E5}"/>
              </a:ext>
            </a:extLst>
          </p:cNvPr>
          <p:cNvSpPr/>
          <p:nvPr/>
        </p:nvSpPr>
        <p:spPr>
          <a:xfrm>
            <a:off x="7863840" y="3921464"/>
            <a:ext cx="448056" cy="34239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49110F2-7E9C-3780-4CE4-868FD532594D}"/>
              </a:ext>
            </a:extLst>
          </p:cNvPr>
          <p:cNvSpPr/>
          <p:nvPr/>
        </p:nvSpPr>
        <p:spPr>
          <a:xfrm>
            <a:off x="413369" y="1566890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29BBB47-840D-0F92-323B-4AA7F607F85C}"/>
              </a:ext>
            </a:extLst>
          </p:cNvPr>
          <p:cNvSpPr/>
          <p:nvPr/>
        </p:nvSpPr>
        <p:spPr>
          <a:xfrm>
            <a:off x="3907224" y="3923393"/>
            <a:ext cx="448056" cy="34239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66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A3A407E-607D-F853-6D2A-501BB5F0E2DC}"/>
              </a:ext>
            </a:extLst>
          </p:cNvPr>
          <p:cNvSpPr/>
          <p:nvPr/>
        </p:nvSpPr>
        <p:spPr>
          <a:xfrm>
            <a:off x="470535" y="2253996"/>
            <a:ext cx="1818513" cy="2125977"/>
          </a:xfrm>
          <a:prstGeom prst="rect">
            <a:avLst/>
          </a:prstGeom>
          <a:solidFill>
            <a:srgbClr val="EEF3F8"/>
          </a:solidFill>
          <a:ln w="10795">
            <a:solidFill>
              <a:srgbClr val="CA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lide title"/>
          <p:cNvSpPr txBox="1"/>
          <p:nvPr/>
        </p:nvSpPr>
        <p:spPr>
          <a:xfrm>
            <a:off x="411480" y="246888"/>
            <a:ext cx="9710928" cy="52120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10243D"/>
                </a:solidFill>
                <a:latin typeface="Aptos"/>
              </a:rPr>
              <a:t>Πώς λειτουργεί η 2η πειραματική </a:t>
            </a:r>
            <a:r>
              <a:rPr sz="3200" b="1" dirty="0" err="1">
                <a:solidFill>
                  <a:srgbClr val="10243D"/>
                </a:solidFill>
                <a:latin typeface="Aptos"/>
              </a:rPr>
              <a:t>φάση</a:t>
            </a:r>
            <a:r>
              <a:rPr sz="3200" b="1" dirty="0">
                <a:solidFill>
                  <a:srgbClr val="10243D"/>
                </a:solidFill>
                <a:latin typeface="Aptos"/>
              </a:rPr>
              <a:t>;</a:t>
            </a:r>
          </a:p>
        </p:txBody>
      </p:sp>
      <p:sp>
        <p:nvSpPr>
          <p:cNvPr id="3" name="Phase code"/>
          <p:cNvSpPr txBox="1"/>
          <p:nvPr/>
        </p:nvSpPr>
        <p:spPr>
          <a:xfrm>
            <a:off x="10825480" y="312928"/>
            <a:ext cx="987552" cy="2834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E5–E8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20624" y="859536"/>
            <a:ext cx="112471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80" b="0" dirty="0" err="1">
                <a:solidFill>
                  <a:srgbClr val="374357"/>
                </a:solidFill>
                <a:latin typeface="Aptos"/>
              </a:rPr>
              <a:t>Ξεκινάμε</a:t>
            </a:r>
            <a:r>
              <a:rPr sz="2180" b="0" dirty="0">
                <a:solidFill>
                  <a:srgbClr val="374357"/>
                </a:solidFill>
                <a:latin typeface="Aptos"/>
              </a:rPr>
              <a:t> από το E3 και π</a:t>
            </a:r>
            <a:r>
              <a:rPr sz="2180" b="0" dirty="0" err="1">
                <a:solidFill>
                  <a:srgbClr val="374357"/>
                </a:solidFill>
                <a:latin typeface="Aptos"/>
              </a:rPr>
              <a:t>ροχωράμε</a:t>
            </a:r>
            <a:r>
              <a:rPr sz="2180" b="0" dirty="0">
                <a:solidFill>
                  <a:srgbClr val="374357"/>
                </a:solidFill>
                <a:latin typeface="Aptos"/>
              </a:rPr>
              <a:t> σε δια</a:t>
            </a:r>
            <a:r>
              <a:rPr sz="2180" b="0" dirty="0" err="1">
                <a:solidFill>
                  <a:srgbClr val="374357"/>
                </a:solidFill>
                <a:latin typeface="Aptos"/>
              </a:rPr>
              <a:t>δοχικές</a:t>
            </a:r>
            <a:r>
              <a:rPr sz="2180" b="0" dirty="0">
                <a:solidFill>
                  <a:srgbClr val="374357"/>
                </a:solidFill>
                <a:latin typeface="Aptos"/>
              </a:rPr>
              <a:t> επ</a:t>
            </a:r>
            <a:r>
              <a:rPr sz="2180" b="0" dirty="0" err="1">
                <a:solidFill>
                  <a:srgbClr val="374357"/>
                </a:solidFill>
                <a:latin typeface="Aptos"/>
              </a:rPr>
              <a:t>εκτάσεις</a:t>
            </a:r>
            <a:r>
              <a:rPr sz="2180" b="0" dirty="0">
                <a:solidFill>
                  <a:srgbClr val="374357"/>
                </a:solidFill>
                <a:latin typeface="Aptos"/>
              </a:rPr>
              <a:t> και </a:t>
            </a:r>
            <a:r>
              <a:rPr sz="2180" b="0" dirty="0" err="1">
                <a:solidFill>
                  <a:srgbClr val="374357"/>
                </a:solidFill>
                <a:latin typeface="Aptos"/>
              </a:rPr>
              <a:t>εν</a:t>
            </a:r>
            <a:r>
              <a:rPr sz="2180" b="0" dirty="0">
                <a:solidFill>
                  <a:srgbClr val="374357"/>
                </a:solidFill>
                <a:latin typeface="Aptos"/>
              </a:rPr>
              <a:t>αλλακτικές δοκιμές.</a:t>
            </a:r>
          </a:p>
        </p:txBody>
      </p:sp>
      <p:cxnSp>
        <p:nvCxnSpPr>
          <p:cNvPr id="5" name="Connector"/>
          <p:cNvCxnSpPr/>
          <p:nvPr/>
        </p:nvCxnSpPr>
        <p:spPr>
          <a:xfrm>
            <a:off x="2304288" y="3465576"/>
            <a:ext cx="338328" cy="0"/>
          </a:xfrm>
          <a:prstGeom prst="line">
            <a:avLst/>
          </a:prstGeom>
          <a:ln w="21590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"/>
          <p:cNvCxnSpPr/>
          <p:nvPr/>
        </p:nvCxnSpPr>
        <p:spPr>
          <a:xfrm>
            <a:off x="5010912" y="3465576"/>
            <a:ext cx="329184" cy="0"/>
          </a:xfrm>
          <a:prstGeom prst="line">
            <a:avLst/>
          </a:prstGeom>
          <a:ln w="21590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"/>
          <p:cNvCxnSpPr/>
          <p:nvPr/>
        </p:nvCxnSpPr>
        <p:spPr>
          <a:xfrm>
            <a:off x="8668512" y="3493008"/>
            <a:ext cx="283464" cy="0"/>
          </a:xfrm>
          <a:prstGeom prst="line">
            <a:avLst/>
          </a:prstGeom>
          <a:ln w="21590">
            <a:solidFill>
              <a:srgbClr val="8A7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"/>
          <p:cNvCxnSpPr/>
          <p:nvPr/>
        </p:nvCxnSpPr>
        <p:spPr>
          <a:xfrm>
            <a:off x="8951976" y="2459736"/>
            <a:ext cx="0" cy="1993392"/>
          </a:xfrm>
          <a:prstGeom prst="line">
            <a:avLst/>
          </a:prstGeom>
          <a:ln w="21590">
            <a:solidFill>
              <a:srgbClr val="8A7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"/>
          <p:cNvCxnSpPr/>
          <p:nvPr/>
        </p:nvCxnSpPr>
        <p:spPr>
          <a:xfrm>
            <a:off x="8951976" y="2459736"/>
            <a:ext cx="201168" cy="0"/>
          </a:xfrm>
          <a:prstGeom prst="line">
            <a:avLst/>
          </a:prstGeom>
          <a:ln w="21590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>
            <a:off x="8951976" y="4453128"/>
            <a:ext cx="201168" cy="0"/>
          </a:xfrm>
          <a:prstGeom prst="line">
            <a:avLst/>
          </a:prstGeom>
          <a:ln w="21590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3 prior phase accent"/>
          <p:cNvSpPr/>
          <p:nvPr/>
        </p:nvSpPr>
        <p:spPr>
          <a:xfrm>
            <a:off x="420624" y="2249424"/>
            <a:ext cx="50292" cy="2130552"/>
          </a:xfrm>
          <a:prstGeom prst="rect">
            <a:avLst/>
          </a:prstGeom>
          <a:solidFill>
            <a:srgbClr val="6A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3 starting point"/>
          <p:cNvSpPr txBox="1"/>
          <p:nvPr/>
        </p:nvSpPr>
        <p:spPr>
          <a:xfrm>
            <a:off x="593344" y="2320544"/>
            <a:ext cx="155448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10243D"/>
                </a:solidFill>
                <a:latin typeface="Aptos"/>
              </a:rPr>
              <a:t>Αφετηρί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α</a:t>
            </a:r>
          </a:p>
        </p:txBody>
      </p:sp>
      <p:sp>
        <p:nvSpPr>
          <p:cNvPr id="14" name="E3 code"/>
          <p:cNvSpPr txBox="1"/>
          <p:nvPr/>
        </p:nvSpPr>
        <p:spPr>
          <a:xfrm>
            <a:off x="1995424" y="2226056"/>
            <a:ext cx="1389888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15" name="E3 content"/>
          <p:cNvSpPr txBox="1"/>
          <p:nvPr/>
        </p:nvSpPr>
        <p:spPr>
          <a:xfrm>
            <a:off x="603504" y="2918968"/>
            <a:ext cx="1766316" cy="11442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l-GR" b="0" dirty="0">
                <a:solidFill>
                  <a:srgbClr val="374357"/>
                </a:solidFill>
                <a:latin typeface="Aptos"/>
              </a:rPr>
              <a:t>Συνένωση </a:t>
            </a:r>
            <a:r>
              <a:rPr b="0" dirty="0">
                <a:solidFill>
                  <a:srgbClr val="374357"/>
                </a:solidFill>
                <a:latin typeface="Aptos"/>
              </a:rPr>
              <a:t>NLI</a:t>
            </a:r>
            <a:r>
              <a:rPr lang="el-GR" b="0" dirty="0">
                <a:solidFill>
                  <a:srgbClr val="374357"/>
                </a:solidFill>
                <a:latin typeface="Aptos"/>
              </a:rPr>
              <a:t> 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l-GR" b="0" dirty="0">
                <a:solidFill>
                  <a:srgbClr val="374357"/>
                </a:solidFill>
                <a:latin typeface="Aptos"/>
              </a:rPr>
              <a:t>και</a:t>
            </a:r>
            <a:endParaRPr b="0" dirty="0">
              <a:solidFill>
                <a:srgbClr val="374357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σημασιολογική</a:t>
            </a:r>
            <a:r>
              <a:rPr lang="el-GR" b="0" dirty="0">
                <a:solidFill>
                  <a:srgbClr val="374357"/>
                </a:solidFill>
                <a:latin typeface="Aptos"/>
              </a:rPr>
              <a:t>ς</a:t>
            </a:r>
            <a:endParaRPr b="0" dirty="0">
              <a:solidFill>
                <a:srgbClr val="374357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ομοιότητα</a:t>
            </a:r>
            <a:r>
              <a:rPr lang="el-GR" b="0" dirty="0">
                <a:solidFill>
                  <a:srgbClr val="374357"/>
                </a:solidFill>
                <a:latin typeface="Aptos"/>
              </a:rPr>
              <a:t>ς</a:t>
            </a:r>
            <a:endParaRPr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16" name="E5 external definitions"/>
          <p:cNvSpPr/>
          <p:nvPr/>
        </p:nvSpPr>
        <p:spPr>
          <a:xfrm>
            <a:off x="2642616" y="2249424"/>
            <a:ext cx="2368296" cy="2130552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E5 external definitions accent"/>
          <p:cNvSpPr/>
          <p:nvPr/>
        </p:nvSpPr>
        <p:spPr>
          <a:xfrm>
            <a:off x="2642616" y="2249424"/>
            <a:ext cx="50292" cy="213055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E5 code"/>
          <p:cNvSpPr txBox="1"/>
          <p:nvPr/>
        </p:nvSpPr>
        <p:spPr>
          <a:xfrm>
            <a:off x="4726432" y="2212848"/>
            <a:ext cx="14630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19" name="E5 title"/>
          <p:cNvSpPr txBox="1"/>
          <p:nvPr/>
        </p:nvSpPr>
        <p:spPr>
          <a:xfrm>
            <a:off x="2775712" y="2344928"/>
            <a:ext cx="2093976" cy="7573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10243D"/>
                </a:solidFill>
                <a:latin typeface="Aptos"/>
              </a:rPr>
              <a:t>Εξωτερικοί</a:t>
            </a:r>
            <a:endParaRPr sz="2400" b="1" dirty="0">
              <a:solidFill>
                <a:srgbClr val="10243D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10243D"/>
                </a:solidFill>
                <a:latin typeface="Aptos"/>
              </a:rPr>
              <a:t>ορισμοί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(RAG)</a:t>
            </a:r>
          </a:p>
        </p:txBody>
      </p:sp>
      <p:sp>
        <p:nvSpPr>
          <p:cNvPr id="20" name="E5 explanation"/>
          <p:cNvSpPr txBox="1"/>
          <p:nvPr/>
        </p:nvSpPr>
        <p:spPr>
          <a:xfrm>
            <a:off x="2816352" y="3290787"/>
            <a:ext cx="2039112" cy="8561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Ορισμοί από το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Wiktionary ως νέα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χαρακτηριστικά.</a:t>
            </a:r>
          </a:p>
        </p:txBody>
      </p:sp>
      <p:sp>
        <p:nvSpPr>
          <p:cNvPr id="21" name="E6 feature enrichment"/>
          <p:cNvSpPr/>
          <p:nvPr/>
        </p:nvSpPr>
        <p:spPr>
          <a:xfrm>
            <a:off x="5340096" y="1719072"/>
            <a:ext cx="3328416" cy="3602736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6 feature enrichment accent"/>
          <p:cNvSpPr/>
          <p:nvPr/>
        </p:nvSpPr>
        <p:spPr>
          <a:xfrm>
            <a:off x="5340096" y="1719072"/>
            <a:ext cx="50292" cy="3602736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E6 code"/>
          <p:cNvSpPr txBox="1"/>
          <p:nvPr/>
        </p:nvSpPr>
        <p:spPr>
          <a:xfrm>
            <a:off x="8388096" y="1963673"/>
            <a:ext cx="109728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24" name="E6 title"/>
          <p:cNvSpPr txBox="1"/>
          <p:nvPr/>
        </p:nvSpPr>
        <p:spPr>
          <a:xfrm>
            <a:off x="5512816" y="2063242"/>
            <a:ext cx="2880360" cy="37330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Νέα χαρακτηριστικά</a:t>
            </a:r>
          </a:p>
        </p:txBody>
      </p:sp>
      <p:sp>
        <p:nvSpPr>
          <p:cNvPr id="25" name="E6-v1 background"/>
          <p:cNvSpPr/>
          <p:nvPr/>
        </p:nvSpPr>
        <p:spPr>
          <a:xfrm>
            <a:off x="5504688" y="2660904"/>
            <a:ext cx="2990088" cy="557784"/>
          </a:xfrm>
          <a:prstGeom prst="rect">
            <a:avLst/>
          </a:prstGeom>
          <a:solidFill>
            <a:srgbClr val="F1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6-v1 name"/>
          <p:cNvSpPr txBox="1"/>
          <p:nvPr/>
        </p:nvSpPr>
        <p:spPr>
          <a:xfrm>
            <a:off x="5623560" y="2816352"/>
            <a:ext cx="713232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E6-v1</a:t>
            </a:r>
          </a:p>
        </p:txBody>
      </p:sp>
      <p:sp>
        <p:nvSpPr>
          <p:cNvPr id="27" name="E6-v1 description"/>
          <p:cNvSpPr txBox="1"/>
          <p:nvPr/>
        </p:nvSpPr>
        <p:spPr>
          <a:xfrm>
            <a:off x="6346951" y="2706116"/>
            <a:ext cx="2491735" cy="50507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Σύγκριση hyp με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374357"/>
                </a:solidFill>
                <a:latin typeface="Aptos"/>
              </a:rPr>
              <a:t>εξωτερικό</a:t>
            </a:r>
            <a:r>
              <a:rPr sz="1600" b="0" dirty="0">
                <a:solidFill>
                  <a:srgbClr val="374357"/>
                </a:solidFill>
                <a:latin typeface="Aptos"/>
              </a:rPr>
              <a:t> ορισμό</a:t>
            </a:r>
          </a:p>
        </p:txBody>
      </p:sp>
      <p:cxnSp>
        <p:nvCxnSpPr>
          <p:cNvPr id="28" name="Connector"/>
          <p:cNvCxnSpPr/>
          <p:nvPr/>
        </p:nvCxnSpPr>
        <p:spPr>
          <a:xfrm>
            <a:off x="7008876" y="3227832"/>
            <a:ext cx="0" cy="91440"/>
          </a:xfrm>
          <a:prstGeom prst="line">
            <a:avLst/>
          </a:prstGeom>
          <a:ln w="15875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6-v2 background"/>
          <p:cNvSpPr/>
          <p:nvPr/>
        </p:nvSpPr>
        <p:spPr>
          <a:xfrm>
            <a:off x="5504688" y="3328416"/>
            <a:ext cx="2990088" cy="557784"/>
          </a:xfrm>
          <a:prstGeom prst="rect">
            <a:avLst/>
          </a:prstGeom>
          <a:solidFill>
            <a:srgbClr val="F1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6-v2 name"/>
          <p:cNvSpPr txBox="1"/>
          <p:nvPr/>
        </p:nvSpPr>
        <p:spPr>
          <a:xfrm>
            <a:off x="5623560" y="3483864"/>
            <a:ext cx="713232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E6-v2</a:t>
            </a:r>
          </a:p>
        </p:txBody>
      </p:sp>
      <p:sp>
        <p:nvSpPr>
          <p:cNvPr id="31" name="E6-v2 description"/>
          <p:cNvSpPr txBox="1"/>
          <p:nvPr/>
        </p:nvSpPr>
        <p:spPr>
          <a:xfrm>
            <a:off x="6367271" y="3363468"/>
            <a:ext cx="2491735" cy="50507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374357"/>
                </a:solidFill>
                <a:latin typeface="Aptos"/>
              </a:rPr>
              <a:t>Δεύτερο</a:t>
            </a:r>
            <a:r>
              <a:rPr sz="1600" b="0" dirty="0">
                <a:solidFill>
                  <a:srgbClr val="374357"/>
                </a:solidFill>
                <a:latin typeface="Aptos"/>
              </a:rPr>
              <a:t> NLI και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επιπ</a:t>
            </a:r>
            <a:r>
              <a:rPr sz="1600" b="0" dirty="0" err="1">
                <a:solidFill>
                  <a:srgbClr val="374357"/>
                </a:solidFill>
                <a:latin typeface="Aptos"/>
              </a:rPr>
              <a:t>λέον</a:t>
            </a:r>
            <a:r>
              <a:rPr sz="1600" b="0" dirty="0">
                <a:solidFill>
                  <a:srgbClr val="37435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374357"/>
                </a:solidFill>
                <a:latin typeface="Aptos"/>
              </a:rPr>
              <a:t>συγκρίσεις</a:t>
            </a:r>
            <a:endParaRPr sz="1600" b="0" dirty="0">
              <a:solidFill>
                <a:srgbClr val="374357"/>
              </a:solidFill>
              <a:latin typeface="Aptos"/>
            </a:endParaRPr>
          </a:p>
        </p:txBody>
      </p:sp>
      <p:cxnSp>
        <p:nvCxnSpPr>
          <p:cNvPr id="32" name="Connector"/>
          <p:cNvCxnSpPr/>
          <p:nvPr/>
        </p:nvCxnSpPr>
        <p:spPr>
          <a:xfrm>
            <a:off x="7008876" y="3895344"/>
            <a:ext cx="0" cy="91440"/>
          </a:xfrm>
          <a:prstGeom prst="line">
            <a:avLst/>
          </a:prstGeom>
          <a:ln w="15875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6-v3 background"/>
          <p:cNvSpPr/>
          <p:nvPr/>
        </p:nvSpPr>
        <p:spPr>
          <a:xfrm>
            <a:off x="5504688" y="3995928"/>
            <a:ext cx="2990088" cy="557784"/>
          </a:xfrm>
          <a:prstGeom prst="rect">
            <a:avLst/>
          </a:prstGeom>
          <a:solidFill>
            <a:srgbClr val="F1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6-v3 name"/>
          <p:cNvSpPr txBox="1"/>
          <p:nvPr/>
        </p:nvSpPr>
        <p:spPr>
          <a:xfrm>
            <a:off x="5623560" y="4151376"/>
            <a:ext cx="713232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E6-v3</a:t>
            </a:r>
          </a:p>
        </p:txBody>
      </p:sp>
      <p:sp>
        <p:nvSpPr>
          <p:cNvPr id="35" name="E6-v3 description"/>
          <p:cNvSpPr txBox="1"/>
          <p:nvPr/>
        </p:nvSpPr>
        <p:spPr>
          <a:xfrm>
            <a:off x="6367271" y="4122420"/>
            <a:ext cx="2491735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Χαρακτηριστικά HHEM</a:t>
            </a:r>
          </a:p>
        </p:txBody>
      </p:sp>
      <p:cxnSp>
        <p:nvCxnSpPr>
          <p:cNvPr id="36" name="Connector"/>
          <p:cNvCxnSpPr/>
          <p:nvPr/>
        </p:nvCxnSpPr>
        <p:spPr>
          <a:xfrm>
            <a:off x="7008876" y="4562856"/>
            <a:ext cx="0" cy="91440"/>
          </a:xfrm>
          <a:prstGeom prst="line">
            <a:avLst/>
          </a:prstGeom>
          <a:ln w="15875">
            <a:solidFill>
              <a:srgbClr val="8A7E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6-v4 background"/>
          <p:cNvSpPr/>
          <p:nvPr/>
        </p:nvSpPr>
        <p:spPr>
          <a:xfrm>
            <a:off x="5504688" y="4663440"/>
            <a:ext cx="2990088" cy="557784"/>
          </a:xfrm>
          <a:prstGeom prst="rect">
            <a:avLst/>
          </a:prstGeom>
          <a:solidFill>
            <a:srgbClr val="F1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E6-v4 name"/>
          <p:cNvSpPr txBox="1"/>
          <p:nvPr/>
        </p:nvSpPr>
        <p:spPr>
          <a:xfrm>
            <a:off x="5623560" y="4818888"/>
            <a:ext cx="713232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E6-v4</a:t>
            </a:r>
          </a:p>
        </p:txBody>
      </p:sp>
      <p:sp>
        <p:nvSpPr>
          <p:cNvPr id="39" name="E6-v4 description"/>
          <p:cNvSpPr txBox="1"/>
          <p:nvPr/>
        </p:nvSpPr>
        <p:spPr>
          <a:xfrm>
            <a:off x="6367271" y="4678172"/>
            <a:ext cx="2491735" cy="50507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BERTScore και δομικά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χαρακτηριστικά</a:t>
            </a:r>
          </a:p>
        </p:txBody>
      </p:sp>
      <p:sp>
        <p:nvSpPr>
          <p:cNvPr id="40" name="E7 agentic RAG"/>
          <p:cNvSpPr/>
          <p:nvPr/>
        </p:nvSpPr>
        <p:spPr>
          <a:xfrm>
            <a:off x="9162288" y="1719072"/>
            <a:ext cx="2624328" cy="1819656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7 agentic RAG accent"/>
          <p:cNvSpPr/>
          <p:nvPr/>
        </p:nvSpPr>
        <p:spPr>
          <a:xfrm>
            <a:off x="9162288" y="1719072"/>
            <a:ext cx="50292" cy="1819656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7 code"/>
          <p:cNvSpPr txBox="1"/>
          <p:nvPr/>
        </p:nvSpPr>
        <p:spPr>
          <a:xfrm>
            <a:off x="11499088" y="1684528"/>
            <a:ext cx="105156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43" name="E7 title"/>
          <p:cNvSpPr txBox="1"/>
          <p:nvPr/>
        </p:nvSpPr>
        <p:spPr>
          <a:xfrm>
            <a:off x="9345168" y="1770888"/>
            <a:ext cx="1821688" cy="7573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Επ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ιλεκτικό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Agentic</a:t>
            </a:r>
            <a:r>
              <a:rPr lang="en-GB" sz="24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RAG</a:t>
            </a:r>
          </a:p>
        </p:txBody>
      </p:sp>
      <p:sp>
        <p:nvSpPr>
          <p:cNvPr id="44" name="E7 description"/>
          <p:cNvSpPr txBox="1"/>
          <p:nvPr/>
        </p:nvSpPr>
        <p:spPr>
          <a:xfrm>
            <a:off x="9345167" y="2644648"/>
            <a:ext cx="2744727" cy="8561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l-GR" dirty="0">
                <a:solidFill>
                  <a:srgbClr val="374357"/>
                </a:solidFill>
                <a:latin typeface="Aptos"/>
              </a:rPr>
              <a:t>Δυναμική ε</a:t>
            </a:r>
            <a:r>
              <a:rPr b="0" dirty="0">
                <a:solidFill>
                  <a:srgbClr val="374357"/>
                </a:solidFill>
                <a:latin typeface="Aptos"/>
              </a:rPr>
              <a:t>π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ιλογή</a:t>
            </a:r>
            <a:r>
              <a:rPr b="0" dirty="0">
                <a:solidFill>
                  <a:srgbClr val="374357"/>
                </a:solidFill>
                <a:latin typeface="Aptos"/>
              </a:rPr>
              <a:t> π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ότε</a:t>
            </a:r>
            <a:r>
              <a:rPr b="0" dirty="0">
                <a:solidFill>
                  <a:srgbClr val="374357"/>
                </a:solidFill>
                <a:latin typeface="Aptos"/>
              </a:rPr>
              <a:t> α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ξιο</a:t>
            </a:r>
            <a:r>
              <a:rPr b="0" dirty="0">
                <a:solidFill>
                  <a:srgbClr val="374357"/>
                </a:solidFill>
                <a:latin typeface="Aptos"/>
              </a:rPr>
              <a:t>ποιείται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374357"/>
                </a:solidFill>
                <a:latin typeface="Aptos"/>
              </a:rPr>
              <a:t>εξωτερική</a:t>
            </a:r>
            <a:r>
              <a:rPr b="0" dirty="0">
                <a:solidFill>
                  <a:srgbClr val="374357"/>
                </a:solidFill>
                <a:latin typeface="Aptos"/>
              </a:rPr>
              <a:t> π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ληροφορί</a:t>
            </a:r>
            <a:r>
              <a:rPr b="0" dirty="0">
                <a:solidFill>
                  <a:srgbClr val="374357"/>
                </a:solidFill>
                <a:latin typeface="Aptos"/>
              </a:rPr>
              <a:t>α.</a:t>
            </a:r>
          </a:p>
        </p:txBody>
      </p:sp>
      <p:sp>
        <p:nvSpPr>
          <p:cNvPr id="45" name="E8 forest settings"/>
          <p:cNvSpPr/>
          <p:nvPr/>
        </p:nvSpPr>
        <p:spPr>
          <a:xfrm>
            <a:off x="9162288" y="3749039"/>
            <a:ext cx="2624328" cy="1545336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E8 forest settings accent"/>
          <p:cNvSpPr/>
          <p:nvPr/>
        </p:nvSpPr>
        <p:spPr>
          <a:xfrm>
            <a:off x="9162288" y="3749039"/>
            <a:ext cx="50292" cy="1545336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8 code"/>
          <p:cNvSpPr txBox="1"/>
          <p:nvPr/>
        </p:nvSpPr>
        <p:spPr>
          <a:xfrm>
            <a:off x="11488928" y="3716528"/>
            <a:ext cx="105156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48" name="E8 title"/>
          <p:cNvSpPr txBox="1"/>
          <p:nvPr/>
        </p:nvSpPr>
        <p:spPr>
          <a:xfrm>
            <a:off x="9345168" y="3795776"/>
            <a:ext cx="2240280" cy="7573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10243D"/>
                </a:solidFill>
                <a:latin typeface="Aptos"/>
              </a:rPr>
              <a:t>Ρυθμίσεις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Random</a:t>
            </a:r>
            <a:r>
              <a:rPr lang="en-GB" sz="24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Forest</a:t>
            </a:r>
          </a:p>
        </p:txBody>
      </p:sp>
      <p:sp>
        <p:nvSpPr>
          <p:cNvPr id="49" name="E8 description"/>
          <p:cNvSpPr txBox="1"/>
          <p:nvPr/>
        </p:nvSpPr>
        <p:spPr>
          <a:xfrm>
            <a:off x="9345168" y="4610608"/>
            <a:ext cx="2733524" cy="5681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Εναλλα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κτικές</a:t>
            </a:r>
            <a:r>
              <a:rPr b="0" dirty="0">
                <a:solidFill>
                  <a:srgbClr val="374357"/>
                </a:solidFill>
                <a:latin typeface="Aptos"/>
              </a:rPr>
              <a:t> 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ρυθμίσεις</a:t>
            </a:r>
            <a:endParaRPr b="0" dirty="0">
              <a:solidFill>
                <a:srgbClr val="374357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του μοντέλου.</a:t>
            </a:r>
          </a:p>
        </p:txBody>
      </p:sp>
      <p:sp>
        <p:nvSpPr>
          <p:cNvPr id="50" name="Experiment summaries heading"/>
          <p:cNvSpPr txBox="1"/>
          <p:nvPr/>
        </p:nvSpPr>
        <p:spPr>
          <a:xfrm>
            <a:off x="420624" y="5550408"/>
            <a:ext cx="8001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243D"/>
                </a:solidFill>
                <a:latin typeface="Aptos"/>
              </a:rPr>
              <a:t>Τι εξετάζει κάθε πείραμα;</a:t>
            </a:r>
          </a:p>
        </p:txBody>
      </p:sp>
      <p:sp>
        <p:nvSpPr>
          <p:cNvPr id="51" name="E5 footer accent"/>
          <p:cNvSpPr/>
          <p:nvPr/>
        </p:nvSpPr>
        <p:spPr>
          <a:xfrm>
            <a:off x="420624" y="6099048"/>
            <a:ext cx="45720" cy="48463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5 footer label"/>
          <p:cNvSpPr txBox="1"/>
          <p:nvPr/>
        </p:nvSpPr>
        <p:spPr>
          <a:xfrm>
            <a:off x="548640" y="6135624"/>
            <a:ext cx="512064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53" name="E5 footer explanation"/>
          <p:cNvSpPr txBox="1"/>
          <p:nvPr/>
        </p:nvSpPr>
        <p:spPr>
          <a:xfrm>
            <a:off x="1024128" y="6135624"/>
            <a:ext cx="2066543" cy="28315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dirty="0" err="1">
                <a:solidFill>
                  <a:srgbClr val="374357"/>
                </a:solidFill>
                <a:latin typeface="Aptos"/>
              </a:rPr>
              <a:t>Εξωτερικοί</a:t>
            </a:r>
            <a:r>
              <a:rPr sz="1820" b="0" dirty="0">
                <a:solidFill>
                  <a:srgbClr val="374357"/>
                </a:solidFill>
                <a:latin typeface="Aptos"/>
              </a:rPr>
              <a:t> </a:t>
            </a:r>
            <a:r>
              <a:rPr sz="1820" b="0" dirty="0" err="1">
                <a:solidFill>
                  <a:srgbClr val="374357"/>
                </a:solidFill>
                <a:latin typeface="Aptos"/>
              </a:rPr>
              <a:t>ορισμοί</a:t>
            </a:r>
            <a:endParaRPr sz="1820"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54" name="E6 footer accent"/>
          <p:cNvSpPr/>
          <p:nvPr/>
        </p:nvSpPr>
        <p:spPr>
          <a:xfrm>
            <a:off x="3236976" y="6099048"/>
            <a:ext cx="45720" cy="48463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6 footer label"/>
          <p:cNvSpPr txBox="1"/>
          <p:nvPr/>
        </p:nvSpPr>
        <p:spPr>
          <a:xfrm>
            <a:off x="3364992" y="6135624"/>
            <a:ext cx="512064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56" name="E6 footer explanation"/>
          <p:cNvSpPr txBox="1"/>
          <p:nvPr/>
        </p:nvSpPr>
        <p:spPr>
          <a:xfrm>
            <a:off x="3840480" y="6135624"/>
            <a:ext cx="2139696" cy="28315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374357"/>
                </a:solidFill>
                <a:latin typeface="Aptos"/>
              </a:rPr>
              <a:t>Νέα χαρακτηριστικά</a:t>
            </a:r>
          </a:p>
        </p:txBody>
      </p:sp>
      <p:sp>
        <p:nvSpPr>
          <p:cNvPr id="57" name="E7 footer accent"/>
          <p:cNvSpPr/>
          <p:nvPr/>
        </p:nvSpPr>
        <p:spPr>
          <a:xfrm>
            <a:off x="6108192" y="6099048"/>
            <a:ext cx="45720" cy="48463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7 footer label"/>
          <p:cNvSpPr txBox="1"/>
          <p:nvPr/>
        </p:nvSpPr>
        <p:spPr>
          <a:xfrm>
            <a:off x="6236207" y="6135624"/>
            <a:ext cx="512064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59" name="E7 footer explanation"/>
          <p:cNvSpPr txBox="1"/>
          <p:nvPr/>
        </p:nvSpPr>
        <p:spPr>
          <a:xfrm>
            <a:off x="6629400" y="6054344"/>
            <a:ext cx="2267711" cy="57445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820" b="0" dirty="0">
                <a:solidFill>
                  <a:srgbClr val="374357"/>
                </a:solidFill>
                <a:latin typeface="Aptos"/>
              </a:rPr>
              <a:t>Επιλεκτικό</a:t>
            </a:r>
            <a:r>
              <a:rPr sz="1820" b="0" dirty="0">
                <a:solidFill>
                  <a:srgbClr val="374357"/>
                </a:solidFill>
                <a:latin typeface="Aptos"/>
              </a:rPr>
              <a:t> Agentic RAG</a:t>
            </a:r>
          </a:p>
        </p:txBody>
      </p:sp>
      <p:sp>
        <p:nvSpPr>
          <p:cNvPr id="60" name="E8 footer accent"/>
          <p:cNvSpPr/>
          <p:nvPr/>
        </p:nvSpPr>
        <p:spPr>
          <a:xfrm>
            <a:off x="9025128" y="6099048"/>
            <a:ext cx="45720" cy="48463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E8 footer label"/>
          <p:cNvSpPr txBox="1"/>
          <p:nvPr/>
        </p:nvSpPr>
        <p:spPr>
          <a:xfrm>
            <a:off x="9153144" y="6135624"/>
            <a:ext cx="512064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62" name="E8 footer explanation"/>
          <p:cNvSpPr txBox="1"/>
          <p:nvPr/>
        </p:nvSpPr>
        <p:spPr>
          <a:xfrm>
            <a:off x="9628632" y="6054344"/>
            <a:ext cx="2093976" cy="57445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374357"/>
                </a:solidFill>
                <a:latin typeface="Aptos"/>
              </a:rPr>
              <a:t>Ρυθμίσεις Random Forest</a:t>
            </a:r>
          </a:p>
        </p:txBody>
      </p:sp>
      <p:sp>
        <p:nvSpPr>
          <p:cNvPr id="63" name="Page number"/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00" b="0" dirty="0">
                <a:solidFill>
                  <a:srgbClr val="677384"/>
                </a:solidFill>
                <a:latin typeface="Aptos"/>
              </a:rPr>
              <a:t>0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  <p:cxnSp>
        <p:nvCxnSpPr>
          <p:cNvPr id="78" name="Connector">
            <a:extLst>
              <a:ext uri="{FF2B5EF4-FFF2-40B4-BE49-F238E27FC236}">
                <a16:creationId xmlns:a16="http://schemas.microsoft.com/office/drawing/2014/main" id="{C52D321A-DE32-A2C8-645D-2E127B7DA6A9}"/>
              </a:ext>
            </a:extLst>
          </p:cNvPr>
          <p:cNvCxnSpPr>
            <a:cxnSpLocks/>
          </p:cNvCxnSpPr>
          <p:nvPr/>
        </p:nvCxnSpPr>
        <p:spPr>
          <a:xfrm>
            <a:off x="8668512" y="3484495"/>
            <a:ext cx="0" cy="1473200"/>
          </a:xfrm>
          <a:prstGeom prst="line">
            <a:avLst/>
          </a:prstGeom>
          <a:ln w="21590">
            <a:solidFill>
              <a:srgbClr val="8A7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">
            <a:extLst>
              <a:ext uri="{FF2B5EF4-FFF2-40B4-BE49-F238E27FC236}">
                <a16:creationId xmlns:a16="http://schemas.microsoft.com/office/drawing/2014/main" id="{D2C58FFC-10F6-BFA9-CFA0-047027B04373}"/>
              </a:ext>
            </a:extLst>
          </p:cNvPr>
          <p:cNvCxnSpPr>
            <a:cxnSpLocks/>
          </p:cNvCxnSpPr>
          <p:nvPr/>
        </p:nvCxnSpPr>
        <p:spPr>
          <a:xfrm>
            <a:off x="8479536" y="4949952"/>
            <a:ext cx="188976" cy="0"/>
          </a:xfrm>
          <a:prstGeom prst="line">
            <a:avLst/>
          </a:prstGeom>
          <a:ln w="21590">
            <a:solidFill>
              <a:srgbClr val="8A7E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78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Lavender top rule">
            <a:extLst>
              <a:ext uri="{FF2B5EF4-FFF2-40B4-BE49-F238E27FC236}">
                <a16:creationId xmlns:a16="http://schemas.microsoft.com/office/drawing/2014/main" id="{9F7686A3-9750-D044-8B08-0AECFE868961}"/>
              </a:ext>
            </a:extLst>
          </p:cNvPr>
          <p:cNvSpPr/>
          <p:nvPr/>
        </p:nvSpPr>
        <p:spPr>
          <a:xfrm>
            <a:off x="420624" y="1847088"/>
            <a:ext cx="3639312" cy="5029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Lavender top rule">
            <a:extLst>
              <a:ext uri="{FF2B5EF4-FFF2-40B4-BE49-F238E27FC236}">
                <a16:creationId xmlns:a16="http://schemas.microsoft.com/office/drawing/2014/main" id="{6AC615C9-FBD8-1027-49B6-BB2F4A36C73F}"/>
              </a:ext>
            </a:extLst>
          </p:cNvPr>
          <p:cNvSpPr/>
          <p:nvPr/>
        </p:nvSpPr>
        <p:spPr>
          <a:xfrm>
            <a:off x="4261104" y="1847088"/>
            <a:ext cx="3639312" cy="5029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Lavender top rule">
            <a:extLst>
              <a:ext uri="{FF2B5EF4-FFF2-40B4-BE49-F238E27FC236}">
                <a16:creationId xmlns:a16="http://schemas.microsoft.com/office/drawing/2014/main" id="{0B3E3B74-96CF-25EB-CE21-342EA6BEF748}"/>
              </a:ext>
            </a:extLst>
          </p:cNvPr>
          <p:cNvSpPr/>
          <p:nvPr/>
        </p:nvSpPr>
        <p:spPr>
          <a:xfrm>
            <a:off x="8101583" y="1847088"/>
            <a:ext cx="3639312" cy="50292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Column separator">
            <a:extLst>
              <a:ext uri="{FF2B5EF4-FFF2-40B4-BE49-F238E27FC236}">
                <a16:creationId xmlns:a16="http://schemas.microsoft.com/office/drawing/2014/main" id="{6CD72B9E-EDDF-4F55-96BE-A594C79443D2}"/>
              </a:ext>
            </a:extLst>
          </p:cNvPr>
          <p:cNvSpPr/>
          <p:nvPr/>
        </p:nvSpPr>
        <p:spPr>
          <a:xfrm>
            <a:off x="4133087" y="1874519"/>
            <a:ext cx="10972" cy="3593592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Column separator">
            <a:extLst>
              <a:ext uri="{FF2B5EF4-FFF2-40B4-BE49-F238E27FC236}">
                <a16:creationId xmlns:a16="http://schemas.microsoft.com/office/drawing/2014/main" id="{B39FF9A6-6638-2D33-FB3A-00072DDE1924}"/>
              </a:ext>
            </a:extLst>
          </p:cNvPr>
          <p:cNvSpPr/>
          <p:nvPr/>
        </p:nvSpPr>
        <p:spPr>
          <a:xfrm>
            <a:off x="7973568" y="1874519"/>
            <a:ext cx="10972" cy="3593592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External knowledge heading">
            <a:extLst>
              <a:ext uri="{FF2B5EF4-FFF2-40B4-BE49-F238E27FC236}">
                <a16:creationId xmlns:a16="http://schemas.microsoft.com/office/drawing/2014/main" id="{31883DC4-FCE8-2760-3013-ABCC176BE69C}"/>
              </a:ext>
            </a:extLst>
          </p:cNvPr>
          <p:cNvSpPr txBox="1"/>
          <p:nvPr/>
        </p:nvSpPr>
        <p:spPr>
          <a:xfrm>
            <a:off x="457200" y="2011680"/>
            <a:ext cx="34290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0243D"/>
                </a:solidFill>
                <a:latin typeface="Aptos"/>
              </a:rPr>
              <a:t>Εξωτερική</a:t>
            </a:r>
            <a:r>
              <a:rPr sz="2400" b="1" i="0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10243D"/>
                </a:solidFill>
                <a:latin typeface="Aptos"/>
              </a:rPr>
              <a:t>γνώση</a:t>
            </a:r>
            <a:endParaRPr sz="2400" b="1" i="0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232" name="External knowledge explanation">
            <a:extLst>
              <a:ext uri="{FF2B5EF4-FFF2-40B4-BE49-F238E27FC236}">
                <a16:creationId xmlns:a16="http://schemas.microsoft.com/office/drawing/2014/main" id="{90C7116D-75AF-BD0F-E60A-7C9B55B02C5F}"/>
              </a:ext>
            </a:extLst>
          </p:cNvPr>
          <p:cNvSpPr txBox="1"/>
          <p:nvPr/>
        </p:nvSpPr>
        <p:spPr>
          <a:xfrm>
            <a:off x="457200" y="3035808"/>
            <a:ext cx="3474720" cy="668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>
                <a:solidFill>
                  <a:srgbClr val="374357"/>
                </a:solidFill>
                <a:latin typeface="Aptos"/>
              </a:rPr>
              <a:t>Στο DM ανα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ζητούμε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ορισμούς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από το Wiktionary.</a:t>
            </a:r>
          </a:p>
        </p:txBody>
      </p:sp>
      <p:sp>
        <p:nvSpPr>
          <p:cNvPr id="234" name="MPNet explanation">
            <a:extLst>
              <a:ext uri="{FF2B5EF4-FFF2-40B4-BE49-F238E27FC236}">
                <a16:creationId xmlns:a16="http://schemas.microsoft.com/office/drawing/2014/main" id="{929392F4-8FDA-7250-DABE-0EA469B37C8E}"/>
              </a:ext>
            </a:extLst>
          </p:cNvPr>
          <p:cNvSpPr txBox="1"/>
          <p:nvPr/>
        </p:nvSpPr>
        <p:spPr>
          <a:xfrm>
            <a:off x="457200" y="3968496"/>
            <a:ext cx="3474720" cy="668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>
                <a:solidFill>
                  <a:srgbClr val="374357"/>
                </a:solidFill>
                <a:latin typeface="Aptos"/>
              </a:rPr>
              <a:t>Το MPNet εντοπ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ίζει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τους πιο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σχετικούς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ορισμούς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.</a:t>
            </a:r>
          </a:p>
        </p:txBody>
      </p:sp>
      <p:sp>
        <p:nvSpPr>
          <p:cNvPr id="236" name="RAG feature explanation">
            <a:extLst>
              <a:ext uri="{FF2B5EF4-FFF2-40B4-BE49-F238E27FC236}">
                <a16:creationId xmlns:a16="http://schemas.microsoft.com/office/drawing/2014/main" id="{85516369-286C-877E-2F2A-9B301BDBF642}"/>
              </a:ext>
            </a:extLst>
          </p:cNvPr>
          <p:cNvSpPr txBox="1"/>
          <p:nvPr/>
        </p:nvSpPr>
        <p:spPr>
          <a:xfrm>
            <a:off x="457200" y="4837176"/>
            <a:ext cx="3474720" cy="1010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>
                <a:solidFill>
                  <a:srgbClr val="374357"/>
                </a:solidFill>
                <a:latin typeface="Aptos"/>
              </a:rPr>
              <a:t>Η π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ληροφορί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α μετατρέπεται σε νέα αριθμητικά χαρακτηριστικά.</a:t>
            </a:r>
          </a:p>
        </p:txBody>
      </p:sp>
      <p:sp>
        <p:nvSpPr>
          <p:cNvPr id="238" name="New evaluation heading">
            <a:extLst>
              <a:ext uri="{FF2B5EF4-FFF2-40B4-BE49-F238E27FC236}">
                <a16:creationId xmlns:a16="http://schemas.microsoft.com/office/drawing/2014/main" id="{93757B28-30DC-A192-D7A7-CD0D8FCB16EF}"/>
              </a:ext>
            </a:extLst>
          </p:cNvPr>
          <p:cNvSpPr txBox="1"/>
          <p:nvPr/>
        </p:nvSpPr>
        <p:spPr>
          <a:xfrm>
            <a:off x="4297680" y="2011680"/>
            <a:ext cx="34290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0243D"/>
                </a:solidFill>
                <a:latin typeface="Aptos"/>
              </a:rPr>
              <a:t>Νέοι</a:t>
            </a:r>
            <a:r>
              <a:rPr sz="2400" b="1" i="0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10243D"/>
                </a:solidFill>
                <a:latin typeface="Aptos"/>
              </a:rPr>
              <a:t>έλεγχοι</a:t>
            </a:r>
            <a:endParaRPr sz="2400" b="1" i="0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242" name="v1 label">
            <a:extLst>
              <a:ext uri="{FF2B5EF4-FFF2-40B4-BE49-F238E27FC236}">
                <a16:creationId xmlns:a16="http://schemas.microsoft.com/office/drawing/2014/main" id="{15B658FD-76BD-A3C3-5397-91E45196492A}"/>
              </a:ext>
            </a:extLst>
          </p:cNvPr>
          <p:cNvSpPr txBox="1"/>
          <p:nvPr/>
        </p:nvSpPr>
        <p:spPr>
          <a:xfrm>
            <a:off x="4297680" y="3323336"/>
            <a:ext cx="64008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 dirty="0">
                <a:solidFill>
                  <a:srgbClr val="8A7EA8"/>
                </a:solidFill>
                <a:latin typeface="Aptos"/>
              </a:rPr>
              <a:t>v1</a:t>
            </a:r>
          </a:p>
        </p:txBody>
      </p:sp>
      <p:sp>
        <p:nvSpPr>
          <p:cNvPr id="244" name="v1 description">
            <a:extLst>
              <a:ext uri="{FF2B5EF4-FFF2-40B4-BE49-F238E27FC236}">
                <a16:creationId xmlns:a16="http://schemas.microsoft.com/office/drawing/2014/main" id="{C1D6D72E-EA1F-9FF5-0ADC-A511A730AD85}"/>
              </a:ext>
            </a:extLst>
          </p:cNvPr>
          <p:cNvSpPr txBox="1"/>
          <p:nvPr/>
        </p:nvSpPr>
        <p:spPr>
          <a:xfrm>
            <a:off x="5001768" y="3307516"/>
            <a:ext cx="281635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dirty="0"/>
              <a:t>Άμεση σύγκριση του hyp με </a:t>
            </a:r>
            <a:r>
              <a:rPr lang="en-GB" sz="2000" dirty="0" err="1"/>
              <a:t>εξωτερικό</a:t>
            </a:r>
            <a:r>
              <a:rPr lang="en-GB" sz="2000" dirty="0"/>
              <a:t> ορισμό.</a:t>
            </a:r>
            <a:endParaRPr sz="2000" b="0" i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246" name="v2 label">
            <a:extLst>
              <a:ext uri="{FF2B5EF4-FFF2-40B4-BE49-F238E27FC236}">
                <a16:creationId xmlns:a16="http://schemas.microsoft.com/office/drawing/2014/main" id="{9E547CD8-E084-8912-891F-9CABD8792182}"/>
              </a:ext>
            </a:extLst>
          </p:cNvPr>
          <p:cNvSpPr txBox="1"/>
          <p:nvPr/>
        </p:nvSpPr>
        <p:spPr>
          <a:xfrm>
            <a:off x="4297680" y="4063999"/>
            <a:ext cx="64008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>
                <a:solidFill>
                  <a:srgbClr val="8A7EA8"/>
                </a:solidFill>
                <a:latin typeface="Aptos"/>
              </a:rPr>
              <a:t>v2</a:t>
            </a:r>
          </a:p>
        </p:txBody>
      </p:sp>
      <p:sp>
        <p:nvSpPr>
          <p:cNvPr id="248" name="v2 description">
            <a:extLst>
              <a:ext uri="{FF2B5EF4-FFF2-40B4-BE49-F238E27FC236}">
                <a16:creationId xmlns:a16="http://schemas.microsoft.com/office/drawing/2014/main" id="{0529E3CB-3E26-6409-D7F0-C23520EFF3F7}"/>
              </a:ext>
            </a:extLst>
          </p:cNvPr>
          <p:cNvSpPr txBox="1"/>
          <p:nvPr/>
        </p:nvSpPr>
        <p:spPr>
          <a:xfrm>
            <a:off x="5001768" y="4017699"/>
            <a:ext cx="2816352" cy="668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 err="1">
                <a:solidFill>
                  <a:srgbClr val="374357"/>
                </a:solidFill>
                <a:latin typeface="Aptos"/>
              </a:rPr>
              <a:t>Δεύτερος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α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ξιολογητής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NLI</a:t>
            </a:r>
          </a:p>
        </p:txBody>
      </p:sp>
      <p:sp>
        <p:nvSpPr>
          <p:cNvPr id="250" name="v3 label">
            <a:extLst>
              <a:ext uri="{FF2B5EF4-FFF2-40B4-BE49-F238E27FC236}">
                <a16:creationId xmlns:a16="http://schemas.microsoft.com/office/drawing/2014/main" id="{78C6E100-33D5-88F3-96BC-359CB209F46C}"/>
              </a:ext>
            </a:extLst>
          </p:cNvPr>
          <p:cNvSpPr txBox="1"/>
          <p:nvPr/>
        </p:nvSpPr>
        <p:spPr>
          <a:xfrm>
            <a:off x="4297680" y="4804664"/>
            <a:ext cx="64008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>
                <a:solidFill>
                  <a:srgbClr val="8A7EA8"/>
                </a:solidFill>
                <a:latin typeface="Aptos"/>
              </a:rPr>
              <a:t>v3</a:t>
            </a:r>
          </a:p>
        </p:txBody>
      </p:sp>
      <p:sp>
        <p:nvSpPr>
          <p:cNvPr id="252" name="v3 description">
            <a:extLst>
              <a:ext uri="{FF2B5EF4-FFF2-40B4-BE49-F238E27FC236}">
                <a16:creationId xmlns:a16="http://schemas.microsoft.com/office/drawing/2014/main" id="{4654AC39-AF0B-1E19-039D-BB5CA1DF66E4}"/>
              </a:ext>
            </a:extLst>
          </p:cNvPr>
          <p:cNvSpPr txBox="1"/>
          <p:nvPr/>
        </p:nvSpPr>
        <p:spPr>
          <a:xfrm>
            <a:off x="5001767" y="4758364"/>
            <a:ext cx="2956863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GB" sz="2000" dirty="0"/>
              <a:t>HHEM: Έλεγχος αν η αναφορά υπ</a:t>
            </a:r>
            <a:r>
              <a:rPr lang="en-GB" sz="2000" dirty="0" err="1"/>
              <a:t>οστηρίζει</a:t>
            </a:r>
            <a:r>
              <a:rPr lang="en-GB" sz="2000" dirty="0"/>
              <a:t> το hyp.</a:t>
            </a:r>
          </a:p>
        </p:txBody>
      </p:sp>
      <p:sp>
        <p:nvSpPr>
          <p:cNvPr id="254" name="v4 label">
            <a:extLst>
              <a:ext uri="{FF2B5EF4-FFF2-40B4-BE49-F238E27FC236}">
                <a16:creationId xmlns:a16="http://schemas.microsoft.com/office/drawing/2014/main" id="{0CCA75B3-224B-9DFC-7B87-0849E59E24AF}"/>
              </a:ext>
            </a:extLst>
          </p:cNvPr>
          <p:cNvSpPr txBox="1"/>
          <p:nvPr/>
        </p:nvSpPr>
        <p:spPr>
          <a:xfrm>
            <a:off x="4297680" y="5700665"/>
            <a:ext cx="64008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 dirty="0">
                <a:solidFill>
                  <a:srgbClr val="8A7EA8"/>
                </a:solidFill>
                <a:latin typeface="Aptos"/>
              </a:rPr>
              <a:t>v4</a:t>
            </a:r>
          </a:p>
        </p:txBody>
      </p:sp>
      <p:sp>
        <p:nvSpPr>
          <p:cNvPr id="258" name="Alternative methods heading">
            <a:extLst>
              <a:ext uri="{FF2B5EF4-FFF2-40B4-BE49-F238E27FC236}">
                <a16:creationId xmlns:a16="http://schemas.microsoft.com/office/drawing/2014/main" id="{6EC00F80-8234-C7D4-4B49-568C684C3D9E}"/>
              </a:ext>
            </a:extLst>
          </p:cNvPr>
          <p:cNvSpPr txBox="1"/>
          <p:nvPr/>
        </p:nvSpPr>
        <p:spPr>
          <a:xfrm>
            <a:off x="8138160" y="201168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300" b="1" i="0">
                <a:solidFill>
                  <a:srgbClr val="10243D"/>
                </a:solidFill>
                <a:latin typeface="Aptos"/>
              </a:rPr>
              <a:t>Εναλλακτικές δοκιμές</a:t>
            </a:r>
          </a:p>
        </p:txBody>
      </p:sp>
      <p:sp>
        <p:nvSpPr>
          <p:cNvPr id="260" name="E7 heading">
            <a:extLst>
              <a:ext uri="{FF2B5EF4-FFF2-40B4-BE49-F238E27FC236}">
                <a16:creationId xmlns:a16="http://schemas.microsoft.com/office/drawing/2014/main" id="{AC46FEC2-135C-E5BD-8434-7E12F338CC0D}"/>
              </a:ext>
            </a:extLst>
          </p:cNvPr>
          <p:cNvSpPr txBox="1"/>
          <p:nvPr/>
        </p:nvSpPr>
        <p:spPr>
          <a:xfrm>
            <a:off x="8138160" y="2685328"/>
            <a:ext cx="347472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 dirty="0">
                <a:solidFill>
                  <a:srgbClr val="8A7EA8"/>
                </a:solidFill>
                <a:latin typeface="Aptos"/>
              </a:rPr>
              <a:t>E7 · Επ</a:t>
            </a:r>
            <a:r>
              <a:rPr sz="2000" b="1" i="0" dirty="0" err="1">
                <a:solidFill>
                  <a:srgbClr val="8A7EA8"/>
                </a:solidFill>
                <a:latin typeface="Aptos"/>
              </a:rPr>
              <a:t>ιλεκτικό</a:t>
            </a:r>
            <a:r>
              <a:rPr sz="2000" b="1" i="0" dirty="0">
                <a:solidFill>
                  <a:srgbClr val="8A7EA8"/>
                </a:solidFill>
                <a:latin typeface="Aptos"/>
              </a:rPr>
              <a:t> Agentic RAG</a:t>
            </a:r>
          </a:p>
        </p:txBody>
      </p:sp>
      <p:sp>
        <p:nvSpPr>
          <p:cNvPr id="262" name="E7 explanation">
            <a:extLst>
              <a:ext uri="{FF2B5EF4-FFF2-40B4-BE49-F238E27FC236}">
                <a16:creationId xmlns:a16="http://schemas.microsoft.com/office/drawing/2014/main" id="{5DBF0FF1-5A57-2963-9BAE-83176B4AB7D9}"/>
              </a:ext>
            </a:extLst>
          </p:cNvPr>
          <p:cNvSpPr txBox="1"/>
          <p:nvPr/>
        </p:nvSpPr>
        <p:spPr>
          <a:xfrm>
            <a:off x="8138160" y="3154100"/>
            <a:ext cx="3502152" cy="1352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>
                <a:solidFill>
                  <a:srgbClr val="374357"/>
                </a:solidFill>
                <a:latin typeface="Aptos"/>
              </a:rPr>
              <a:t>Απ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λός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κανόνας επ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ιλέγει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την πρόβλεψη του E3 ή του E6-v1, με βάση την ανα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κτημένη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π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ληροφορί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α.</a:t>
            </a:r>
          </a:p>
        </p:txBody>
      </p:sp>
      <p:sp>
        <p:nvSpPr>
          <p:cNvPr id="266" name="E8 heading">
            <a:extLst>
              <a:ext uri="{FF2B5EF4-FFF2-40B4-BE49-F238E27FC236}">
                <a16:creationId xmlns:a16="http://schemas.microsoft.com/office/drawing/2014/main" id="{710BDB79-2DF9-FCBA-AA33-B1D975E29DDC}"/>
              </a:ext>
            </a:extLst>
          </p:cNvPr>
          <p:cNvSpPr txBox="1"/>
          <p:nvPr/>
        </p:nvSpPr>
        <p:spPr>
          <a:xfrm>
            <a:off x="8138160" y="4736632"/>
            <a:ext cx="347472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1" i="0" dirty="0">
                <a:solidFill>
                  <a:srgbClr val="8A7EA8"/>
                </a:solidFill>
                <a:latin typeface="Aptos"/>
              </a:rPr>
              <a:t>E8 · </a:t>
            </a:r>
            <a:r>
              <a:rPr sz="2000" b="1" i="0" dirty="0" err="1">
                <a:solidFill>
                  <a:srgbClr val="8A7EA8"/>
                </a:solidFill>
                <a:latin typeface="Aptos"/>
              </a:rPr>
              <a:t>Ρυθμίσεις</a:t>
            </a:r>
            <a:r>
              <a:rPr sz="2000" b="1" i="0" dirty="0">
                <a:solidFill>
                  <a:srgbClr val="8A7EA8"/>
                </a:solidFill>
                <a:latin typeface="Aptos"/>
              </a:rPr>
              <a:t> Random Forest</a:t>
            </a:r>
          </a:p>
        </p:txBody>
      </p:sp>
      <p:sp>
        <p:nvSpPr>
          <p:cNvPr id="268" name="E8 explanation">
            <a:extLst>
              <a:ext uri="{FF2B5EF4-FFF2-40B4-BE49-F238E27FC236}">
                <a16:creationId xmlns:a16="http://schemas.microsoft.com/office/drawing/2014/main" id="{75252217-245D-6EE1-F22F-EFD69DC63257}"/>
              </a:ext>
            </a:extLst>
          </p:cNvPr>
          <p:cNvSpPr txBox="1"/>
          <p:nvPr/>
        </p:nvSpPr>
        <p:spPr>
          <a:xfrm>
            <a:off x="8138160" y="5187116"/>
            <a:ext cx="3493008" cy="1010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 err="1">
                <a:solidFill>
                  <a:srgbClr val="374357"/>
                </a:solidFill>
                <a:latin typeface="Aptos"/>
              </a:rPr>
              <a:t>Δοκιμάζουμε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άλλες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ρυθμίσεις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, διατηρώντας τα χαρακτηριστικά του E6-v1.</a:t>
            </a:r>
          </a:p>
        </p:txBody>
      </p:sp>
      <p:sp>
        <p:nvSpPr>
          <p:cNvPr id="276" name="Slide number">
            <a:extLst>
              <a:ext uri="{FF2B5EF4-FFF2-40B4-BE49-F238E27FC236}">
                <a16:creationId xmlns:a16="http://schemas.microsoft.com/office/drawing/2014/main" id="{07263682-8770-CE25-3506-6F9F58C7DA85}"/>
              </a:ext>
            </a:extLst>
          </p:cNvPr>
          <p:cNvSpPr txBox="1"/>
          <p:nvPr/>
        </p:nvSpPr>
        <p:spPr>
          <a:xfrm>
            <a:off x="11411712" y="6519672"/>
            <a:ext cx="320040" cy="220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1000"/>
              </a:lnSpc>
              <a:spcAft>
                <a:spcPts val="0"/>
              </a:spcAft>
            </a:pPr>
            <a:r>
              <a:rPr sz="1350" b="0" i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50" b="0" i="0" dirty="0">
                <a:solidFill>
                  <a:srgbClr val="677384"/>
                </a:solidFill>
                <a:latin typeface="Aptos"/>
              </a:rPr>
              <a:t>1</a:t>
            </a:r>
            <a:endParaRPr sz="1350" b="0" i="0" dirty="0">
              <a:solidFill>
                <a:srgbClr val="677384"/>
              </a:solidFill>
              <a:latin typeface="Aptos"/>
            </a:endParaRPr>
          </a:p>
        </p:txBody>
      </p:sp>
      <p:sp>
        <p:nvSpPr>
          <p:cNvPr id="278" name="Slide title">
            <a:extLst>
              <a:ext uri="{FF2B5EF4-FFF2-40B4-BE49-F238E27FC236}">
                <a16:creationId xmlns:a16="http://schemas.microsoft.com/office/drawing/2014/main" id="{AAC6E2B1-6EC6-DC9A-2F5D-FA6F5B4D534C}"/>
              </a:ext>
            </a:extLst>
          </p:cNvPr>
          <p:cNvSpPr txBox="1"/>
          <p:nvPr/>
        </p:nvSpPr>
        <p:spPr>
          <a:xfrm>
            <a:off x="411480" y="256032"/>
            <a:ext cx="9528048" cy="490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1000"/>
              </a:lnSpc>
            </a:pPr>
            <a:r>
              <a:rPr lang="el-GR" sz="3000" b="1" dirty="0">
                <a:solidFill>
                  <a:srgbClr val="10243D"/>
                </a:solidFill>
              </a:rPr>
              <a:t>Τι προσθέσαμε στη 2η πειραματική φάση;</a:t>
            </a:r>
          </a:p>
        </p:txBody>
      </p:sp>
      <p:sp>
        <p:nvSpPr>
          <p:cNvPr id="280" name="Introduction">
            <a:extLst>
              <a:ext uri="{FF2B5EF4-FFF2-40B4-BE49-F238E27FC236}">
                <a16:creationId xmlns:a16="http://schemas.microsoft.com/office/drawing/2014/main" id="{0D4B484B-F666-182E-99C1-BAD6726FD94C}"/>
              </a:ext>
            </a:extLst>
          </p:cNvPr>
          <p:cNvSpPr>
            <a:spLocks noGrp="1"/>
          </p:cNvSpPr>
          <p:nvPr/>
        </p:nvSpPr>
        <p:spPr>
          <a:xfrm>
            <a:off x="438911" y="652292"/>
            <a:ext cx="10634471" cy="5308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Εξωτερική γνώση, νέοι σημασιολογικοί έλεγχοι και εναλλακτικές δοκιμές.</a:t>
            </a:r>
          </a:p>
        </p:txBody>
      </p:sp>
      <p:pic>
        <p:nvPicPr>
          <p:cNvPr id="290" name="Graphic 289" descr="Clipboard Checked with solid fill">
            <a:extLst>
              <a:ext uri="{FF2B5EF4-FFF2-40B4-BE49-F238E27FC236}">
                <a16:creationId xmlns:a16="http://schemas.microsoft.com/office/drawing/2014/main" id="{A3E32BE6-7E44-63D8-7440-CDDD2ACE6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7212" y="1957515"/>
            <a:ext cx="718716" cy="718716"/>
          </a:xfrm>
          <a:prstGeom prst="rect">
            <a:avLst/>
          </a:prstGeom>
        </p:spPr>
      </p:pic>
      <p:pic>
        <p:nvPicPr>
          <p:cNvPr id="292" name="Graphic 291" descr="Hierarchy outline">
            <a:extLst>
              <a:ext uri="{FF2B5EF4-FFF2-40B4-BE49-F238E27FC236}">
                <a16:creationId xmlns:a16="http://schemas.microsoft.com/office/drawing/2014/main" id="{A705E5D2-C43A-2E8F-60B2-8F99BBAC2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8666" y="5979462"/>
            <a:ext cx="574542" cy="574542"/>
          </a:xfrm>
          <a:prstGeom prst="rect">
            <a:avLst/>
          </a:prstGeom>
        </p:spPr>
      </p:pic>
      <p:pic>
        <p:nvPicPr>
          <p:cNvPr id="296" name="Graphic 295" descr="Single gear outline">
            <a:extLst>
              <a:ext uri="{FF2B5EF4-FFF2-40B4-BE49-F238E27FC236}">
                <a16:creationId xmlns:a16="http://schemas.microsoft.com/office/drawing/2014/main" id="{CB778067-8DEC-9983-9A56-9D70E81C1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16006" y="5217156"/>
            <a:ext cx="454860" cy="454860"/>
          </a:xfrm>
          <a:prstGeom prst="rect">
            <a:avLst/>
          </a:prstGeom>
        </p:spPr>
      </p:pic>
      <p:sp>
        <p:nvSpPr>
          <p:cNvPr id="298" name="Phase code">
            <a:extLst>
              <a:ext uri="{FF2B5EF4-FFF2-40B4-BE49-F238E27FC236}">
                <a16:creationId xmlns:a16="http://schemas.microsoft.com/office/drawing/2014/main" id="{18DB9775-0520-345E-22C6-F8028B96A684}"/>
              </a:ext>
            </a:extLst>
          </p:cNvPr>
          <p:cNvSpPr txBox="1"/>
          <p:nvPr/>
        </p:nvSpPr>
        <p:spPr>
          <a:xfrm>
            <a:off x="10825480" y="312928"/>
            <a:ext cx="987552" cy="2834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E5–E8</a:t>
            </a:r>
          </a:p>
        </p:txBody>
      </p:sp>
      <p:pic>
        <p:nvPicPr>
          <p:cNvPr id="300" name="Graphic 299" descr="Single gear outline">
            <a:extLst>
              <a:ext uri="{FF2B5EF4-FFF2-40B4-BE49-F238E27FC236}">
                <a16:creationId xmlns:a16="http://schemas.microsoft.com/office/drawing/2014/main" id="{1B57F99A-7664-814A-A64B-3A1C69904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437" y="5127350"/>
            <a:ext cx="347826" cy="347826"/>
          </a:xfrm>
          <a:prstGeom prst="rect">
            <a:avLst/>
          </a:prstGeom>
        </p:spPr>
      </p:pic>
      <p:pic>
        <p:nvPicPr>
          <p:cNvPr id="294" name="Graphic 293" descr="Fir tree outline">
            <a:extLst>
              <a:ext uri="{FF2B5EF4-FFF2-40B4-BE49-F238E27FC236}">
                <a16:creationId xmlns:a16="http://schemas.microsoft.com/office/drawing/2014/main" id="{E79F7D71-5864-CAD2-6F87-9F8A2A875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30076" y="5323130"/>
            <a:ext cx="718716" cy="718716"/>
          </a:xfrm>
          <a:prstGeom prst="rect">
            <a:avLst/>
          </a:prstGeom>
        </p:spPr>
      </p:pic>
      <p:sp>
        <p:nvSpPr>
          <p:cNvPr id="301" name="Oval 300">
            <a:extLst>
              <a:ext uri="{FF2B5EF4-FFF2-40B4-BE49-F238E27FC236}">
                <a16:creationId xmlns:a16="http://schemas.microsoft.com/office/drawing/2014/main" id="{D8A0AD36-1D2B-4EB2-BF79-AD677050A1C9}"/>
              </a:ext>
            </a:extLst>
          </p:cNvPr>
          <p:cNvSpPr/>
          <p:nvPr/>
        </p:nvSpPr>
        <p:spPr>
          <a:xfrm>
            <a:off x="11863832" y="5390888"/>
            <a:ext cx="45719" cy="221996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FE9DB074-4588-F143-F616-5A011C09B3B0}"/>
              </a:ext>
            </a:extLst>
          </p:cNvPr>
          <p:cNvSpPr/>
          <p:nvPr/>
        </p:nvSpPr>
        <p:spPr>
          <a:xfrm>
            <a:off x="11850291" y="5414351"/>
            <a:ext cx="90119" cy="163053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A61D37A2-3447-04C7-9551-59DE4B68DF02}"/>
              </a:ext>
            </a:extLst>
          </p:cNvPr>
          <p:cNvSpPr/>
          <p:nvPr/>
        </p:nvSpPr>
        <p:spPr>
          <a:xfrm>
            <a:off x="11817525" y="5524367"/>
            <a:ext cx="56388" cy="64720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79485187-A543-D743-5545-FB1EFE697E27}"/>
              </a:ext>
            </a:extLst>
          </p:cNvPr>
          <p:cNvSpPr/>
          <p:nvPr/>
        </p:nvSpPr>
        <p:spPr>
          <a:xfrm>
            <a:off x="11868227" y="5380605"/>
            <a:ext cx="45719" cy="221996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F5518D8F-811A-D328-0E92-9CD5101E68CD}"/>
              </a:ext>
            </a:extLst>
          </p:cNvPr>
          <p:cNvSpPr/>
          <p:nvPr/>
        </p:nvSpPr>
        <p:spPr>
          <a:xfrm>
            <a:off x="11848106" y="5405120"/>
            <a:ext cx="45719" cy="221996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F2F4BB4-0A87-93FE-AA80-8E05614E5C21}"/>
              </a:ext>
            </a:extLst>
          </p:cNvPr>
          <p:cNvSpPr/>
          <p:nvPr/>
        </p:nvSpPr>
        <p:spPr>
          <a:xfrm>
            <a:off x="11867405" y="5393563"/>
            <a:ext cx="45719" cy="221996"/>
          </a:xfrm>
          <a:prstGeom prst="ellips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Isosceles Triangle 315">
            <a:extLst>
              <a:ext uri="{FF2B5EF4-FFF2-40B4-BE49-F238E27FC236}">
                <a16:creationId xmlns:a16="http://schemas.microsoft.com/office/drawing/2014/main" id="{E268A672-6F57-2404-F926-CD3CA36BDD12}"/>
              </a:ext>
            </a:extLst>
          </p:cNvPr>
          <p:cNvSpPr/>
          <p:nvPr/>
        </p:nvSpPr>
        <p:spPr>
          <a:xfrm>
            <a:off x="11858116" y="5372985"/>
            <a:ext cx="63345" cy="45719"/>
          </a:xfrm>
          <a:prstGeom prst="triangl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8" name="Isosceles Triangle 317">
            <a:extLst>
              <a:ext uri="{FF2B5EF4-FFF2-40B4-BE49-F238E27FC236}">
                <a16:creationId xmlns:a16="http://schemas.microsoft.com/office/drawing/2014/main" id="{126E798D-942E-71F2-085B-C39C3FF2DA95}"/>
              </a:ext>
            </a:extLst>
          </p:cNvPr>
          <p:cNvSpPr/>
          <p:nvPr/>
        </p:nvSpPr>
        <p:spPr>
          <a:xfrm>
            <a:off x="11877166" y="5407275"/>
            <a:ext cx="63345" cy="45719"/>
          </a:xfrm>
          <a:prstGeom prst="triangl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0" name="Isosceles Triangle 319">
            <a:extLst>
              <a:ext uri="{FF2B5EF4-FFF2-40B4-BE49-F238E27FC236}">
                <a16:creationId xmlns:a16="http://schemas.microsoft.com/office/drawing/2014/main" id="{C90E61CE-9346-4521-0AA4-C5779D7079CF}"/>
              </a:ext>
            </a:extLst>
          </p:cNvPr>
          <p:cNvSpPr/>
          <p:nvPr/>
        </p:nvSpPr>
        <p:spPr>
          <a:xfrm>
            <a:off x="11779710" y="5343144"/>
            <a:ext cx="68396" cy="57693"/>
          </a:xfrm>
          <a:prstGeom prst="triangl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2" name="Isosceles Triangle 321">
            <a:extLst>
              <a:ext uri="{FF2B5EF4-FFF2-40B4-BE49-F238E27FC236}">
                <a16:creationId xmlns:a16="http://schemas.microsoft.com/office/drawing/2014/main" id="{AB4F6586-E937-AAF2-2C9C-69E425168268}"/>
              </a:ext>
            </a:extLst>
          </p:cNvPr>
          <p:cNvSpPr/>
          <p:nvPr/>
        </p:nvSpPr>
        <p:spPr>
          <a:xfrm rot="3893922">
            <a:off x="11775133" y="5328350"/>
            <a:ext cx="63345" cy="45719"/>
          </a:xfrm>
          <a:prstGeom prst="triangl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4" name="Isosceles Triangle 323">
            <a:extLst>
              <a:ext uri="{FF2B5EF4-FFF2-40B4-BE49-F238E27FC236}">
                <a16:creationId xmlns:a16="http://schemas.microsoft.com/office/drawing/2014/main" id="{0AF7E02F-5206-2810-E343-F61C1F7D12FC}"/>
              </a:ext>
            </a:extLst>
          </p:cNvPr>
          <p:cNvSpPr/>
          <p:nvPr/>
        </p:nvSpPr>
        <p:spPr>
          <a:xfrm rot="1749286">
            <a:off x="11817323" y="5351547"/>
            <a:ext cx="45719" cy="45719"/>
          </a:xfrm>
          <a:prstGeom prst="triangle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6" name="Column separator">
            <a:extLst>
              <a:ext uri="{FF2B5EF4-FFF2-40B4-BE49-F238E27FC236}">
                <a16:creationId xmlns:a16="http://schemas.microsoft.com/office/drawing/2014/main" id="{47A13332-E6C8-F11F-A75E-69697C0ED1D6}"/>
              </a:ext>
            </a:extLst>
          </p:cNvPr>
          <p:cNvSpPr/>
          <p:nvPr/>
        </p:nvSpPr>
        <p:spPr>
          <a:xfrm>
            <a:off x="4131907" y="2881375"/>
            <a:ext cx="10972" cy="3593592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Column separator">
            <a:extLst>
              <a:ext uri="{FF2B5EF4-FFF2-40B4-BE49-F238E27FC236}">
                <a16:creationId xmlns:a16="http://schemas.microsoft.com/office/drawing/2014/main" id="{CEF8E747-6ACF-DF86-CF43-C63BCEFE088E}"/>
              </a:ext>
            </a:extLst>
          </p:cNvPr>
          <p:cNvSpPr/>
          <p:nvPr/>
        </p:nvSpPr>
        <p:spPr>
          <a:xfrm>
            <a:off x="7973568" y="2906267"/>
            <a:ext cx="10972" cy="3593592"/>
          </a:xfrm>
          <a:prstGeom prst="rect">
            <a:avLst/>
          </a:prstGeom>
          <a:solidFill>
            <a:srgbClr val="C8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E7 heading">
            <a:extLst>
              <a:ext uri="{FF2B5EF4-FFF2-40B4-BE49-F238E27FC236}">
                <a16:creationId xmlns:a16="http://schemas.microsoft.com/office/drawing/2014/main" id="{5886903D-8FCF-3F0A-B8A4-8D30BC458387}"/>
              </a:ext>
            </a:extLst>
          </p:cNvPr>
          <p:cNvSpPr txBox="1"/>
          <p:nvPr/>
        </p:nvSpPr>
        <p:spPr>
          <a:xfrm>
            <a:off x="4297680" y="2471968"/>
            <a:ext cx="3474720" cy="668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lang="en-GB" sz="2000" b="1" i="0" dirty="0">
                <a:solidFill>
                  <a:srgbClr val="8A7EA8"/>
                </a:solidFill>
                <a:latin typeface="Aptos"/>
              </a:rPr>
              <a:t>E6 · </a:t>
            </a:r>
            <a:r>
              <a:rPr lang="el-GR" sz="2000" b="1" i="0" dirty="0">
                <a:solidFill>
                  <a:srgbClr val="8A7EA8"/>
                </a:solidFill>
                <a:latin typeface="Aptos"/>
              </a:rPr>
              <a:t>Διαδοχική προσθήκη χαρακτηριστικών</a:t>
            </a:r>
          </a:p>
        </p:txBody>
      </p:sp>
      <p:sp>
        <p:nvSpPr>
          <p:cNvPr id="338" name="E7 heading">
            <a:extLst>
              <a:ext uri="{FF2B5EF4-FFF2-40B4-BE49-F238E27FC236}">
                <a16:creationId xmlns:a16="http://schemas.microsoft.com/office/drawing/2014/main" id="{EA4DE096-716D-3CF0-DE1F-588F90AEB789}"/>
              </a:ext>
            </a:extLst>
          </p:cNvPr>
          <p:cNvSpPr txBox="1"/>
          <p:nvPr/>
        </p:nvSpPr>
        <p:spPr>
          <a:xfrm>
            <a:off x="467360" y="2512608"/>
            <a:ext cx="3474720" cy="32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lang="en-GB" sz="2000" b="1" i="0" dirty="0">
                <a:solidFill>
                  <a:srgbClr val="8A7EA8"/>
                </a:solidFill>
                <a:latin typeface="Aptos"/>
              </a:rPr>
              <a:t>E5 · RAG / Wiktionary</a:t>
            </a:r>
          </a:p>
        </p:txBody>
      </p:sp>
      <p:sp>
        <p:nvSpPr>
          <p:cNvPr id="256" name="v4 description">
            <a:extLst>
              <a:ext uri="{FF2B5EF4-FFF2-40B4-BE49-F238E27FC236}">
                <a16:creationId xmlns:a16="http://schemas.microsoft.com/office/drawing/2014/main" id="{1D983389-A6FA-CADA-CA1B-A97BF469BF63}"/>
              </a:ext>
            </a:extLst>
          </p:cNvPr>
          <p:cNvSpPr txBox="1"/>
          <p:nvPr/>
        </p:nvSpPr>
        <p:spPr>
          <a:xfrm>
            <a:off x="5001768" y="5654365"/>
            <a:ext cx="2816352" cy="668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2000" b="0" i="0" dirty="0">
                <a:solidFill>
                  <a:srgbClr val="374357"/>
                </a:solidFill>
                <a:latin typeface="Aptos"/>
              </a:rPr>
              <a:t>BERTScore και </a:t>
            </a:r>
            <a:r>
              <a:rPr sz="2000" b="0" i="0" dirty="0" err="1">
                <a:solidFill>
                  <a:srgbClr val="374357"/>
                </a:solidFill>
                <a:latin typeface="Aptos"/>
              </a:rPr>
              <a:t>δομικές</a:t>
            </a:r>
            <a:r>
              <a:rPr sz="2000" b="0" i="0" dirty="0">
                <a:solidFill>
                  <a:srgbClr val="374357"/>
                </a:solidFill>
                <a:latin typeface="Aptos"/>
              </a:rPr>
              <a:t> διαφορές</a:t>
            </a:r>
          </a:p>
        </p:txBody>
      </p:sp>
      <p:pic>
        <p:nvPicPr>
          <p:cNvPr id="342" name="Graphic 341" descr="World with solid fill">
            <a:extLst>
              <a:ext uri="{FF2B5EF4-FFF2-40B4-BE49-F238E27FC236}">
                <a16:creationId xmlns:a16="http://schemas.microsoft.com/office/drawing/2014/main" id="{B331A77F-5ADC-CC36-1C2F-313FCDB8AA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9654" y="1964066"/>
            <a:ext cx="685537" cy="685537"/>
          </a:xfrm>
          <a:prstGeom prst="rect">
            <a:avLst/>
          </a:prstGeom>
        </p:spPr>
      </p:pic>
      <p:pic>
        <p:nvPicPr>
          <p:cNvPr id="346" name="Graphic 345" descr="Detective male with solid fill">
            <a:extLst>
              <a:ext uri="{FF2B5EF4-FFF2-40B4-BE49-F238E27FC236}">
                <a16:creationId xmlns:a16="http://schemas.microsoft.com/office/drawing/2014/main" id="{193596DE-0911-0201-4F40-1242C65E4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9108" y="2828790"/>
            <a:ext cx="618341" cy="6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9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hase 1 card">
            <a:extLst>
              <a:ext uri="{FF2B5EF4-FFF2-40B4-BE49-F238E27FC236}">
                <a16:creationId xmlns:a16="http://schemas.microsoft.com/office/drawing/2014/main" id="{0399415F-9799-63C8-7E10-FCD6BDAC51DE}"/>
              </a:ext>
            </a:extLst>
          </p:cNvPr>
          <p:cNvSpPr/>
          <p:nvPr/>
        </p:nvSpPr>
        <p:spPr>
          <a:xfrm>
            <a:off x="393192" y="1566376"/>
            <a:ext cx="3474720" cy="4919472"/>
          </a:xfrm>
          <a:prstGeom prst="rect">
            <a:avLst/>
          </a:prstGeom>
          <a:solidFill>
            <a:srgbClr val="EEF3F8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Phase 1 vertical accent">
            <a:extLst>
              <a:ext uri="{FF2B5EF4-FFF2-40B4-BE49-F238E27FC236}">
                <a16:creationId xmlns:a16="http://schemas.microsoft.com/office/drawing/2014/main" id="{E1F9194E-37D0-861C-8D92-50367BDB0A96}"/>
              </a:ext>
            </a:extLst>
          </p:cNvPr>
          <p:cNvSpPr/>
          <p:nvPr/>
        </p:nvSpPr>
        <p:spPr>
          <a:xfrm>
            <a:off x="548640" y="1566376"/>
            <a:ext cx="57607" cy="4919472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Phase 1 horizontal accent">
            <a:extLst>
              <a:ext uri="{FF2B5EF4-FFF2-40B4-BE49-F238E27FC236}">
                <a16:creationId xmlns:a16="http://schemas.microsoft.com/office/drawing/2014/main" id="{8EF84219-2C1B-C188-C381-C79C1B6DF46B}"/>
              </a:ext>
            </a:extLst>
          </p:cNvPr>
          <p:cNvSpPr/>
          <p:nvPr/>
        </p:nvSpPr>
        <p:spPr>
          <a:xfrm>
            <a:off x="393192" y="2563072"/>
            <a:ext cx="3474720" cy="57607"/>
          </a:xfrm>
          <a:prstGeom prst="rect">
            <a:avLst/>
          </a:prstGeom>
          <a:solidFill>
            <a:srgbClr val="6A8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129923-93AD-1595-709E-763781A3B98A}"/>
              </a:ext>
            </a:extLst>
          </p:cNvPr>
          <p:cNvSpPr txBox="1"/>
          <p:nvPr/>
        </p:nvSpPr>
        <p:spPr>
          <a:xfrm>
            <a:off x="740664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1η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 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7CF5C4-41E8-80C2-523F-7CBC608A847F}"/>
              </a:ext>
            </a:extLst>
          </p:cNvPr>
          <p:cNvSpPr txBox="1"/>
          <p:nvPr/>
        </p:nvSpPr>
        <p:spPr>
          <a:xfrm>
            <a:off x="740664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Αρχική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μέθοδος</a:t>
            </a:r>
          </a:p>
        </p:txBody>
      </p:sp>
      <p:sp>
        <p:nvSpPr>
          <p:cNvPr id="75" name="E1">
            <a:extLst>
              <a:ext uri="{FF2B5EF4-FFF2-40B4-BE49-F238E27FC236}">
                <a16:creationId xmlns:a16="http://schemas.microsoft.com/office/drawing/2014/main" id="{3A9BBF60-30D9-43C7-C681-5ACEB6D79924}"/>
              </a:ext>
            </a:extLst>
          </p:cNvPr>
          <p:cNvSpPr txBox="1"/>
          <p:nvPr/>
        </p:nvSpPr>
        <p:spPr>
          <a:xfrm>
            <a:off x="722376" y="2791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E1</a:t>
            </a:r>
          </a:p>
        </p:txBody>
      </p:sp>
      <p:sp>
        <p:nvSpPr>
          <p:cNvPr id="77" name="E1 research summary">
            <a:extLst>
              <a:ext uri="{FF2B5EF4-FFF2-40B4-BE49-F238E27FC236}">
                <a16:creationId xmlns:a16="http://schemas.microsoft.com/office/drawing/2014/main" id="{CCB33467-3132-B523-9ED8-08F40485FD61}"/>
              </a:ext>
            </a:extLst>
          </p:cNvPr>
          <p:cNvSpPr txBox="1"/>
          <p:nvPr/>
        </p:nvSpPr>
        <p:spPr>
          <a:xfrm>
            <a:off x="1344168" y="2773384"/>
            <a:ext cx="2276856" cy="630942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Χαρακτηριστικά </a:t>
            </a:r>
            <a:endParaRPr lang="el-GR" sz="2050" b="0" dirty="0">
              <a:solidFill>
                <a:srgbClr val="374357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NLI</a:t>
            </a:r>
          </a:p>
        </p:txBody>
      </p:sp>
      <p:sp>
        <p:nvSpPr>
          <p:cNvPr id="79" name="E2">
            <a:extLst>
              <a:ext uri="{FF2B5EF4-FFF2-40B4-BE49-F238E27FC236}">
                <a16:creationId xmlns:a16="http://schemas.microsoft.com/office/drawing/2014/main" id="{6347FC56-DD5B-5DA8-29D9-14EE5EE3054A}"/>
              </a:ext>
            </a:extLst>
          </p:cNvPr>
          <p:cNvSpPr txBox="1"/>
          <p:nvPr/>
        </p:nvSpPr>
        <p:spPr>
          <a:xfrm>
            <a:off x="722376" y="360548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E2</a:t>
            </a:r>
          </a:p>
        </p:txBody>
      </p:sp>
      <p:sp>
        <p:nvSpPr>
          <p:cNvPr id="81" name="E2 research summary">
            <a:extLst>
              <a:ext uri="{FF2B5EF4-FFF2-40B4-BE49-F238E27FC236}">
                <a16:creationId xmlns:a16="http://schemas.microsoft.com/office/drawing/2014/main" id="{107FED79-955F-C4FF-5ABF-8C662938348B}"/>
              </a:ext>
            </a:extLst>
          </p:cNvPr>
          <p:cNvSpPr txBox="1"/>
          <p:nvPr/>
        </p:nvSpPr>
        <p:spPr>
          <a:xfrm>
            <a:off x="1344168" y="358720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Σημασιολογική ομοιότητα</a:t>
            </a:r>
          </a:p>
        </p:txBody>
      </p:sp>
      <p:sp>
        <p:nvSpPr>
          <p:cNvPr id="83" name="E3">
            <a:extLst>
              <a:ext uri="{FF2B5EF4-FFF2-40B4-BE49-F238E27FC236}">
                <a16:creationId xmlns:a16="http://schemas.microsoft.com/office/drawing/2014/main" id="{33492AC5-D36E-6820-B09E-8FD55274DFBB}"/>
              </a:ext>
            </a:extLst>
          </p:cNvPr>
          <p:cNvSpPr txBox="1"/>
          <p:nvPr/>
        </p:nvSpPr>
        <p:spPr>
          <a:xfrm>
            <a:off x="722376" y="444673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6A8CAF"/>
                </a:solidFill>
                <a:latin typeface="Aptos"/>
              </a:rPr>
              <a:t>E3</a:t>
            </a:r>
          </a:p>
        </p:txBody>
      </p:sp>
      <p:sp>
        <p:nvSpPr>
          <p:cNvPr id="85" name="E3 research summary">
            <a:extLst>
              <a:ext uri="{FF2B5EF4-FFF2-40B4-BE49-F238E27FC236}">
                <a16:creationId xmlns:a16="http://schemas.microsoft.com/office/drawing/2014/main" id="{000F72ED-222D-E024-0BB5-A25D49173A29}"/>
              </a:ext>
            </a:extLst>
          </p:cNvPr>
          <p:cNvSpPr txBox="1"/>
          <p:nvPr/>
        </p:nvSpPr>
        <p:spPr>
          <a:xfrm>
            <a:off x="1344168" y="442844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Συνδυασμός NLI και ομοιότητας</a:t>
            </a:r>
          </a:p>
        </p:txBody>
      </p:sp>
      <p:sp>
        <p:nvSpPr>
          <p:cNvPr id="87" name="E4">
            <a:extLst>
              <a:ext uri="{FF2B5EF4-FFF2-40B4-BE49-F238E27FC236}">
                <a16:creationId xmlns:a16="http://schemas.microsoft.com/office/drawing/2014/main" id="{3763E1CE-1A60-A4DB-9BE4-0F1F4D5FB008}"/>
              </a:ext>
            </a:extLst>
          </p:cNvPr>
          <p:cNvSpPr txBox="1"/>
          <p:nvPr/>
        </p:nvSpPr>
        <p:spPr>
          <a:xfrm>
            <a:off x="722376" y="5416000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6A8CAF"/>
                </a:solidFill>
                <a:latin typeface="Aptos"/>
              </a:rPr>
              <a:t>E4</a:t>
            </a:r>
          </a:p>
        </p:txBody>
      </p:sp>
      <p:sp>
        <p:nvSpPr>
          <p:cNvPr id="89" name="E4 research summary">
            <a:extLst>
              <a:ext uri="{FF2B5EF4-FFF2-40B4-BE49-F238E27FC236}">
                <a16:creationId xmlns:a16="http://schemas.microsoft.com/office/drawing/2014/main" id="{AD3614F9-F8C8-E976-903C-4BAB7F851274}"/>
              </a:ext>
            </a:extLst>
          </p:cNvPr>
          <p:cNvSpPr txBox="1"/>
          <p:nvPr/>
        </p:nvSpPr>
        <p:spPr>
          <a:xfrm>
            <a:off x="1344168" y="5397712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Συνθετικά δεδομένα</a:t>
            </a:r>
          </a:p>
        </p:txBody>
      </p:sp>
      <p:sp>
        <p:nvSpPr>
          <p:cNvPr id="91" name="Phase 2 card">
            <a:extLst>
              <a:ext uri="{FF2B5EF4-FFF2-40B4-BE49-F238E27FC236}">
                <a16:creationId xmlns:a16="http://schemas.microsoft.com/office/drawing/2014/main" id="{F970D32B-CDEC-F289-475D-E1652511A995}"/>
              </a:ext>
            </a:extLst>
          </p:cNvPr>
          <p:cNvSpPr/>
          <p:nvPr/>
        </p:nvSpPr>
        <p:spPr>
          <a:xfrm>
            <a:off x="4361688" y="1566376"/>
            <a:ext cx="3474720" cy="4919472"/>
          </a:xfrm>
          <a:prstGeom prst="rect">
            <a:avLst/>
          </a:prstGeom>
          <a:solidFill>
            <a:srgbClr val="F1EDF6">
              <a:alpha val="60000"/>
            </a:srgbClr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Phase 2 vertical accent">
            <a:extLst>
              <a:ext uri="{FF2B5EF4-FFF2-40B4-BE49-F238E27FC236}">
                <a16:creationId xmlns:a16="http://schemas.microsoft.com/office/drawing/2014/main" id="{9E38A22E-3F84-962C-0A27-4298906FB7D1}"/>
              </a:ext>
            </a:extLst>
          </p:cNvPr>
          <p:cNvSpPr/>
          <p:nvPr/>
        </p:nvSpPr>
        <p:spPr>
          <a:xfrm>
            <a:off x="4517136" y="1566376"/>
            <a:ext cx="57607" cy="4919472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Phase 2 horizontal accent">
            <a:extLst>
              <a:ext uri="{FF2B5EF4-FFF2-40B4-BE49-F238E27FC236}">
                <a16:creationId xmlns:a16="http://schemas.microsoft.com/office/drawing/2014/main" id="{C8283E2F-2F51-61BC-A478-4AE3C2241D30}"/>
              </a:ext>
            </a:extLst>
          </p:cNvPr>
          <p:cNvSpPr/>
          <p:nvPr/>
        </p:nvSpPr>
        <p:spPr>
          <a:xfrm>
            <a:off x="4361688" y="2563072"/>
            <a:ext cx="3474720" cy="57607"/>
          </a:xfrm>
          <a:prstGeom prst="rect">
            <a:avLst/>
          </a:prstGeom>
          <a:solidFill>
            <a:srgbClr val="8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58FB937-18C9-1FC1-0F41-77EAE36ABD3C}"/>
              </a:ext>
            </a:extLst>
          </p:cNvPr>
          <p:cNvSpPr txBox="1"/>
          <p:nvPr/>
        </p:nvSpPr>
        <p:spPr>
          <a:xfrm>
            <a:off x="4709159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2η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A88EF54-501E-6F3E-082A-C5DFD9A276AA}"/>
              </a:ext>
            </a:extLst>
          </p:cNvPr>
          <p:cNvSpPr txBox="1"/>
          <p:nvPr/>
        </p:nvSpPr>
        <p:spPr>
          <a:xfrm>
            <a:off x="4709159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>
                <a:solidFill>
                  <a:srgbClr val="10243D"/>
                </a:solidFill>
                <a:latin typeface="Aptos"/>
              </a:rPr>
              <a:t>Επ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εκτάσεις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01" name="E5">
            <a:extLst>
              <a:ext uri="{FF2B5EF4-FFF2-40B4-BE49-F238E27FC236}">
                <a16:creationId xmlns:a16="http://schemas.microsoft.com/office/drawing/2014/main" id="{7814D5C7-0B79-C876-81FD-D746E524D2F2}"/>
              </a:ext>
            </a:extLst>
          </p:cNvPr>
          <p:cNvSpPr txBox="1"/>
          <p:nvPr/>
        </p:nvSpPr>
        <p:spPr>
          <a:xfrm>
            <a:off x="4690872" y="2773384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E5</a:t>
            </a:r>
          </a:p>
        </p:txBody>
      </p:sp>
      <p:sp>
        <p:nvSpPr>
          <p:cNvPr id="103" name="E5 research summary">
            <a:extLst>
              <a:ext uri="{FF2B5EF4-FFF2-40B4-BE49-F238E27FC236}">
                <a16:creationId xmlns:a16="http://schemas.microsoft.com/office/drawing/2014/main" id="{0FCBEF77-B3DB-48E0-8962-1AB94088F2E1}"/>
              </a:ext>
            </a:extLst>
          </p:cNvPr>
          <p:cNvSpPr txBox="1"/>
          <p:nvPr/>
        </p:nvSpPr>
        <p:spPr>
          <a:xfrm>
            <a:off x="5312664" y="2755096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Εξωτερικοί ορισμοί (RAG)</a:t>
            </a:r>
          </a:p>
        </p:txBody>
      </p:sp>
      <p:sp>
        <p:nvSpPr>
          <p:cNvPr id="105" name="E6">
            <a:extLst>
              <a:ext uri="{FF2B5EF4-FFF2-40B4-BE49-F238E27FC236}">
                <a16:creationId xmlns:a16="http://schemas.microsoft.com/office/drawing/2014/main" id="{FF014B7C-4272-61BB-D32F-C23333F3AE6F}"/>
              </a:ext>
            </a:extLst>
          </p:cNvPr>
          <p:cNvSpPr txBox="1"/>
          <p:nvPr/>
        </p:nvSpPr>
        <p:spPr>
          <a:xfrm>
            <a:off x="4690872" y="357805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A7EA8"/>
                </a:solidFill>
                <a:latin typeface="Aptos"/>
              </a:rPr>
              <a:t>E6</a:t>
            </a:r>
          </a:p>
        </p:txBody>
      </p:sp>
      <p:sp>
        <p:nvSpPr>
          <p:cNvPr id="107" name="E6 research summary">
            <a:extLst>
              <a:ext uri="{FF2B5EF4-FFF2-40B4-BE49-F238E27FC236}">
                <a16:creationId xmlns:a16="http://schemas.microsoft.com/office/drawing/2014/main" id="{7D8F6ED5-CE6E-E190-1FFE-C94BED9FF74C}"/>
              </a:ext>
            </a:extLst>
          </p:cNvPr>
          <p:cNvSpPr txBox="1"/>
          <p:nvPr/>
        </p:nvSpPr>
        <p:spPr>
          <a:xfrm>
            <a:off x="5312664" y="355976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9" b="0">
                <a:solidFill>
                  <a:srgbClr val="374357"/>
                </a:solidFill>
                <a:latin typeface="Aptos"/>
              </a:rPr>
              <a:t>Νέοι έλεγχοι και χαρακτηριστικά</a:t>
            </a:r>
          </a:p>
        </p:txBody>
      </p:sp>
      <p:sp>
        <p:nvSpPr>
          <p:cNvPr id="109" name="E7">
            <a:extLst>
              <a:ext uri="{FF2B5EF4-FFF2-40B4-BE49-F238E27FC236}">
                <a16:creationId xmlns:a16="http://schemas.microsoft.com/office/drawing/2014/main" id="{4C5F06EB-8D3D-6696-9EFD-DAB5172C1E54}"/>
              </a:ext>
            </a:extLst>
          </p:cNvPr>
          <p:cNvSpPr txBox="1"/>
          <p:nvPr/>
        </p:nvSpPr>
        <p:spPr>
          <a:xfrm>
            <a:off x="4690872" y="4433857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E7</a:t>
            </a:r>
          </a:p>
        </p:txBody>
      </p:sp>
      <p:sp>
        <p:nvSpPr>
          <p:cNvPr id="111" name="E7 research summary">
            <a:extLst>
              <a:ext uri="{FF2B5EF4-FFF2-40B4-BE49-F238E27FC236}">
                <a16:creationId xmlns:a16="http://schemas.microsoft.com/office/drawing/2014/main" id="{922D1846-3E9C-8CAF-7B70-7839CFA8CA17}"/>
              </a:ext>
            </a:extLst>
          </p:cNvPr>
          <p:cNvSpPr txBox="1"/>
          <p:nvPr/>
        </p:nvSpPr>
        <p:spPr>
          <a:xfrm>
            <a:off x="5312664" y="4415569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374357"/>
                </a:solidFill>
                <a:latin typeface="Aptos"/>
              </a:rPr>
              <a:t>Επιλεκτικό Agentic RAG</a:t>
            </a:r>
          </a:p>
        </p:txBody>
      </p:sp>
      <p:sp>
        <p:nvSpPr>
          <p:cNvPr id="113" name="E8">
            <a:extLst>
              <a:ext uri="{FF2B5EF4-FFF2-40B4-BE49-F238E27FC236}">
                <a16:creationId xmlns:a16="http://schemas.microsoft.com/office/drawing/2014/main" id="{3071D5D2-26CF-58AA-8FA8-D55A726801F5}"/>
              </a:ext>
            </a:extLst>
          </p:cNvPr>
          <p:cNvSpPr txBox="1"/>
          <p:nvPr/>
        </p:nvSpPr>
        <p:spPr>
          <a:xfrm>
            <a:off x="4709160" y="5412265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8A7EA8"/>
                </a:solidFill>
                <a:latin typeface="Aptos"/>
              </a:rPr>
              <a:t>E8</a:t>
            </a:r>
          </a:p>
        </p:txBody>
      </p:sp>
      <p:sp>
        <p:nvSpPr>
          <p:cNvPr id="115" name="E8 research summary">
            <a:extLst>
              <a:ext uri="{FF2B5EF4-FFF2-40B4-BE49-F238E27FC236}">
                <a16:creationId xmlns:a16="http://schemas.microsoft.com/office/drawing/2014/main" id="{E67EAA25-CA0B-EEC9-9108-B05D07688D8D}"/>
              </a:ext>
            </a:extLst>
          </p:cNvPr>
          <p:cNvSpPr txBox="1"/>
          <p:nvPr/>
        </p:nvSpPr>
        <p:spPr>
          <a:xfrm>
            <a:off x="5330952" y="5393977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 err="1">
                <a:solidFill>
                  <a:srgbClr val="374357"/>
                </a:solidFill>
                <a:latin typeface="Aptos"/>
              </a:rPr>
              <a:t>Ρυθμίσεις</a:t>
            </a:r>
            <a:r>
              <a:rPr sz="2050" b="0" dirty="0">
                <a:solidFill>
                  <a:srgbClr val="374357"/>
                </a:solidFill>
                <a:latin typeface="Aptos"/>
              </a:rPr>
              <a:t> Random Forest</a:t>
            </a:r>
          </a:p>
        </p:txBody>
      </p:sp>
      <p:sp>
        <p:nvSpPr>
          <p:cNvPr id="117" name="Phase 3 card">
            <a:extLst>
              <a:ext uri="{FF2B5EF4-FFF2-40B4-BE49-F238E27FC236}">
                <a16:creationId xmlns:a16="http://schemas.microsoft.com/office/drawing/2014/main" id="{00E60902-C6DD-E89F-24F0-D84FF361FCF1}"/>
              </a:ext>
            </a:extLst>
          </p:cNvPr>
          <p:cNvSpPr/>
          <p:nvPr/>
        </p:nvSpPr>
        <p:spPr>
          <a:xfrm>
            <a:off x="8330183" y="1566376"/>
            <a:ext cx="3474720" cy="4919472"/>
          </a:xfrm>
          <a:prstGeom prst="rect">
            <a:avLst/>
          </a:prstGeom>
          <a:solidFill>
            <a:srgbClr val="EEF3EA"/>
          </a:solidFill>
          <a:ln w="11430">
            <a:solidFill>
              <a:srgbClr val="C9C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Phase 3 vertical accent">
            <a:extLst>
              <a:ext uri="{FF2B5EF4-FFF2-40B4-BE49-F238E27FC236}">
                <a16:creationId xmlns:a16="http://schemas.microsoft.com/office/drawing/2014/main" id="{265014B6-067C-B239-7ED0-C95B7CBB2074}"/>
              </a:ext>
            </a:extLst>
          </p:cNvPr>
          <p:cNvSpPr/>
          <p:nvPr/>
        </p:nvSpPr>
        <p:spPr>
          <a:xfrm>
            <a:off x="8485632" y="1566376"/>
            <a:ext cx="57607" cy="4919472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Phase 3 horizontal accent">
            <a:extLst>
              <a:ext uri="{FF2B5EF4-FFF2-40B4-BE49-F238E27FC236}">
                <a16:creationId xmlns:a16="http://schemas.microsoft.com/office/drawing/2014/main" id="{950745B5-834B-82E0-EC4F-1D38EAD24E5D}"/>
              </a:ext>
            </a:extLst>
          </p:cNvPr>
          <p:cNvSpPr/>
          <p:nvPr/>
        </p:nvSpPr>
        <p:spPr>
          <a:xfrm>
            <a:off x="8330183" y="2563072"/>
            <a:ext cx="3474720" cy="57607"/>
          </a:xfrm>
          <a:prstGeom prst="rect">
            <a:avLst/>
          </a:prstGeom>
          <a:solidFill>
            <a:srgbClr val="7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127B645-3240-BF5E-6D2E-90B02B3D439A}"/>
              </a:ext>
            </a:extLst>
          </p:cNvPr>
          <p:cNvSpPr txBox="1"/>
          <p:nvPr/>
        </p:nvSpPr>
        <p:spPr>
          <a:xfrm>
            <a:off x="8677656" y="1730989"/>
            <a:ext cx="1783080" cy="31085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dirty="0">
                <a:solidFill>
                  <a:srgbClr val="677384"/>
                </a:solidFill>
                <a:latin typeface="Aptos"/>
              </a:rPr>
              <a:t>3η </a:t>
            </a:r>
            <a:r>
              <a:rPr lang="el-GR" sz="2020" b="1" dirty="0">
                <a:solidFill>
                  <a:srgbClr val="677384"/>
                </a:solidFill>
                <a:latin typeface="Aptos"/>
              </a:rPr>
              <a:t>Φ</a:t>
            </a:r>
            <a:r>
              <a:rPr sz="2020" b="1" dirty="0">
                <a:solidFill>
                  <a:srgbClr val="677384"/>
                </a:solidFill>
                <a:latin typeface="Aptos"/>
              </a:rPr>
              <a:t>άση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4DD8A23-6D84-1661-A653-B8C0F8E0EA03}"/>
              </a:ext>
            </a:extLst>
          </p:cNvPr>
          <p:cNvSpPr txBox="1"/>
          <p:nvPr/>
        </p:nvSpPr>
        <p:spPr>
          <a:xfrm>
            <a:off x="8677656" y="2069296"/>
            <a:ext cx="2880360" cy="42062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80" b="1" dirty="0" err="1">
                <a:solidFill>
                  <a:srgbClr val="10243D"/>
                </a:solidFill>
                <a:latin typeface="Aptos"/>
              </a:rPr>
              <a:t>Νέες</a:t>
            </a:r>
            <a:r>
              <a:rPr sz="2280" b="1" dirty="0">
                <a:solidFill>
                  <a:srgbClr val="10243D"/>
                </a:solidFill>
                <a:latin typeface="Aptos"/>
              </a:rPr>
              <a:t> π</a:t>
            </a:r>
            <a:r>
              <a:rPr sz="2280" b="1" dirty="0" err="1">
                <a:solidFill>
                  <a:srgbClr val="10243D"/>
                </a:solidFill>
                <a:latin typeface="Aptos"/>
              </a:rPr>
              <a:t>ροσεγγίσεις</a:t>
            </a:r>
            <a:endParaRPr sz="2280" b="1" dirty="0">
              <a:solidFill>
                <a:srgbClr val="10243D"/>
              </a:solidFill>
              <a:latin typeface="Aptos"/>
            </a:endParaRPr>
          </a:p>
        </p:txBody>
      </p:sp>
      <p:sp>
        <p:nvSpPr>
          <p:cNvPr id="127" name="E9">
            <a:extLst>
              <a:ext uri="{FF2B5EF4-FFF2-40B4-BE49-F238E27FC236}">
                <a16:creationId xmlns:a16="http://schemas.microsoft.com/office/drawing/2014/main" id="{08A1FD99-C595-6239-EE67-B49C8443F68D}"/>
              </a:ext>
            </a:extLst>
          </p:cNvPr>
          <p:cNvSpPr txBox="1"/>
          <p:nvPr/>
        </p:nvSpPr>
        <p:spPr>
          <a:xfrm>
            <a:off x="8659367" y="2873968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129" name="E9 research summary">
            <a:extLst>
              <a:ext uri="{FF2B5EF4-FFF2-40B4-BE49-F238E27FC236}">
                <a16:creationId xmlns:a16="http://schemas.microsoft.com/office/drawing/2014/main" id="{D021EFD0-F057-7899-C59D-89F9A4E92DD9}"/>
              </a:ext>
            </a:extLst>
          </p:cNvPr>
          <p:cNvSpPr txBox="1"/>
          <p:nvPr/>
        </p:nvSpPr>
        <p:spPr>
          <a:xfrm>
            <a:off x="9281159" y="2855680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επιμέρους ισχυρισμών</a:t>
            </a:r>
          </a:p>
        </p:txBody>
      </p:sp>
      <p:sp>
        <p:nvSpPr>
          <p:cNvPr id="131" name="E10">
            <a:extLst>
              <a:ext uri="{FF2B5EF4-FFF2-40B4-BE49-F238E27FC236}">
                <a16:creationId xmlns:a16="http://schemas.microsoft.com/office/drawing/2014/main" id="{D8756701-E70D-E0BE-B55A-18CBE7C3B066}"/>
              </a:ext>
            </a:extLst>
          </p:cNvPr>
          <p:cNvSpPr txBox="1"/>
          <p:nvPr/>
        </p:nvSpPr>
        <p:spPr>
          <a:xfrm>
            <a:off x="8659367" y="3934672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133" name="E10 research summary">
            <a:extLst>
              <a:ext uri="{FF2B5EF4-FFF2-40B4-BE49-F238E27FC236}">
                <a16:creationId xmlns:a16="http://schemas.microsoft.com/office/drawing/2014/main" id="{DCAD3003-1099-0A61-BE1F-D2757F132680}"/>
              </a:ext>
            </a:extLst>
          </p:cNvPr>
          <p:cNvSpPr txBox="1"/>
          <p:nvPr/>
        </p:nvSpPr>
        <p:spPr>
          <a:xfrm>
            <a:off x="9281159" y="3916384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374357"/>
                </a:solidFill>
                <a:latin typeface="Aptos"/>
              </a:rPr>
              <a:t>Έλεγχος πλήρους hyp (FactCG)</a:t>
            </a:r>
          </a:p>
        </p:txBody>
      </p:sp>
      <p:sp>
        <p:nvSpPr>
          <p:cNvPr id="135" name="E11">
            <a:extLst>
              <a:ext uri="{FF2B5EF4-FFF2-40B4-BE49-F238E27FC236}">
                <a16:creationId xmlns:a16="http://schemas.microsoft.com/office/drawing/2014/main" id="{99E7AC26-1DD9-1A05-AE5A-D4CCAC67C997}"/>
              </a:ext>
            </a:extLst>
          </p:cNvPr>
          <p:cNvSpPr txBox="1"/>
          <p:nvPr/>
        </p:nvSpPr>
        <p:spPr>
          <a:xfrm>
            <a:off x="8659367" y="4995376"/>
            <a:ext cx="5943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137" name="E11 research summary">
            <a:extLst>
              <a:ext uri="{FF2B5EF4-FFF2-40B4-BE49-F238E27FC236}">
                <a16:creationId xmlns:a16="http://schemas.microsoft.com/office/drawing/2014/main" id="{6C2C0D7C-3EB7-E085-0F94-F479949B1659}"/>
              </a:ext>
            </a:extLst>
          </p:cNvPr>
          <p:cNvSpPr txBox="1"/>
          <p:nvPr/>
        </p:nvSpPr>
        <p:spPr>
          <a:xfrm>
            <a:off x="9281159" y="4977088"/>
            <a:ext cx="2276856" cy="67665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374357"/>
                </a:solidFill>
                <a:latin typeface="Aptos"/>
              </a:rPr>
              <a:t>Fine-tuning transformer</a:t>
            </a:r>
          </a:p>
        </p:txBody>
      </p:sp>
      <p:sp>
        <p:nvSpPr>
          <p:cNvPr id="139" name="Right Arrow 48">
            <a:extLst>
              <a:ext uri="{FF2B5EF4-FFF2-40B4-BE49-F238E27FC236}">
                <a16:creationId xmlns:a16="http://schemas.microsoft.com/office/drawing/2014/main" id="{CFDF865F-F828-475F-F0B1-8101ACEAB9DC}"/>
              </a:ext>
            </a:extLst>
          </p:cNvPr>
          <p:cNvSpPr/>
          <p:nvPr/>
        </p:nvSpPr>
        <p:spPr>
          <a:xfrm>
            <a:off x="3950208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ight Arrow 49">
            <a:extLst>
              <a:ext uri="{FF2B5EF4-FFF2-40B4-BE49-F238E27FC236}">
                <a16:creationId xmlns:a16="http://schemas.microsoft.com/office/drawing/2014/main" id="{50658913-1458-048A-22F2-253B450A9E8A}"/>
              </a:ext>
            </a:extLst>
          </p:cNvPr>
          <p:cNvSpPr/>
          <p:nvPr/>
        </p:nvSpPr>
        <p:spPr>
          <a:xfrm>
            <a:off x="7918704" y="3934672"/>
            <a:ext cx="393192" cy="329184"/>
          </a:xfrm>
          <a:prstGeom prst="rightArrow">
            <a:avLst/>
          </a:prstGeom>
          <a:solidFill>
            <a:srgbClr val="AAB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Slide title">
            <a:extLst>
              <a:ext uri="{FF2B5EF4-FFF2-40B4-BE49-F238E27FC236}">
                <a16:creationId xmlns:a16="http://schemas.microsoft.com/office/drawing/2014/main" id="{B5CF8192-3910-D9D3-7D92-356258D9877E}"/>
              </a:ext>
            </a:extLst>
          </p:cNvPr>
          <p:cNvSpPr txBox="1"/>
          <p:nvPr/>
        </p:nvSpPr>
        <p:spPr>
          <a:xfrm>
            <a:off x="429236" y="256032"/>
            <a:ext cx="952804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l-GR" sz="3000" b="1" dirty="0">
                <a:solidFill>
                  <a:srgbClr val="10243D"/>
                </a:solidFill>
              </a:rPr>
              <a:t>Πώς οργανώθηκαν τα πειράματα;</a:t>
            </a:r>
          </a:p>
        </p:txBody>
      </p:sp>
      <p:sp>
        <p:nvSpPr>
          <p:cNvPr id="147" name="Introduction">
            <a:extLst>
              <a:ext uri="{FF2B5EF4-FFF2-40B4-BE49-F238E27FC236}">
                <a16:creationId xmlns:a16="http://schemas.microsoft.com/office/drawing/2014/main" id="{10A2CEB0-B6E2-D761-58F9-E5086DDC798D}"/>
              </a:ext>
            </a:extLst>
          </p:cNvPr>
          <p:cNvSpPr>
            <a:spLocks noGrp="1"/>
          </p:cNvSpPr>
          <p:nvPr/>
        </p:nvSpPr>
        <p:spPr>
          <a:xfrm>
            <a:off x="438912" y="662452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defPPr>
          </a:lstStyle>
          <a:p>
            <a:r>
              <a:rPr lang="el-GR" sz="2400" dirty="0">
                <a:solidFill>
                  <a:srgbClr val="374357"/>
                </a:solidFill>
              </a:rPr>
              <a:t>Κάθε πείραμα εξετάζει μια διαφορετική πλευρά της ανίχνευσης hallucinations.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4FC3DE9-BD85-1A47-45BF-B04EBB92B96A}"/>
              </a:ext>
            </a:extLst>
          </p:cNvPr>
          <p:cNvSpPr/>
          <p:nvPr/>
        </p:nvSpPr>
        <p:spPr>
          <a:xfrm>
            <a:off x="4358411" y="1576536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71AD308-A88E-33DA-56D6-8403F430A2D4}"/>
              </a:ext>
            </a:extLst>
          </p:cNvPr>
          <p:cNvSpPr/>
          <p:nvPr/>
        </p:nvSpPr>
        <p:spPr>
          <a:xfrm>
            <a:off x="7863840" y="3921464"/>
            <a:ext cx="448056" cy="34239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CC4944F-8DCA-1324-5D37-F0B010B6B4CC}"/>
              </a:ext>
            </a:extLst>
          </p:cNvPr>
          <p:cNvSpPr/>
          <p:nvPr/>
        </p:nvSpPr>
        <p:spPr>
          <a:xfrm>
            <a:off x="413369" y="1566890"/>
            <a:ext cx="3474719" cy="491947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D1A531E-BB67-C0D5-D081-E708668A32DA}"/>
              </a:ext>
            </a:extLst>
          </p:cNvPr>
          <p:cNvSpPr/>
          <p:nvPr/>
        </p:nvSpPr>
        <p:spPr>
          <a:xfrm>
            <a:off x="3907224" y="3923393"/>
            <a:ext cx="448056" cy="342392"/>
          </a:xfrm>
          <a:prstGeom prst="rect">
            <a:avLst/>
          </a:prstGeom>
          <a:solidFill>
            <a:srgbClr val="F9F6F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913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E6-v3 background">
            <a:extLst>
              <a:ext uri="{FF2B5EF4-FFF2-40B4-BE49-F238E27FC236}">
                <a16:creationId xmlns:a16="http://schemas.microsoft.com/office/drawing/2014/main" id="{9B79D609-0698-1516-10F9-5EE476244322}"/>
              </a:ext>
            </a:extLst>
          </p:cNvPr>
          <p:cNvSpPr/>
          <p:nvPr/>
        </p:nvSpPr>
        <p:spPr>
          <a:xfrm>
            <a:off x="466344" y="2492248"/>
            <a:ext cx="1874520" cy="1865990"/>
          </a:xfrm>
          <a:prstGeom prst="rect">
            <a:avLst/>
          </a:prstGeom>
          <a:solidFill>
            <a:srgbClr val="F1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0F1BB73D-6289-5B95-CECA-BB490F087087}"/>
              </a:ext>
            </a:extLst>
          </p:cNvPr>
          <p:cNvSpPr txBox="1"/>
          <p:nvPr/>
        </p:nvSpPr>
        <p:spPr>
          <a:xfrm>
            <a:off x="411480" y="246888"/>
            <a:ext cx="9710928" cy="46660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0243D"/>
                </a:solidFill>
                <a:latin typeface="Aptos"/>
              </a:rPr>
              <a:t>Πώς λειτουργεί η 3η πειραματική </a:t>
            </a:r>
            <a:r>
              <a:rPr sz="3000" b="1" dirty="0" err="1">
                <a:solidFill>
                  <a:srgbClr val="10243D"/>
                </a:solidFill>
                <a:latin typeface="Aptos"/>
              </a:rPr>
              <a:t>φάση</a:t>
            </a:r>
            <a:r>
              <a:rPr sz="3000" b="1" dirty="0">
                <a:solidFill>
                  <a:srgbClr val="10243D"/>
                </a:solidFill>
                <a:latin typeface="Aptos"/>
              </a:rPr>
              <a:t>;</a:t>
            </a:r>
          </a:p>
        </p:txBody>
      </p:sp>
      <p:sp>
        <p:nvSpPr>
          <p:cNvPr id="3" name="Phase code">
            <a:extLst>
              <a:ext uri="{FF2B5EF4-FFF2-40B4-BE49-F238E27FC236}">
                <a16:creationId xmlns:a16="http://schemas.microsoft.com/office/drawing/2014/main" id="{71994F7F-F9FE-67A7-E49B-6833E0736A8C}"/>
              </a:ext>
            </a:extLst>
          </p:cNvPr>
          <p:cNvSpPr txBox="1"/>
          <p:nvPr/>
        </p:nvSpPr>
        <p:spPr>
          <a:xfrm>
            <a:off x="10744200" y="384048"/>
            <a:ext cx="1097280" cy="2834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E9–E11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2AE87B5-DF57-AD50-89B6-7D340F43B69B}"/>
              </a:ext>
            </a:extLst>
          </p:cNvPr>
          <p:cNvSpPr txBox="1"/>
          <p:nvPr/>
        </p:nvSpPr>
        <p:spPr>
          <a:xfrm>
            <a:off x="420624" y="859536"/>
            <a:ext cx="11247120" cy="7573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374357"/>
                </a:solidFill>
                <a:latin typeface="Aptos"/>
              </a:rPr>
              <a:t>Εξετάζουμε πιο 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σύνθετες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 π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ροσεγγίσεις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: 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έλεγχο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 επιμέρους ισχυρισμών, 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έλεγχο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 π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λήρους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 hypothesis και </a:t>
            </a:r>
            <a:r>
              <a:rPr sz="2400" b="0" dirty="0" err="1">
                <a:solidFill>
                  <a:srgbClr val="374357"/>
                </a:solidFill>
                <a:latin typeface="Aptos"/>
              </a:rPr>
              <a:t>άμεσο</a:t>
            </a:r>
            <a:r>
              <a:rPr sz="2400" b="0" dirty="0">
                <a:solidFill>
                  <a:srgbClr val="374357"/>
                </a:solidFill>
                <a:latin typeface="Aptos"/>
              </a:rPr>
              <a:t> fine-tuning transformer.</a:t>
            </a:r>
          </a:p>
        </p:txBody>
      </p:sp>
      <p:cxnSp>
        <p:nvCxnSpPr>
          <p:cNvPr id="5" name="Connector">
            <a:extLst>
              <a:ext uri="{FF2B5EF4-FFF2-40B4-BE49-F238E27FC236}">
                <a16:creationId xmlns:a16="http://schemas.microsoft.com/office/drawing/2014/main" id="{999D8A62-DFC7-DCFE-E4B1-A5CE43420DC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340864" y="2528190"/>
            <a:ext cx="1101343" cy="983106"/>
          </a:xfrm>
          <a:prstGeom prst="line">
            <a:avLst/>
          </a:prstGeom>
          <a:ln w="34925">
            <a:solidFill>
              <a:srgbClr val="7A8F6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">
            <a:extLst>
              <a:ext uri="{FF2B5EF4-FFF2-40B4-BE49-F238E27FC236}">
                <a16:creationId xmlns:a16="http://schemas.microsoft.com/office/drawing/2014/main" id="{6F833DDD-7FDE-DDA1-F883-C2FA8264CFBC}"/>
              </a:ext>
            </a:extLst>
          </p:cNvPr>
          <p:cNvCxnSpPr>
            <a:cxnSpLocks/>
          </p:cNvCxnSpPr>
          <p:nvPr/>
        </p:nvCxnSpPr>
        <p:spPr>
          <a:xfrm flipV="1">
            <a:off x="2340864" y="3578352"/>
            <a:ext cx="6280404" cy="10160"/>
          </a:xfrm>
          <a:prstGeom prst="line">
            <a:avLst/>
          </a:prstGeom>
          <a:ln w="34925">
            <a:solidFill>
              <a:srgbClr val="7A8F6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">
            <a:extLst>
              <a:ext uri="{FF2B5EF4-FFF2-40B4-BE49-F238E27FC236}">
                <a16:creationId xmlns:a16="http://schemas.microsoft.com/office/drawing/2014/main" id="{00B4F326-C7D1-1F3D-AAC6-1F64FA77830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340864" y="3657600"/>
            <a:ext cx="1106678" cy="474201"/>
          </a:xfrm>
          <a:prstGeom prst="line">
            <a:avLst/>
          </a:prstGeom>
          <a:ln w="34925">
            <a:solidFill>
              <a:srgbClr val="7A8F6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6-v3 origin accent">
            <a:extLst>
              <a:ext uri="{FF2B5EF4-FFF2-40B4-BE49-F238E27FC236}">
                <a16:creationId xmlns:a16="http://schemas.microsoft.com/office/drawing/2014/main" id="{BBA01C86-B88A-EE3D-8B18-5382CCE7A748}"/>
              </a:ext>
            </a:extLst>
          </p:cNvPr>
          <p:cNvSpPr/>
          <p:nvPr/>
        </p:nvSpPr>
        <p:spPr>
          <a:xfrm>
            <a:off x="420624" y="2523744"/>
            <a:ext cx="50292" cy="1838808"/>
          </a:xfrm>
          <a:prstGeom prst="rect">
            <a:avLst/>
          </a:prstGeom>
          <a:solidFill>
            <a:srgbClr val="8A7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rt heading">
            <a:extLst>
              <a:ext uri="{FF2B5EF4-FFF2-40B4-BE49-F238E27FC236}">
                <a16:creationId xmlns:a16="http://schemas.microsoft.com/office/drawing/2014/main" id="{FBA16E2C-C841-2485-18E2-E5D313B83970}"/>
              </a:ext>
            </a:extLst>
          </p:cNvPr>
          <p:cNvSpPr txBox="1"/>
          <p:nvPr/>
        </p:nvSpPr>
        <p:spPr>
          <a:xfrm>
            <a:off x="603504" y="2706624"/>
            <a:ext cx="1554480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10243D"/>
                </a:solidFill>
                <a:latin typeface="Aptos"/>
              </a:rPr>
              <a:t>Αφετηρί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α</a:t>
            </a:r>
          </a:p>
        </p:txBody>
      </p:sp>
      <p:sp>
        <p:nvSpPr>
          <p:cNvPr id="12" name="Start description">
            <a:extLst>
              <a:ext uri="{FF2B5EF4-FFF2-40B4-BE49-F238E27FC236}">
                <a16:creationId xmlns:a16="http://schemas.microsoft.com/office/drawing/2014/main" id="{43E93E8B-0257-9943-183D-635E00270B8F}"/>
              </a:ext>
            </a:extLst>
          </p:cNvPr>
          <p:cNvSpPr txBox="1"/>
          <p:nvPr/>
        </p:nvSpPr>
        <p:spPr>
          <a:xfrm>
            <a:off x="603504" y="3314192"/>
            <a:ext cx="1563624" cy="8561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Κα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λύτερη</a:t>
            </a:r>
            <a:endParaRPr b="0" dirty="0">
              <a:solidFill>
                <a:srgbClr val="374357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διαμόρφωση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2ης 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φάσης</a:t>
            </a:r>
            <a:endParaRPr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13" name="E9 claims">
            <a:extLst>
              <a:ext uri="{FF2B5EF4-FFF2-40B4-BE49-F238E27FC236}">
                <a16:creationId xmlns:a16="http://schemas.microsoft.com/office/drawing/2014/main" id="{4C99FDFF-92F2-CC82-FDA9-D3FDBB29144C}"/>
              </a:ext>
            </a:extLst>
          </p:cNvPr>
          <p:cNvSpPr/>
          <p:nvPr/>
        </p:nvSpPr>
        <p:spPr>
          <a:xfrm>
            <a:off x="3442207" y="1802384"/>
            <a:ext cx="4767581" cy="1451610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E9 claims accent">
            <a:extLst>
              <a:ext uri="{FF2B5EF4-FFF2-40B4-BE49-F238E27FC236}">
                <a16:creationId xmlns:a16="http://schemas.microsoft.com/office/drawing/2014/main" id="{9BC597F2-5032-AAA8-15A1-468958A3EDD7}"/>
              </a:ext>
            </a:extLst>
          </p:cNvPr>
          <p:cNvSpPr/>
          <p:nvPr/>
        </p:nvSpPr>
        <p:spPr>
          <a:xfrm>
            <a:off x="3442207" y="1802384"/>
            <a:ext cx="62335" cy="145161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9 code">
            <a:extLst>
              <a:ext uri="{FF2B5EF4-FFF2-40B4-BE49-F238E27FC236}">
                <a16:creationId xmlns:a16="http://schemas.microsoft.com/office/drawing/2014/main" id="{BFBD6667-9C9A-41D3-321F-A4A918087C8C}"/>
              </a:ext>
            </a:extLst>
          </p:cNvPr>
          <p:cNvSpPr txBox="1"/>
          <p:nvPr/>
        </p:nvSpPr>
        <p:spPr>
          <a:xfrm>
            <a:off x="7903464" y="1786128"/>
            <a:ext cx="12344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16" name="E9 title">
            <a:extLst>
              <a:ext uri="{FF2B5EF4-FFF2-40B4-BE49-F238E27FC236}">
                <a16:creationId xmlns:a16="http://schemas.microsoft.com/office/drawing/2014/main" id="{88F536E6-CAA5-200F-F7B6-5BFFB5A920AF}"/>
              </a:ext>
            </a:extLst>
          </p:cNvPr>
          <p:cNvSpPr txBox="1"/>
          <p:nvPr/>
        </p:nvSpPr>
        <p:spPr>
          <a:xfrm>
            <a:off x="3565143" y="1910080"/>
            <a:ext cx="4615179" cy="37330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Έλεγχος επιμέρους</a:t>
            </a:r>
            <a:r>
              <a:rPr lang="en-GB" sz="2400" b="1" dirty="0">
                <a:solidFill>
                  <a:srgbClr val="10243D"/>
                </a:solidFill>
                <a:latin typeface="Aptos"/>
              </a:rPr>
              <a:t> 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ισχυρισμών</a:t>
            </a:r>
          </a:p>
        </p:txBody>
      </p:sp>
      <p:sp>
        <p:nvSpPr>
          <p:cNvPr id="17" name="E9 description">
            <a:extLst>
              <a:ext uri="{FF2B5EF4-FFF2-40B4-BE49-F238E27FC236}">
                <a16:creationId xmlns:a16="http://schemas.microsoft.com/office/drawing/2014/main" id="{515DA6A0-4CDF-6A43-2BDF-9C460BD18825}"/>
              </a:ext>
            </a:extLst>
          </p:cNvPr>
          <p:cNvSpPr txBox="1"/>
          <p:nvPr/>
        </p:nvSpPr>
        <p:spPr>
          <a:xfrm>
            <a:off x="3524504" y="2359152"/>
            <a:ext cx="5195062" cy="8561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374357"/>
                </a:solidFill>
                <a:latin typeface="Aptos"/>
              </a:rPr>
              <a:t>Διάσ</a:t>
            </a:r>
            <a:r>
              <a:rPr b="0" dirty="0">
                <a:solidFill>
                  <a:srgbClr val="374357"/>
                </a:solidFill>
                <a:latin typeface="Aptos"/>
              </a:rPr>
              <a:t>παση του hyp σε</a:t>
            </a:r>
            <a:r>
              <a:rPr lang="en-GB" b="0" dirty="0">
                <a:solidFill>
                  <a:srgbClr val="374357"/>
                </a:solidFill>
                <a:latin typeface="Aptos"/>
              </a:rPr>
              <a:t> </a:t>
            </a:r>
            <a:r>
              <a:rPr b="0" dirty="0">
                <a:solidFill>
                  <a:srgbClr val="374357"/>
                </a:solidFill>
                <a:latin typeface="Aptos"/>
              </a:rPr>
              <a:t>claims και 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ξεχωριστή</a:t>
            </a:r>
            <a:r>
              <a:rPr lang="en-GB" b="0" dirty="0">
                <a:solidFill>
                  <a:srgbClr val="374357"/>
                </a:solidFill>
                <a:latin typeface="Aptos"/>
              </a:rPr>
              <a:t> </a:t>
            </a:r>
            <a:r>
              <a:rPr b="0" dirty="0">
                <a:solidFill>
                  <a:srgbClr val="374357"/>
                </a:solidFill>
                <a:latin typeface="Aptos"/>
              </a:rPr>
              <a:t>σύγκριση κάθε claim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με την κα</a:t>
            </a:r>
            <a:r>
              <a:rPr b="0" dirty="0" err="1">
                <a:solidFill>
                  <a:srgbClr val="374357"/>
                </a:solidFill>
                <a:latin typeface="Aptos"/>
              </a:rPr>
              <a:t>τάλληλη</a:t>
            </a:r>
            <a:r>
              <a:rPr lang="en-GB" b="0" dirty="0">
                <a:solidFill>
                  <a:srgbClr val="374357"/>
                </a:solidFill>
                <a:latin typeface="Aptos"/>
              </a:rPr>
              <a:t> </a:t>
            </a:r>
            <a:r>
              <a:rPr b="0" dirty="0">
                <a:solidFill>
                  <a:srgbClr val="374357"/>
                </a:solidFill>
                <a:latin typeface="Aptos"/>
              </a:rPr>
              <a:t>αναφορά.</a:t>
            </a:r>
          </a:p>
        </p:txBody>
      </p:sp>
      <p:sp>
        <p:nvSpPr>
          <p:cNvPr id="18" name="E10 full hyp">
            <a:extLst>
              <a:ext uri="{FF2B5EF4-FFF2-40B4-BE49-F238E27FC236}">
                <a16:creationId xmlns:a16="http://schemas.microsoft.com/office/drawing/2014/main" id="{21263D8D-CBFB-56BC-8F4E-E935459B97EE}"/>
              </a:ext>
            </a:extLst>
          </p:cNvPr>
          <p:cNvSpPr/>
          <p:nvPr/>
        </p:nvSpPr>
        <p:spPr>
          <a:xfrm>
            <a:off x="3447542" y="3700004"/>
            <a:ext cx="3584194" cy="863593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E10 full hyp accent">
            <a:extLst>
              <a:ext uri="{FF2B5EF4-FFF2-40B4-BE49-F238E27FC236}">
                <a16:creationId xmlns:a16="http://schemas.microsoft.com/office/drawing/2014/main" id="{EA85B1C5-38DE-64CE-2D6E-83C996B2D990}"/>
              </a:ext>
            </a:extLst>
          </p:cNvPr>
          <p:cNvSpPr/>
          <p:nvPr/>
        </p:nvSpPr>
        <p:spPr>
          <a:xfrm>
            <a:off x="3447542" y="3700004"/>
            <a:ext cx="50292" cy="863593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10 code">
            <a:extLst>
              <a:ext uri="{FF2B5EF4-FFF2-40B4-BE49-F238E27FC236}">
                <a16:creationId xmlns:a16="http://schemas.microsoft.com/office/drawing/2014/main" id="{FC679D75-98E4-0D86-5250-2F0D9AE64E8E}"/>
              </a:ext>
            </a:extLst>
          </p:cNvPr>
          <p:cNvSpPr txBox="1"/>
          <p:nvPr/>
        </p:nvSpPr>
        <p:spPr>
          <a:xfrm>
            <a:off x="6614160" y="3679912"/>
            <a:ext cx="132588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21" name="E10 title">
            <a:extLst>
              <a:ext uri="{FF2B5EF4-FFF2-40B4-BE49-F238E27FC236}">
                <a16:creationId xmlns:a16="http://schemas.microsoft.com/office/drawing/2014/main" id="{C0E8F74B-6ECC-9402-E7F8-85319CD69A9D}"/>
              </a:ext>
            </a:extLst>
          </p:cNvPr>
          <p:cNvSpPr txBox="1"/>
          <p:nvPr/>
        </p:nvSpPr>
        <p:spPr>
          <a:xfrm>
            <a:off x="3621278" y="3767060"/>
            <a:ext cx="3175254" cy="37330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Έλεγχος π</a:t>
            </a:r>
            <a:r>
              <a:rPr sz="2400" b="1" dirty="0" err="1">
                <a:solidFill>
                  <a:srgbClr val="10243D"/>
                </a:solidFill>
                <a:latin typeface="Aptos"/>
              </a:rPr>
              <a:t>λήρους</a:t>
            </a:r>
            <a:r>
              <a:rPr sz="2400" b="1" dirty="0">
                <a:solidFill>
                  <a:srgbClr val="10243D"/>
                </a:solidFill>
                <a:latin typeface="Aptos"/>
              </a:rPr>
              <a:t> hyp</a:t>
            </a:r>
          </a:p>
        </p:txBody>
      </p:sp>
      <p:sp>
        <p:nvSpPr>
          <p:cNvPr id="22" name="E10 description">
            <a:extLst>
              <a:ext uri="{FF2B5EF4-FFF2-40B4-BE49-F238E27FC236}">
                <a16:creationId xmlns:a16="http://schemas.microsoft.com/office/drawing/2014/main" id="{A5D43985-4E78-33DB-00B3-24E9655F9572}"/>
              </a:ext>
            </a:extLst>
          </p:cNvPr>
          <p:cNvSpPr txBox="1"/>
          <p:nvPr/>
        </p:nvSpPr>
        <p:spPr>
          <a:xfrm>
            <a:off x="3621278" y="4218164"/>
            <a:ext cx="2029968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FactCG</a:t>
            </a:r>
          </a:p>
        </p:txBody>
      </p:sp>
      <p:sp>
        <p:nvSpPr>
          <p:cNvPr id="23" name="E11 finetune">
            <a:extLst>
              <a:ext uri="{FF2B5EF4-FFF2-40B4-BE49-F238E27FC236}">
                <a16:creationId xmlns:a16="http://schemas.microsoft.com/office/drawing/2014/main" id="{2686D162-92F8-5955-F5DA-7B85F84DE7D7}"/>
              </a:ext>
            </a:extLst>
          </p:cNvPr>
          <p:cNvSpPr/>
          <p:nvPr/>
        </p:nvSpPr>
        <p:spPr>
          <a:xfrm>
            <a:off x="8570977" y="2355830"/>
            <a:ext cx="3432046" cy="3586754"/>
          </a:xfrm>
          <a:prstGeom prst="rect">
            <a:avLst/>
          </a:prstGeom>
          <a:solidFill>
            <a:srgbClr val="FFFFFF"/>
          </a:solidFill>
          <a:ln w="8255">
            <a:solidFill>
              <a:srgbClr val="C6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11 finetune accent">
            <a:extLst>
              <a:ext uri="{FF2B5EF4-FFF2-40B4-BE49-F238E27FC236}">
                <a16:creationId xmlns:a16="http://schemas.microsoft.com/office/drawing/2014/main" id="{778E48D0-8E38-A44D-D2A0-00778BD7181B}"/>
              </a:ext>
            </a:extLst>
          </p:cNvPr>
          <p:cNvSpPr/>
          <p:nvPr/>
        </p:nvSpPr>
        <p:spPr>
          <a:xfrm>
            <a:off x="8570976" y="2355830"/>
            <a:ext cx="50292" cy="3586754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E11 code">
            <a:extLst>
              <a:ext uri="{FF2B5EF4-FFF2-40B4-BE49-F238E27FC236}">
                <a16:creationId xmlns:a16="http://schemas.microsoft.com/office/drawing/2014/main" id="{ACD5E9A4-2FD5-6380-FA32-11A6C1CBF5D4}"/>
              </a:ext>
            </a:extLst>
          </p:cNvPr>
          <p:cNvSpPr txBox="1"/>
          <p:nvPr/>
        </p:nvSpPr>
        <p:spPr>
          <a:xfrm>
            <a:off x="11588496" y="2322301"/>
            <a:ext cx="957391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26" name="E11 title">
            <a:extLst>
              <a:ext uri="{FF2B5EF4-FFF2-40B4-BE49-F238E27FC236}">
                <a16:creationId xmlns:a16="http://schemas.microsoft.com/office/drawing/2014/main" id="{1DCF2055-AEFF-3825-09DC-A62017C03D61}"/>
              </a:ext>
            </a:extLst>
          </p:cNvPr>
          <p:cNvSpPr txBox="1"/>
          <p:nvPr/>
        </p:nvSpPr>
        <p:spPr>
          <a:xfrm>
            <a:off x="8753856" y="2442190"/>
            <a:ext cx="2889504" cy="7573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Fine-tuning transformer</a:t>
            </a:r>
          </a:p>
        </p:txBody>
      </p:sp>
      <p:sp>
        <p:nvSpPr>
          <p:cNvPr id="27" name="E11-A background">
            <a:extLst>
              <a:ext uri="{FF2B5EF4-FFF2-40B4-BE49-F238E27FC236}">
                <a16:creationId xmlns:a16="http://schemas.microsoft.com/office/drawing/2014/main" id="{4D91E04C-8180-9EBF-86B5-833B4A3908DB}"/>
              </a:ext>
            </a:extLst>
          </p:cNvPr>
          <p:cNvSpPr/>
          <p:nvPr/>
        </p:nvSpPr>
        <p:spPr>
          <a:xfrm>
            <a:off x="8735568" y="3315950"/>
            <a:ext cx="3118104" cy="411480"/>
          </a:xfrm>
          <a:prstGeom prst="rect">
            <a:avLst/>
          </a:prstGeom>
          <a:solidFill>
            <a:srgbClr val="F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11-A name">
            <a:extLst>
              <a:ext uri="{FF2B5EF4-FFF2-40B4-BE49-F238E27FC236}">
                <a16:creationId xmlns:a16="http://schemas.microsoft.com/office/drawing/2014/main" id="{B52C00BC-98C8-19DC-B928-832936C009AA}"/>
              </a:ext>
            </a:extLst>
          </p:cNvPr>
          <p:cNvSpPr txBox="1"/>
          <p:nvPr/>
        </p:nvSpPr>
        <p:spPr>
          <a:xfrm>
            <a:off x="8845296" y="3416534"/>
            <a:ext cx="7772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E11-A</a:t>
            </a:r>
          </a:p>
        </p:txBody>
      </p:sp>
      <p:sp>
        <p:nvSpPr>
          <p:cNvPr id="29" name="E11-A description">
            <a:extLst>
              <a:ext uri="{FF2B5EF4-FFF2-40B4-BE49-F238E27FC236}">
                <a16:creationId xmlns:a16="http://schemas.microsoft.com/office/drawing/2014/main" id="{D350F6E1-9E46-4F0F-AD80-E734CBD8B938}"/>
              </a:ext>
            </a:extLst>
          </p:cNvPr>
          <p:cNvSpPr txBox="1"/>
          <p:nvPr/>
        </p:nvSpPr>
        <p:spPr>
          <a:xfrm>
            <a:off x="9631680" y="3407390"/>
            <a:ext cx="2011680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374357"/>
                </a:solidFill>
                <a:latin typeface="Aptos"/>
              </a:rPr>
              <a:t>Ανθρώ</a:t>
            </a:r>
            <a:r>
              <a:rPr sz="1600" b="0" dirty="0">
                <a:solidFill>
                  <a:srgbClr val="374357"/>
                </a:solidFill>
                <a:latin typeface="Aptos"/>
              </a:rPr>
              <a:t>πινες ετικέτες</a:t>
            </a:r>
          </a:p>
        </p:txBody>
      </p:sp>
      <p:sp>
        <p:nvSpPr>
          <p:cNvPr id="30" name="E11-B background">
            <a:extLst>
              <a:ext uri="{FF2B5EF4-FFF2-40B4-BE49-F238E27FC236}">
                <a16:creationId xmlns:a16="http://schemas.microsoft.com/office/drawing/2014/main" id="{A162D734-F7E7-7100-FD48-887E380CE96F}"/>
              </a:ext>
            </a:extLst>
          </p:cNvPr>
          <p:cNvSpPr/>
          <p:nvPr/>
        </p:nvSpPr>
        <p:spPr>
          <a:xfrm>
            <a:off x="8735568" y="3828014"/>
            <a:ext cx="3118104" cy="411480"/>
          </a:xfrm>
          <a:prstGeom prst="rect">
            <a:avLst/>
          </a:prstGeom>
          <a:solidFill>
            <a:srgbClr val="F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11-B name">
            <a:extLst>
              <a:ext uri="{FF2B5EF4-FFF2-40B4-BE49-F238E27FC236}">
                <a16:creationId xmlns:a16="http://schemas.microsoft.com/office/drawing/2014/main" id="{B38A99A1-2682-35A7-9767-695989A73662}"/>
              </a:ext>
            </a:extLst>
          </p:cNvPr>
          <p:cNvSpPr txBox="1"/>
          <p:nvPr/>
        </p:nvSpPr>
        <p:spPr>
          <a:xfrm>
            <a:off x="8845296" y="3928598"/>
            <a:ext cx="7772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A8F6A"/>
                </a:solidFill>
                <a:latin typeface="Aptos"/>
              </a:rPr>
              <a:t>E11-B</a:t>
            </a:r>
          </a:p>
        </p:txBody>
      </p:sp>
      <p:sp>
        <p:nvSpPr>
          <p:cNvPr id="32" name="E11-B description">
            <a:extLst>
              <a:ext uri="{FF2B5EF4-FFF2-40B4-BE49-F238E27FC236}">
                <a16:creationId xmlns:a16="http://schemas.microsoft.com/office/drawing/2014/main" id="{08C57EAB-83A1-DFAA-0E9F-A68C534944A6}"/>
              </a:ext>
            </a:extLst>
          </p:cNvPr>
          <p:cNvSpPr txBox="1"/>
          <p:nvPr/>
        </p:nvSpPr>
        <p:spPr>
          <a:xfrm>
            <a:off x="9631680" y="3919454"/>
            <a:ext cx="2011680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Pseudo-labels</a:t>
            </a:r>
          </a:p>
        </p:txBody>
      </p:sp>
      <p:sp>
        <p:nvSpPr>
          <p:cNvPr id="33" name="E11-C background">
            <a:extLst>
              <a:ext uri="{FF2B5EF4-FFF2-40B4-BE49-F238E27FC236}">
                <a16:creationId xmlns:a16="http://schemas.microsoft.com/office/drawing/2014/main" id="{5A633E08-402E-BED7-FF2B-9DED29068AA6}"/>
              </a:ext>
            </a:extLst>
          </p:cNvPr>
          <p:cNvSpPr/>
          <p:nvPr/>
        </p:nvSpPr>
        <p:spPr>
          <a:xfrm>
            <a:off x="8735568" y="4340078"/>
            <a:ext cx="3118104" cy="411480"/>
          </a:xfrm>
          <a:prstGeom prst="rect">
            <a:avLst/>
          </a:prstGeom>
          <a:solidFill>
            <a:srgbClr val="F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11-C name">
            <a:extLst>
              <a:ext uri="{FF2B5EF4-FFF2-40B4-BE49-F238E27FC236}">
                <a16:creationId xmlns:a16="http://schemas.microsoft.com/office/drawing/2014/main" id="{FAF475E6-CDAB-D22A-F484-EDE2047C26A8}"/>
              </a:ext>
            </a:extLst>
          </p:cNvPr>
          <p:cNvSpPr txBox="1"/>
          <p:nvPr/>
        </p:nvSpPr>
        <p:spPr>
          <a:xfrm>
            <a:off x="8845296" y="4440662"/>
            <a:ext cx="7772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A8F6A"/>
                </a:solidFill>
                <a:latin typeface="Aptos"/>
              </a:rPr>
              <a:t>E11-C</a:t>
            </a:r>
          </a:p>
        </p:txBody>
      </p:sp>
      <p:sp>
        <p:nvSpPr>
          <p:cNvPr id="35" name="E11-C description">
            <a:extLst>
              <a:ext uri="{FF2B5EF4-FFF2-40B4-BE49-F238E27FC236}">
                <a16:creationId xmlns:a16="http://schemas.microsoft.com/office/drawing/2014/main" id="{E83A9788-B3EA-7C6E-A113-18223FD8134C}"/>
              </a:ext>
            </a:extLst>
          </p:cNvPr>
          <p:cNvSpPr txBox="1"/>
          <p:nvPr/>
        </p:nvSpPr>
        <p:spPr>
          <a:xfrm>
            <a:off x="9631680" y="4431517"/>
            <a:ext cx="2545080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374357"/>
                </a:solidFill>
                <a:latin typeface="Aptos"/>
              </a:rPr>
              <a:t>Αυτόμ</a:t>
            </a:r>
            <a:r>
              <a:rPr sz="1600" b="0" dirty="0">
                <a:solidFill>
                  <a:srgbClr val="374357"/>
                </a:solidFill>
                <a:latin typeface="Aptos"/>
              </a:rPr>
              <a:t>ατη επίβλεψη LLM</a:t>
            </a:r>
          </a:p>
        </p:txBody>
      </p:sp>
      <p:sp>
        <p:nvSpPr>
          <p:cNvPr id="36" name="E11-D background">
            <a:extLst>
              <a:ext uri="{FF2B5EF4-FFF2-40B4-BE49-F238E27FC236}">
                <a16:creationId xmlns:a16="http://schemas.microsoft.com/office/drawing/2014/main" id="{865C1BE7-B153-E6DB-B118-8DC00A34E262}"/>
              </a:ext>
            </a:extLst>
          </p:cNvPr>
          <p:cNvSpPr/>
          <p:nvPr/>
        </p:nvSpPr>
        <p:spPr>
          <a:xfrm>
            <a:off x="8735568" y="4852142"/>
            <a:ext cx="3118104" cy="411480"/>
          </a:xfrm>
          <a:prstGeom prst="rect">
            <a:avLst/>
          </a:prstGeom>
          <a:solidFill>
            <a:srgbClr val="F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11-D name">
            <a:extLst>
              <a:ext uri="{FF2B5EF4-FFF2-40B4-BE49-F238E27FC236}">
                <a16:creationId xmlns:a16="http://schemas.microsoft.com/office/drawing/2014/main" id="{B89B0911-B52A-8B3E-D3CE-7B86CB86DDB1}"/>
              </a:ext>
            </a:extLst>
          </p:cNvPr>
          <p:cNvSpPr txBox="1"/>
          <p:nvPr/>
        </p:nvSpPr>
        <p:spPr>
          <a:xfrm>
            <a:off x="8845296" y="4952726"/>
            <a:ext cx="7772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E11-D</a:t>
            </a:r>
          </a:p>
        </p:txBody>
      </p:sp>
      <p:sp>
        <p:nvSpPr>
          <p:cNvPr id="38" name="E11-D description">
            <a:extLst>
              <a:ext uri="{FF2B5EF4-FFF2-40B4-BE49-F238E27FC236}">
                <a16:creationId xmlns:a16="http://schemas.microsoft.com/office/drawing/2014/main" id="{EEEC8C77-3104-1FBE-07B7-0CBCFECBEEB0}"/>
              </a:ext>
            </a:extLst>
          </p:cNvPr>
          <p:cNvSpPr txBox="1"/>
          <p:nvPr/>
        </p:nvSpPr>
        <p:spPr>
          <a:xfrm>
            <a:off x="9631680" y="4943582"/>
            <a:ext cx="2011680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74357"/>
                </a:solidFill>
                <a:latin typeface="Aptos"/>
              </a:rPr>
              <a:t>Contrastive learning</a:t>
            </a:r>
          </a:p>
        </p:txBody>
      </p:sp>
      <p:sp>
        <p:nvSpPr>
          <p:cNvPr id="39" name="E11-E background">
            <a:extLst>
              <a:ext uri="{FF2B5EF4-FFF2-40B4-BE49-F238E27FC236}">
                <a16:creationId xmlns:a16="http://schemas.microsoft.com/office/drawing/2014/main" id="{E81072CB-C648-0C64-83E3-7B775B6984C4}"/>
              </a:ext>
            </a:extLst>
          </p:cNvPr>
          <p:cNvSpPr/>
          <p:nvPr/>
        </p:nvSpPr>
        <p:spPr>
          <a:xfrm>
            <a:off x="8735568" y="5364206"/>
            <a:ext cx="3118104" cy="411480"/>
          </a:xfrm>
          <a:prstGeom prst="rect">
            <a:avLst/>
          </a:prstGeom>
          <a:solidFill>
            <a:srgbClr val="F0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11-E name">
            <a:extLst>
              <a:ext uri="{FF2B5EF4-FFF2-40B4-BE49-F238E27FC236}">
                <a16:creationId xmlns:a16="http://schemas.microsoft.com/office/drawing/2014/main" id="{3CAE75A4-70F0-A874-E3A1-32D4BE68FC13}"/>
              </a:ext>
            </a:extLst>
          </p:cNvPr>
          <p:cNvSpPr txBox="1"/>
          <p:nvPr/>
        </p:nvSpPr>
        <p:spPr>
          <a:xfrm>
            <a:off x="8845296" y="5464790"/>
            <a:ext cx="777240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A8F6A"/>
                </a:solidFill>
                <a:latin typeface="Aptos"/>
              </a:rPr>
              <a:t>E11-E</a:t>
            </a:r>
          </a:p>
        </p:txBody>
      </p:sp>
      <p:sp>
        <p:nvSpPr>
          <p:cNvPr id="41" name="E11-E description">
            <a:extLst>
              <a:ext uri="{FF2B5EF4-FFF2-40B4-BE49-F238E27FC236}">
                <a16:creationId xmlns:a16="http://schemas.microsoft.com/office/drawing/2014/main" id="{23EF0815-9DC9-E631-1536-594167ABA300}"/>
              </a:ext>
            </a:extLst>
          </p:cNvPr>
          <p:cNvSpPr txBox="1"/>
          <p:nvPr/>
        </p:nvSpPr>
        <p:spPr>
          <a:xfrm>
            <a:off x="9631680" y="5455646"/>
            <a:ext cx="2011680" cy="24897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74357"/>
                </a:solidFill>
                <a:latin typeface="Aptos"/>
              </a:rPr>
              <a:t>Συνδυασμός</a:t>
            </a:r>
          </a:p>
        </p:txBody>
      </p:sp>
      <p:sp>
        <p:nvSpPr>
          <p:cNvPr id="42" name="Footer heading">
            <a:extLst>
              <a:ext uri="{FF2B5EF4-FFF2-40B4-BE49-F238E27FC236}">
                <a16:creationId xmlns:a16="http://schemas.microsoft.com/office/drawing/2014/main" id="{3776BC98-6B59-3B6F-B830-D3EDA55950E9}"/>
              </a:ext>
            </a:extLst>
          </p:cNvPr>
          <p:cNvSpPr txBox="1"/>
          <p:nvPr/>
        </p:nvSpPr>
        <p:spPr>
          <a:xfrm>
            <a:off x="420624" y="5550408"/>
            <a:ext cx="8001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243D"/>
                </a:solidFill>
                <a:latin typeface="Aptos"/>
              </a:rPr>
              <a:t>Τι εξετάζει κάθε πείραμα;</a:t>
            </a:r>
          </a:p>
        </p:txBody>
      </p:sp>
      <p:sp>
        <p:nvSpPr>
          <p:cNvPr id="43" name="E9 footer accent">
            <a:extLst>
              <a:ext uri="{FF2B5EF4-FFF2-40B4-BE49-F238E27FC236}">
                <a16:creationId xmlns:a16="http://schemas.microsoft.com/office/drawing/2014/main" id="{443D5CFE-D099-DFB5-B927-9392DBCE771E}"/>
              </a:ext>
            </a:extLst>
          </p:cNvPr>
          <p:cNvSpPr/>
          <p:nvPr/>
        </p:nvSpPr>
        <p:spPr>
          <a:xfrm>
            <a:off x="420624" y="6099048"/>
            <a:ext cx="45720" cy="48463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E9 footer label">
            <a:extLst>
              <a:ext uri="{FF2B5EF4-FFF2-40B4-BE49-F238E27FC236}">
                <a16:creationId xmlns:a16="http://schemas.microsoft.com/office/drawing/2014/main" id="{CA24E6A7-BF75-FE67-931D-10FACF255686}"/>
              </a:ext>
            </a:extLst>
          </p:cNvPr>
          <p:cNvSpPr txBox="1"/>
          <p:nvPr/>
        </p:nvSpPr>
        <p:spPr>
          <a:xfrm>
            <a:off x="548640" y="6135624"/>
            <a:ext cx="914400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7A8F6A"/>
                </a:solidFill>
                <a:latin typeface="Aptos"/>
              </a:rPr>
              <a:t>E9</a:t>
            </a:r>
          </a:p>
        </p:txBody>
      </p:sp>
      <p:sp>
        <p:nvSpPr>
          <p:cNvPr id="45" name="E9 footer explanation">
            <a:extLst>
              <a:ext uri="{FF2B5EF4-FFF2-40B4-BE49-F238E27FC236}">
                <a16:creationId xmlns:a16="http://schemas.microsoft.com/office/drawing/2014/main" id="{C9B8797D-9E49-C56A-3867-55D6D6D799DF}"/>
              </a:ext>
            </a:extLst>
          </p:cNvPr>
          <p:cNvSpPr txBox="1"/>
          <p:nvPr/>
        </p:nvSpPr>
        <p:spPr>
          <a:xfrm>
            <a:off x="1148080" y="6155944"/>
            <a:ext cx="1033271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Claims</a:t>
            </a:r>
          </a:p>
        </p:txBody>
      </p:sp>
      <p:sp>
        <p:nvSpPr>
          <p:cNvPr id="46" name="E10 footer accent">
            <a:extLst>
              <a:ext uri="{FF2B5EF4-FFF2-40B4-BE49-F238E27FC236}">
                <a16:creationId xmlns:a16="http://schemas.microsoft.com/office/drawing/2014/main" id="{F3CD8F25-C745-538A-5C6A-67BECC32FE46}"/>
              </a:ext>
            </a:extLst>
          </p:cNvPr>
          <p:cNvSpPr/>
          <p:nvPr/>
        </p:nvSpPr>
        <p:spPr>
          <a:xfrm>
            <a:off x="2761488" y="6099048"/>
            <a:ext cx="45720" cy="48463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10 footer label">
            <a:extLst>
              <a:ext uri="{FF2B5EF4-FFF2-40B4-BE49-F238E27FC236}">
                <a16:creationId xmlns:a16="http://schemas.microsoft.com/office/drawing/2014/main" id="{CC986422-B39E-5986-21DF-DD74C64F3369}"/>
              </a:ext>
            </a:extLst>
          </p:cNvPr>
          <p:cNvSpPr txBox="1"/>
          <p:nvPr/>
        </p:nvSpPr>
        <p:spPr>
          <a:xfrm>
            <a:off x="2889504" y="6135624"/>
            <a:ext cx="914400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7A8F6A"/>
                </a:solidFill>
                <a:latin typeface="Aptos"/>
              </a:rPr>
              <a:t>E10</a:t>
            </a:r>
          </a:p>
        </p:txBody>
      </p:sp>
      <p:sp>
        <p:nvSpPr>
          <p:cNvPr id="48" name="E10 footer explanation">
            <a:extLst>
              <a:ext uri="{FF2B5EF4-FFF2-40B4-BE49-F238E27FC236}">
                <a16:creationId xmlns:a16="http://schemas.microsoft.com/office/drawing/2014/main" id="{904623A3-BABB-28CF-58A8-643EEDB19982}"/>
              </a:ext>
            </a:extLst>
          </p:cNvPr>
          <p:cNvSpPr txBox="1"/>
          <p:nvPr/>
        </p:nvSpPr>
        <p:spPr>
          <a:xfrm>
            <a:off x="3529584" y="6074664"/>
            <a:ext cx="1947672" cy="5681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74357"/>
                </a:solidFill>
                <a:latin typeface="Aptos"/>
              </a:rPr>
              <a:t>FactCG σε πλήρες hyp</a:t>
            </a:r>
          </a:p>
        </p:txBody>
      </p:sp>
      <p:sp>
        <p:nvSpPr>
          <p:cNvPr id="49" name="E11 footer accent">
            <a:extLst>
              <a:ext uri="{FF2B5EF4-FFF2-40B4-BE49-F238E27FC236}">
                <a16:creationId xmlns:a16="http://schemas.microsoft.com/office/drawing/2014/main" id="{CDF5772B-1F7C-4490-1323-354B30854626}"/>
              </a:ext>
            </a:extLst>
          </p:cNvPr>
          <p:cNvSpPr/>
          <p:nvPr/>
        </p:nvSpPr>
        <p:spPr>
          <a:xfrm>
            <a:off x="5989320" y="6099048"/>
            <a:ext cx="45720" cy="48463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E11 footer label">
            <a:extLst>
              <a:ext uri="{FF2B5EF4-FFF2-40B4-BE49-F238E27FC236}">
                <a16:creationId xmlns:a16="http://schemas.microsoft.com/office/drawing/2014/main" id="{227610C3-8764-40E7-CAE4-AAB7AFA48C10}"/>
              </a:ext>
            </a:extLst>
          </p:cNvPr>
          <p:cNvSpPr txBox="1"/>
          <p:nvPr/>
        </p:nvSpPr>
        <p:spPr>
          <a:xfrm>
            <a:off x="6117336" y="6135624"/>
            <a:ext cx="914400" cy="32669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A8F6A"/>
                </a:solidFill>
                <a:latin typeface="Aptos"/>
              </a:rPr>
              <a:t>E11</a:t>
            </a:r>
          </a:p>
        </p:txBody>
      </p:sp>
      <p:sp>
        <p:nvSpPr>
          <p:cNvPr id="51" name="E11 footer explanation">
            <a:extLst>
              <a:ext uri="{FF2B5EF4-FFF2-40B4-BE49-F238E27FC236}">
                <a16:creationId xmlns:a16="http://schemas.microsoft.com/office/drawing/2014/main" id="{0A04FA55-A9AF-5CA1-00E5-2CDA66BDAB8A}"/>
              </a:ext>
            </a:extLst>
          </p:cNvPr>
          <p:cNvSpPr txBox="1"/>
          <p:nvPr/>
        </p:nvSpPr>
        <p:spPr>
          <a:xfrm>
            <a:off x="6757415" y="6074664"/>
            <a:ext cx="1362457" cy="5681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74357"/>
                </a:solidFill>
                <a:latin typeface="Aptos"/>
              </a:rPr>
              <a:t>Fine-tuning transformer</a:t>
            </a:r>
          </a:p>
        </p:txBody>
      </p:sp>
      <p:sp>
        <p:nvSpPr>
          <p:cNvPr id="55" name="Page number">
            <a:extLst>
              <a:ext uri="{FF2B5EF4-FFF2-40B4-BE49-F238E27FC236}">
                <a16:creationId xmlns:a16="http://schemas.microsoft.com/office/drawing/2014/main" id="{BA33AAC2-15FC-82CA-CF7E-3DCB98DCD7C6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00" b="0" dirty="0">
                <a:solidFill>
                  <a:srgbClr val="677384"/>
                </a:solidFill>
                <a:latin typeface="Aptos"/>
              </a:rPr>
              <a:t>1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  <p:sp>
        <p:nvSpPr>
          <p:cNvPr id="61" name="E6-v3 name">
            <a:extLst>
              <a:ext uri="{FF2B5EF4-FFF2-40B4-BE49-F238E27FC236}">
                <a16:creationId xmlns:a16="http://schemas.microsoft.com/office/drawing/2014/main" id="{1FE96560-33B5-A0AD-8108-47E6DC07CBAE}"/>
              </a:ext>
            </a:extLst>
          </p:cNvPr>
          <p:cNvSpPr txBox="1"/>
          <p:nvPr/>
        </p:nvSpPr>
        <p:spPr>
          <a:xfrm>
            <a:off x="1732280" y="2485136"/>
            <a:ext cx="713232" cy="28001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8A7EA8"/>
                </a:solidFill>
                <a:latin typeface="Aptos"/>
              </a:rPr>
              <a:t>E6-v3</a:t>
            </a:r>
          </a:p>
        </p:txBody>
      </p:sp>
    </p:spTree>
    <p:extLst>
      <p:ext uri="{BB962C8B-B14F-4D97-AF65-F5344CB8AC3E}">
        <p14:creationId xmlns:p14="http://schemas.microsoft.com/office/powerpoint/2010/main" val="369443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91A72-B2ED-D245-2C6B-393B6A6F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hase label">
            <a:extLst>
              <a:ext uri="{FF2B5EF4-FFF2-40B4-BE49-F238E27FC236}">
                <a16:creationId xmlns:a16="http://schemas.microsoft.com/office/drawing/2014/main" id="{D677394F-875A-1554-1E39-37AE06677509}"/>
              </a:ext>
            </a:extLst>
          </p:cNvPr>
          <p:cNvSpPr txBox="1"/>
          <p:nvPr/>
        </p:nvSpPr>
        <p:spPr>
          <a:xfrm>
            <a:off x="10822720" y="316992"/>
            <a:ext cx="1100000" cy="282065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r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7A8F6A"/>
                </a:solidFill>
                <a:latin typeface="Aptos"/>
              </a:rPr>
              <a:t>E9–E11</a:t>
            </a:r>
          </a:p>
        </p:txBody>
      </p:sp>
      <p:sp>
        <p:nvSpPr>
          <p:cNvPr id="9" name="Column 1 green line">
            <a:extLst>
              <a:ext uri="{FF2B5EF4-FFF2-40B4-BE49-F238E27FC236}">
                <a16:creationId xmlns:a16="http://schemas.microsoft.com/office/drawing/2014/main" id="{8C0682B1-8A27-D4A5-A691-0CF3E3DD5A49}"/>
              </a:ext>
            </a:extLst>
          </p:cNvPr>
          <p:cNvSpPr/>
          <p:nvPr/>
        </p:nvSpPr>
        <p:spPr>
          <a:xfrm>
            <a:off x="420624" y="1562608"/>
            <a:ext cx="3639312" cy="5029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lumn 2 green line">
            <a:extLst>
              <a:ext uri="{FF2B5EF4-FFF2-40B4-BE49-F238E27FC236}">
                <a16:creationId xmlns:a16="http://schemas.microsoft.com/office/drawing/2014/main" id="{7DFACFAD-5D68-D857-5196-9AE2E0705D7A}"/>
              </a:ext>
            </a:extLst>
          </p:cNvPr>
          <p:cNvSpPr/>
          <p:nvPr/>
        </p:nvSpPr>
        <p:spPr>
          <a:xfrm>
            <a:off x="4261104" y="1562608"/>
            <a:ext cx="3639312" cy="5029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lumn 3 green line">
            <a:extLst>
              <a:ext uri="{FF2B5EF4-FFF2-40B4-BE49-F238E27FC236}">
                <a16:creationId xmlns:a16="http://schemas.microsoft.com/office/drawing/2014/main" id="{7EA0621E-9E53-D01C-A1EE-DF7FACDEFDF0}"/>
              </a:ext>
            </a:extLst>
          </p:cNvPr>
          <p:cNvSpPr/>
          <p:nvPr/>
        </p:nvSpPr>
        <p:spPr>
          <a:xfrm>
            <a:off x="8101583" y="1562608"/>
            <a:ext cx="3639312" cy="50292"/>
          </a:xfrm>
          <a:prstGeom prst="rect">
            <a:avLst/>
          </a:prstGeom>
          <a:solidFill>
            <a:srgbClr val="7A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lumn 1 divider">
            <a:extLst>
              <a:ext uri="{FF2B5EF4-FFF2-40B4-BE49-F238E27FC236}">
                <a16:creationId xmlns:a16="http://schemas.microsoft.com/office/drawing/2014/main" id="{EE35CB1A-2D7A-6407-75DE-5847ABDB6ED9}"/>
              </a:ext>
            </a:extLst>
          </p:cNvPr>
          <p:cNvSpPr/>
          <p:nvPr/>
        </p:nvSpPr>
        <p:spPr>
          <a:xfrm>
            <a:off x="4133087" y="1590039"/>
            <a:ext cx="10972" cy="3593592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lumn 2 divider">
            <a:extLst>
              <a:ext uri="{FF2B5EF4-FFF2-40B4-BE49-F238E27FC236}">
                <a16:creationId xmlns:a16="http://schemas.microsoft.com/office/drawing/2014/main" id="{8ABF9346-2D78-5F3F-B4EA-82F6AE4FD986}"/>
              </a:ext>
            </a:extLst>
          </p:cNvPr>
          <p:cNvSpPr/>
          <p:nvPr/>
        </p:nvSpPr>
        <p:spPr>
          <a:xfrm>
            <a:off x="7973568" y="1590039"/>
            <a:ext cx="10972" cy="3593592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E9 heading">
            <a:extLst>
              <a:ext uri="{FF2B5EF4-FFF2-40B4-BE49-F238E27FC236}">
                <a16:creationId xmlns:a16="http://schemas.microsoft.com/office/drawing/2014/main" id="{CF46D095-435F-A076-3EAD-7204157DD5B3}"/>
              </a:ext>
            </a:extLst>
          </p:cNvPr>
          <p:cNvSpPr txBox="1"/>
          <p:nvPr/>
        </p:nvSpPr>
        <p:spPr>
          <a:xfrm>
            <a:off x="457200" y="1727200"/>
            <a:ext cx="3429000" cy="376065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0243D"/>
                </a:solidFill>
                <a:latin typeface="Aptos"/>
              </a:rPr>
              <a:t>Έλεγχος claims</a:t>
            </a:r>
          </a:p>
        </p:txBody>
      </p:sp>
      <p:sp>
        <p:nvSpPr>
          <p:cNvPr id="21" name="E9 method">
            <a:extLst>
              <a:ext uri="{FF2B5EF4-FFF2-40B4-BE49-F238E27FC236}">
                <a16:creationId xmlns:a16="http://schemas.microsoft.com/office/drawing/2014/main" id="{72F021A9-3D63-4C0D-BDCF-B26067142C50}"/>
              </a:ext>
            </a:extLst>
          </p:cNvPr>
          <p:cNvSpPr txBox="1"/>
          <p:nvPr/>
        </p:nvSpPr>
        <p:spPr>
          <a:xfrm>
            <a:off x="457200" y="2230120"/>
            <a:ext cx="3474720" cy="3200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E9 · NLI και MiniCheck</a:t>
            </a:r>
          </a:p>
        </p:txBody>
      </p:sp>
      <p:sp>
        <p:nvSpPr>
          <p:cNvPr id="23" name="E9 claim split">
            <a:extLst>
              <a:ext uri="{FF2B5EF4-FFF2-40B4-BE49-F238E27FC236}">
                <a16:creationId xmlns:a16="http://schemas.microsoft.com/office/drawing/2014/main" id="{F8058CB1-6958-C31E-FEB9-8A0CC5357A2A}"/>
              </a:ext>
            </a:extLst>
          </p:cNvPr>
          <p:cNvSpPr txBox="1"/>
          <p:nvPr/>
        </p:nvSpPr>
        <p:spPr>
          <a:xfrm>
            <a:off x="457200" y="2751328"/>
            <a:ext cx="3580792" cy="2293961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Μια απάντηση μπορεί να έχει και σωστές και λανθασμένες πληροφορίες.</a:t>
            </a:r>
          </a:p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Χωρίζουμε το hyp σε μικρούς ισχυρισμούς (</a:t>
            </a:r>
            <a:r>
              <a:rPr lang="el-GR" sz="2000" dirty="0" err="1">
                <a:solidFill>
                  <a:srgbClr val="374357"/>
                </a:solidFill>
              </a:rPr>
              <a:t>claims</a:t>
            </a:r>
            <a:r>
              <a:rPr lang="el-GR" sz="2000" dirty="0">
                <a:solidFill>
                  <a:srgbClr val="374357"/>
                </a:solidFill>
              </a:rPr>
              <a:t>) και ελέγχουμε χωριστά τον καθένα.</a:t>
            </a:r>
          </a:p>
          <a:p>
            <a:pPr>
              <a:lnSpc>
                <a:spcPct val="107000"/>
              </a:lnSpc>
            </a:pPr>
            <a:endParaRPr lang="el-GR" sz="2000" dirty="0">
              <a:solidFill>
                <a:srgbClr val="374357"/>
              </a:solidFill>
            </a:endParaRPr>
          </a:p>
        </p:txBody>
      </p:sp>
      <p:sp>
        <p:nvSpPr>
          <p:cNvPr id="25" name="E9-A label">
            <a:extLst>
              <a:ext uri="{FF2B5EF4-FFF2-40B4-BE49-F238E27FC236}">
                <a16:creationId xmlns:a16="http://schemas.microsoft.com/office/drawing/2014/main" id="{ED9CA10E-80C9-5C89-89B5-B219A7812B02}"/>
              </a:ext>
            </a:extLst>
          </p:cNvPr>
          <p:cNvSpPr txBox="1"/>
          <p:nvPr/>
        </p:nvSpPr>
        <p:spPr>
          <a:xfrm>
            <a:off x="457200" y="4881880"/>
            <a:ext cx="685800" cy="313419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A</a:t>
            </a:r>
          </a:p>
        </p:txBody>
      </p:sp>
      <p:sp>
        <p:nvSpPr>
          <p:cNvPr id="27" name="E9-A text">
            <a:extLst>
              <a:ext uri="{FF2B5EF4-FFF2-40B4-BE49-F238E27FC236}">
                <a16:creationId xmlns:a16="http://schemas.microsoft.com/office/drawing/2014/main" id="{1BD2BEAC-7687-5AA3-1F64-ECD37E6323ED}"/>
              </a:ext>
            </a:extLst>
          </p:cNvPr>
          <p:cNvSpPr txBox="1"/>
          <p:nvPr/>
        </p:nvSpPr>
        <p:spPr>
          <a:xfrm>
            <a:off x="829056" y="4881880"/>
            <a:ext cx="3013828" cy="318036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Το NLI ελέγχει κάθε </a:t>
            </a:r>
            <a:r>
              <a:rPr lang="el-GR" sz="2000" dirty="0" err="1">
                <a:solidFill>
                  <a:srgbClr val="374357"/>
                </a:solidFill>
              </a:rPr>
              <a:t>claim</a:t>
            </a:r>
            <a:r>
              <a:rPr lang="el-GR" sz="2000" dirty="0">
                <a:solidFill>
                  <a:srgbClr val="374357"/>
                </a:solidFill>
              </a:rPr>
              <a:t>.</a:t>
            </a:r>
          </a:p>
        </p:txBody>
      </p:sp>
      <p:sp>
        <p:nvSpPr>
          <p:cNvPr id="29" name="E9-B label">
            <a:extLst>
              <a:ext uri="{FF2B5EF4-FFF2-40B4-BE49-F238E27FC236}">
                <a16:creationId xmlns:a16="http://schemas.microsoft.com/office/drawing/2014/main" id="{71D0C807-528F-A912-3D92-98C26A78F460}"/>
              </a:ext>
            </a:extLst>
          </p:cNvPr>
          <p:cNvSpPr txBox="1"/>
          <p:nvPr/>
        </p:nvSpPr>
        <p:spPr>
          <a:xfrm>
            <a:off x="457200" y="5369560"/>
            <a:ext cx="685800" cy="313419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B</a:t>
            </a:r>
          </a:p>
        </p:txBody>
      </p:sp>
      <p:sp>
        <p:nvSpPr>
          <p:cNvPr id="31" name="E9-B text">
            <a:extLst>
              <a:ext uri="{FF2B5EF4-FFF2-40B4-BE49-F238E27FC236}">
                <a16:creationId xmlns:a16="http://schemas.microsoft.com/office/drawing/2014/main" id="{ECB2735E-AB43-F3FD-68E0-813AE2CFC485}"/>
              </a:ext>
            </a:extLst>
          </p:cNvPr>
          <p:cNvSpPr txBox="1"/>
          <p:nvPr/>
        </p:nvSpPr>
        <p:spPr>
          <a:xfrm>
            <a:off x="829056" y="5369560"/>
            <a:ext cx="3282086" cy="647357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Το MiniCheck δίνει επιπλέον έλεγχο.</a:t>
            </a:r>
          </a:p>
        </p:txBody>
      </p:sp>
      <p:sp>
        <p:nvSpPr>
          <p:cNvPr id="35" name="E10 heading">
            <a:extLst>
              <a:ext uri="{FF2B5EF4-FFF2-40B4-BE49-F238E27FC236}">
                <a16:creationId xmlns:a16="http://schemas.microsoft.com/office/drawing/2014/main" id="{E8A1E7AD-2575-404D-7DF6-F131E3A40747}"/>
              </a:ext>
            </a:extLst>
          </p:cNvPr>
          <p:cNvSpPr txBox="1"/>
          <p:nvPr/>
        </p:nvSpPr>
        <p:spPr>
          <a:xfrm>
            <a:off x="4297680" y="1727200"/>
            <a:ext cx="3429000" cy="376065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43D"/>
                </a:solidFill>
                <a:latin typeface="Aptos"/>
              </a:rPr>
              <a:t>Έλεγχος πλήρους hyp</a:t>
            </a:r>
          </a:p>
        </p:txBody>
      </p:sp>
      <p:sp>
        <p:nvSpPr>
          <p:cNvPr id="37" name="E10 method">
            <a:extLst>
              <a:ext uri="{FF2B5EF4-FFF2-40B4-BE49-F238E27FC236}">
                <a16:creationId xmlns:a16="http://schemas.microsoft.com/office/drawing/2014/main" id="{16B0DC57-1F78-CB0D-114F-DFDD836EEF43}"/>
              </a:ext>
            </a:extLst>
          </p:cNvPr>
          <p:cNvSpPr txBox="1"/>
          <p:nvPr/>
        </p:nvSpPr>
        <p:spPr>
          <a:xfrm>
            <a:off x="4297680" y="2230120"/>
            <a:ext cx="3474720" cy="3200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E10 · FactCG</a:t>
            </a:r>
          </a:p>
        </p:txBody>
      </p:sp>
      <p:sp>
        <p:nvSpPr>
          <p:cNvPr id="39" name="E10 full input">
            <a:extLst>
              <a:ext uri="{FF2B5EF4-FFF2-40B4-BE49-F238E27FC236}">
                <a16:creationId xmlns:a16="http://schemas.microsoft.com/office/drawing/2014/main" id="{C92D4682-BC4A-128C-3D9C-F812EEF2D136}"/>
              </a:ext>
            </a:extLst>
          </p:cNvPr>
          <p:cNvSpPr txBox="1"/>
          <p:nvPr/>
        </p:nvSpPr>
        <p:spPr>
          <a:xfrm>
            <a:off x="4297680" y="2751328"/>
            <a:ext cx="3474720" cy="1623008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4500"/>
              </a:lnSpc>
            </a:pPr>
            <a:r>
              <a:rPr lang="el-GR" sz="2000" dirty="0">
                <a:solidFill>
                  <a:srgbClr val="374357"/>
                </a:solidFill>
              </a:rPr>
              <a:t>Η διάσπαση σε </a:t>
            </a:r>
            <a:r>
              <a:rPr lang="el-GR" sz="2000" dirty="0" err="1">
                <a:solidFill>
                  <a:srgbClr val="374357"/>
                </a:solidFill>
              </a:rPr>
              <a:t>claims</a:t>
            </a:r>
            <a:r>
              <a:rPr lang="el-GR" sz="2000" dirty="0">
                <a:solidFill>
                  <a:srgbClr val="374357"/>
                </a:solidFill>
              </a:rPr>
              <a:t> μπορεί να χάσει μέρος του νοήματος.</a:t>
            </a:r>
          </a:p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Το FactCG συγκρίνει ολόκληρο το hyp με την αναφορά και δίνει ένα score υποστήριξης (0-1).</a:t>
            </a:r>
          </a:p>
        </p:txBody>
      </p:sp>
      <p:sp>
        <p:nvSpPr>
          <p:cNvPr id="49" name="E11 heading">
            <a:extLst>
              <a:ext uri="{FF2B5EF4-FFF2-40B4-BE49-F238E27FC236}">
                <a16:creationId xmlns:a16="http://schemas.microsoft.com/office/drawing/2014/main" id="{B1585048-7567-799C-4E71-BEB92BA4235D}"/>
              </a:ext>
            </a:extLst>
          </p:cNvPr>
          <p:cNvSpPr txBox="1"/>
          <p:nvPr/>
        </p:nvSpPr>
        <p:spPr>
          <a:xfrm>
            <a:off x="8138160" y="1737360"/>
            <a:ext cx="3474720" cy="376065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43D"/>
                </a:solidFill>
                <a:latin typeface="Aptos"/>
              </a:rPr>
              <a:t>Άμεσο fine-tuning</a:t>
            </a:r>
          </a:p>
        </p:txBody>
      </p:sp>
      <p:sp>
        <p:nvSpPr>
          <p:cNvPr id="51" name="E11 method">
            <a:extLst>
              <a:ext uri="{FF2B5EF4-FFF2-40B4-BE49-F238E27FC236}">
                <a16:creationId xmlns:a16="http://schemas.microsoft.com/office/drawing/2014/main" id="{50A6D0B9-CD33-4239-3270-27C484EA837C}"/>
              </a:ext>
            </a:extLst>
          </p:cNvPr>
          <p:cNvSpPr txBox="1"/>
          <p:nvPr/>
        </p:nvSpPr>
        <p:spPr>
          <a:xfrm>
            <a:off x="8138160" y="2240280"/>
            <a:ext cx="3474720" cy="313419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E11 · Εκπαίδευση transformer</a:t>
            </a:r>
          </a:p>
        </p:txBody>
      </p:sp>
      <p:sp>
        <p:nvSpPr>
          <p:cNvPr id="53" name="E11 direct learning">
            <a:extLst>
              <a:ext uri="{FF2B5EF4-FFF2-40B4-BE49-F238E27FC236}">
                <a16:creationId xmlns:a16="http://schemas.microsoft.com/office/drawing/2014/main" id="{15973BA2-A11D-A5C2-E16E-17745B052B7B}"/>
              </a:ext>
            </a:extLst>
          </p:cNvPr>
          <p:cNvSpPr txBox="1"/>
          <p:nvPr/>
        </p:nvSpPr>
        <p:spPr>
          <a:xfrm>
            <a:off x="8138160" y="2690680"/>
            <a:ext cx="3784560" cy="976678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Το μοντέλο διαβάζει αναφορά και hyp και προβλέπει απευθείας την ετικέτα, χωρίς Random Forest.</a:t>
            </a:r>
          </a:p>
        </p:txBody>
      </p:sp>
      <p:sp>
        <p:nvSpPr>
          <p:cNvPr id="55" name="E11 section divider A">
            <a:extLst>
              <a:ext uri="{FF2B5EF4-FFF2-40B4-BE49-F238E27FC236}">
                <a16:creationId xmlns:a16="http://schemas.microsoft.com/office/drawing/2014/main" id="{59E47073-F934-3636-8884-F3B2FE4D7586}"/>
              </a:ext>
            </a:extLst>
          </p:cNvPr>
          <p:cNvSpPr/>
          <p:nvPr/>
        </p:nvSpPr>
        <p:spPr>
          <a:xfrm>
            <a:off x="8138160" y="3738880"/>
            <a:ext cx="3502152" cy="12801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11 labels heading">
            <a:extLst>
              <a:ext uri="{FF2B5EF4-FFF2-40B4-BE49-F238E27FC236}">
                <a16:creationId xmlns:a16="http://schemas.microsoft.com/office/drawing/2014/main" id="{1CC45B1E-3DC2-B49E-9197-B6A089866DA3}"/>
              </a:ext>
            </a:extLst>
          </p:cNvPr>
          <p:cNvSpPr txBox="1"/>
          <p:nvPr/>
        </p:nvSpPr>
        <p:spPr>
          <a:xfrm>
            <a:off x="8138160" y="3859040"/>
            <a:ext cx="3474720" cy="310896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7A8F6A"/>
                </a:solidFill>
                <a:latin typeface="Aptos"/>
              </a:rPr>
              <a:t>Πρόσθετη</a:t>
            </a:r>
            <a:r>
              <a:rPr sz="2000" b="1" dirty="0">
                <a:solidFill>
                  <a:srgbClr val="7A8F6A"/>
                </a:solidFill>
                <a:latin typeface="Aptos"/>
              </a:rPr>
              <a:t> επίβλεψη</a:t>
            </a:r>
          </a:p>
        </p:txBody>
      </p:sp>
      <p:sp>
        <p:nvSpPr>
          <p:cNvPr id="59" name="E11 labels explanation">
            <a:extLst>
              <a:ext uri="{FF2B5EF4-FFF2-40B4-BE49-F238E27FC236}">
                <a16:creationId xmlns:a16="http://schemas.microsoft.com/office/drawing/2014/main" id="{8B6037FA-4683-73CB-406A-3801D5693D65}"/>
              </a:ext>
            </a:extLst>
          </p:cNvPr>
          <p:cNvSpPr txBox="1"/>
          <p:nvPr/>
        </p:nvSpPr>
        <p:spPr>
          <a:xfrm>
            <a:off x="8138159" y="4174040"/>
            <a:ext cx="3675889" cy="976678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7000"/>
              </a:lnSpc>
            </a:pPr>
            <a:r>
              <a:rPr lang="el-GR" sz="2000" dirty="0">
                <a:solidFill>
                  <a:srgbClr val="374357"/>
                </a:solidFill>
              </a:rPr>
              <a:t>Δοκιμάσαμε ανθρώπινες ετικέτες, αλλά και επιπλέον ετικέτες που παρήγαγε ένα LLM.</a:t>
            </a:r>
          </a:p>
        </p:txBody>
      </p:sp>
      <p:sp>
        <p:nvSpPr>
          <p:cNvPr id="61" name="E11 section divider B">
            <a:extLst>
              <a:ext uri="{FF2B5EF4-FFF2-40B4-BE49-F238E27FC236}">
                <a16:creationId xmlns:a16="http://schemas.microsoft.com/office/drawing/2014/main" id="{E797D519-550D-DDBB-7FD0-B56499C846BA}"/>
              </a:ext>
            </a:extLst>
          </p:cNvPr>
          <p:cNvSpPr/>
          <p:nvPr/>
        </p:nvSpPr>
        <p:spPr>
          <a:xfrm>
            <a:off x="8138160" y="5236920"/>
            <a:ext cx="3502152" cy="12801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E11 contrastive heading">
            <a:extLst>
              <a:ext uri="{FF2B5EF4-FFF2-40B4-BE49-F238E27FC236}">
                <a16:creationId xmlns:a16="http://schemas.microsoft.com/office/drawing/2014/main" id="{7579AA56-CC6F-5299-1698-40850D414B9A}"/>
              </a:ext>
            </a:extLst>
          </p:cNvPr>
          <p:cNvSpPr txBox="1"/>
          <p:nvPr/>
        </p:nvSpPr>
        <p:spPr>
          <a:xfrm>
            <a:off x="8138160" y="5306280"/>
            <a:ext cx="3474720" cy="3200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7A8F6A"/>
                </a:solidFill>
                <a:latin typeface="Aptos"/>
              </a:rPr>
              <a:t>Contrastive learning</a:t>
            </a:r>
          </a:p>
        </p:txBody>
      </p:sp>
      <p:sp>
        <p:nvSpPr>
          <p:cNvPr id="65" name="E11 contrastive explanation">
            <a:extLst>
              <a:ext uri="{FF2B5EF4-FFF2-40B4-BE49-F238E27FC236}">
                <a16:creationId xmlns:a16="http://schemas.microsoft.com/office/drawing/2014/main" id="{50483207-350A-1359-10A0-CFAD1B25A2BE}"/>
              </a:ext>
            </a:extLst>
          </p:cNvPr>
          <p:cNvSpPr txBox="1"/>
          <p:nvPr/>
        </p:nvSpPr>
        <p:spPr>
          <a:xfrm>
            <a:off x="8138159" y="5641280"/>
            <a:ext cx="3784560" cy="92333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dirty="0"/>
              <a:t>Ο transformer εκπα</a:t>
            </a:r>
            <a:r>
              <a:rPr lang="en-GB" sz="2000" dirty="0" err="1"/>
              <a:t>ιδεύετ</a:t>
            </a:r>
            <a:r>
              <a:rPr lang="en-GB" sz="2000" dirty="0"/>
              <a:t>αι ώστε να διακρίνει καλύτερα τα συνεπή από τα ασυνεπή ζεύγη κειμένων.</a:t>
            </a:r>
            <a:endParaRPr sz="2000" b="0" dirty="0">
              <a:solidFill>
                <a:srgbClr val="374357"/>
              </a:solidFill>
              <a:latin typeface="Aptos"/>
            </a:endParaRPr>
          </a:p>
        </p:txBody>
      </p:sp>
      <p:sp>
        <p:nvSpPr>
          <p:cNvPr id="73" name="Slide title">
            <a:extLst>
              <a:ext uri="{FF2B5EF4-FFF2-40B4-BE49-F238E27FC236}">
                <a16:creationId xmlns:a16="http://schemas.microsoft.com/office/drawing/2014/main" id="{E4BFE90E-5F2C-83D0-4376-6084B6728DD0}"/>
              </a:ext>
            </a:extLst>
          </p:cNvPr>
          <p:cNvSpPr txBox="1"/>
          <p:nvPr/>
        </p:nvSpPr>
        <p:spPr>
          <a:xfrm>
            <a:off x="411480" y="246888"/>
            <a:ext cx="9710928" cy="5014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04500"/>
              </a:lnSpc>
            </a:pPr>
            <a:r>
              <a:rPr lang="el-GR" sz="3200" b="1" dirty="0">
                <a:solidFill>
                  <a:srgbClr val="10243D"/>
                </a:solidFill>
              </a:rPr>
              <a:t>Ποια τα βασικά σημεία της 3</a:t>
            </a:r>
            <a:r>
              <a:rPr lang="el-GR" sz="3200" b="1" baseline="30000" dirty="0">
                <a:solidFill>
                  <a:srgbClr val="10243D"/>
                </a:solidFill>
              </a:rPr>
              <a:t>ης</a:t>
            </a:r>
            <a:r>
              <a:rPr lang="el-GR" sz="3200" b="1" dirty="0">
                <a:solidFill>
                  <a:srgbClr val="10243D"/>
                </a:solidFill>
              </a:rPr>
              <a:t> πειραματικής φάσης;</a:t>
            </a:r>
          </a:p>
        </p:txBody>
      </p:sp>
      <p:sp>
        <p:nvSpPr>
          <p:cNvPr id="75" name="Subtitle">
            <a:extLst>
              <a:ext uri="{FF2B5EF4-FFF2-40B4-BE49-F238E27FC236}">
                <a16:creationId xmlns:a16="http://schemas.microsoft.com/office/drawing/2014/main" id="{953DFEE3-4CC1-DF37-9BA7-1DDE475E7742}"/>
              </a:ext>
            </a:extLst>
          </p:cNvPr>
          <p:cNvSpPr txBox="1"/>
          <p:nvPr/>
        </p:nvSpPr>
        <p:spPr>
          <a:xfrm>
            <a:off x="420624" y="859536"/>
            <a:ext cx="11247120" cy="37606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104500"/>
              </a:lnSpc>
            </a:pPr>
            <a:r>
              <a:rPr lang="el-GR" sz="2400" dirty="0">
                <a:solidFill>
                  <a:srgbClr val="374357"/>
                </a:solidFill>
              </a:rPr>
              <a:t>Δύο τρόποι ελέγχου του </a:t>
            </a:r>
            <a:r>
              <a:rPr lang="en-GB" sz="2400" dirty="0">
                <a:solidFill>
                  <a:srgbClr val="374357"/>
                </a:solidFill>
              </a:rPr>
              <a:t>hypothesis </a:t>
            </a:r>
            <a:r>
              <a:rPr lang="el-GR" sz="2400" dirty="0">
                <a:solidFill>
                  <a:srgbClr val="374357"/>
                </a:solidFill>
              </a:rPr>
              <a:t>και μια διαφορετική προσέγγιση εκπαίδευσης.</a:t>
            </a:r>
          </a:p>
        </p:txBody>
      </p:sp>
      <p:pic>
        <p:nvPicPr>
          <p:cNvPr id="77" name="Graphic 76" descr="Hammer1 outline">
            <a:extLst>
              <a:ext uri="{FF2B5EF4-FFF2-40B4-BE49-F238E27FC236}">
                <a16:creationId xmlns:a16="http://schemas.microsoft.com/office/drawing/2014/main" id="{2F210A3D-16B0-EC7C-FA0C-9E5C8BCFD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456" y="1714754"/>
            <a:ext cx="914400" cy="914400"/>
          </a:xfrm>
          <a:prstGeom prst="rect">
            <a:avLst/>
          </a:prstGeom>
        </p:spPr>
      </p:pic>
      <p:sp>
        <p:nvSpPr>
          <p:cNvPr id="81" name="Column 2 divider">
            <a:extLst>
              <a:ext uri="{FF2B5EF4-FFF2-40B4-BE49-F238E27FC236}">
                <a16:creationId xmlns:a16="http://schemas.microsoft.com/office/drawing/2014/main" id="{50AC18AC-FF8C-DBFE-11DC-351501AA4EB0}"/>
              </a:ext>
            </a:extLst>
          </p:cNvPr>
          <p:cNvSpPr/>
          <p:nvPr/>
        </p:nvSpPr>
        <p:spPr>
          <a:xfrm>
            <a:off x="7973568" y="3075939"/>
            <a:ext cx="10972" cy="3593592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Feature count background">
            <a:extLst>
              <a:ext uri="{FF2B5EF4-FFF2-40B4-BE49-F238E27FC236}">
                <a16:creationId xmlns:a16="http://schemas.microsoft.com/office/drawing/2014/main" id="{8E40CB8D-3FFC-8313-6A38-CB35BBA8577C}"/>
              </a:ext>
            </a:extLst>
          </p:cNvPr>
          <p:cNvSpPr/>
          <p:nvPr/>
        </p:nvSpPr>
        <p:spPr>
          <a:xfrm>
            <a:off x="4343400" y="4579112"/>
            <a:ext cx="3383280" cy="594360"/>
          </a:xfrm>
          <a:prstGeom prst="rect">
            <a:avLst/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E10 feature count">
            <a:extLst>
              <a:ext uri="{FF2B5EF4-FFF2-40B4-BE49-F238E27FC236}">
                <a16:creationId xmlns:a16="http://schemas.microsoft.com/office/drawing/2014/main" id="{ADA9CB58-BB71-FD84-A23E-494051687453}"/>
              </a:ext>
            </a:extLst>
          </p:cNvPr>
          <p:cNvSpPr txBox="1"/>
          <p:nvPr/>
        </p:nvSpPr>
        <p:spPr>
          <a:xfrm>
            <a:off x="4480560" y="4725416"/>
            <a:ext cx="3063240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7A8F6A"/>
                </a:solidFill>
                <a:latin typeface="Aptos"/>
              </a:rPr>
              <a:t>36 + 1 = 37 χαρακτηριστικά</a:t>
            </a:r>
          </a:p>
        </p:txBody>
      </p:sp>
      <p:sp>
        <p:nvSpPr>
          <p:cNvPr id="91" name="Column 1 divider">
            <a:extLst>
              <a:ext uri="{FF2B5EF4-FFF2-40B4-BE49-F238E27FC236}">
                <a16:creationId xmlns:a16="http://schemas.microsoft.com/office/drawing/2014/main" id="{3A0D09F5-9D71-3DB1-A4E1-A21F3FC1C166}"/>
              </a:ext>
            </a:extLst>
          </p:cNvPr>
          <p:cNvSpPr/>
          <p:nvPr/>
        </p:nvSpPr>
        <p:spPr>
          <a:xfrm>
            <a:off x="4133087" y="2423159"/>
            <a:ext cx="10972" cy="3593592"/>
          </a:xfrm>
          <a:prstGeom prst="rect">
            <a:avLst/>
          </a:prstGeom>
          <a:solidFill>
            <a:srgbClr val="C6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E9 RF note">
            <a:extLst>
              <a:ext uri="{FF2B5EF4-FFF2-40B4-BE49-F238E27FC236}">
                <a16:creationId xmlns:a16="http://schemas.microsoft.com/office/drawing/2014/main" id="{CD76BB1B-4189-650E-6F42-F1FC7B5380AF}"/>
              </a:ext>
            </a:extLst>
          </p:cNvPr>
          <p:cNvSpPr txBox="1"/>
          <p:nvPr/>
        </p:nvSpPr>
        <p:spPr>
          <a:xfrm>
            <a:off x="4236719" y="5410840"/>
            <a:ext cx="3622041" cy="509307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600" b="1" dirty="0">
                <a:solidFill>
                  <a:srgbClr val="677384"/>
                </a:solidFill>
                <a:latin typeface="Aptos"/>
              </a:rPr>
              <a:t>Το score του FactCG προστίθεται στα χαρακτηριστικά του E6-v3.</a:t>
            </a:r>
            <a:endParaRPr lang="en-GB" sz="1600" b="1" dirty="0">
              <a:solidFill>
                <a:srgbClr val="677384"/>
              </a:solidFill>
              <a:latin typeface="Aptos"/>
            </a:endParaRPr>
          </a:p>
        </p:txBody>
      </p:sp>
      <p:cxnSp>
        <p:nvCxnSpPr>
          <p:cNvPr id="98" name="Connector 30">
            <a:extLst>
              <a:ext uri="{FF2B5EF4-FFF2-40B4-BE49-F238E27FC236}">
                <a16:creationId xmlns:a16="http://schemas.microsoft.com/office/drawing/2014/main" id="{D7A450BB-3B8D-237D-6DAC-4ACF1FBB043F}"/>
              </a:ext>
            </a:extLst>
          </p:cNvPr>
          <p:cNvCxnSpPr>
            <a:cxnSpLocks/>
          </p:cNvCxnSpPr>
          <p:nvPr/>
        </p:nvCxnSpPr>
        <p:spPr>
          <a:xfrm>
            <a:off x="410464" y="6083808"/>
            <a:ext cx="7361936" cy="0"/>
          </a:xfrm>
          <a:prstGeom prst="line">
            <a:avLst/>
          </a:prstGeom>
          <a:ln w="12700">
            <a:solidFill>
              <a:srgbClr val="C4C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6C80A7-B86C-4B87-0D8F-26878F4991F1}"/>
              </a:ext>
            </a:extLst>
          </p:cNvPr>
          <p:cNvSpPr txBox="1"/>
          <p:nvPr/>
        </p:nvSpPr>
        <p:spPr>
          <a:xfrm>
            <a:off x="243840" y="6298100"/>
            <a:ext cx="8289748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677384"/>
                </a:solidFill>
                <a:latin typeface="Aptos"/>
              </a:rPr>
              <a:t>E9</a:t>
            </a:r>
            <a:r>
              <a:rPr lang="el-GR" sz="1600" dirty="0">
                <a:solidFill>
                  <a:srgbClr val="677384"/>
                </a:solidFill>
                <a:latin typeface="Aptos"/>
              </a:rPr>
              <a:t>-</a:t>
            </a:r>
            <a:r>
              <a:rPr lang="en-GB" sz="1600" dirty="0">
                <a:solidFill>
                  <a:srgbClr val="677384"/>
                </a:solidFill>
                <a:latin typeface="Aptos"/>
              </a:rPr>
              <a:t>E10: </a:t>
            </a:r>
            <a:r>
              <a:rPr lang="el-GR" sz="1600" dirty="0">
                <a:solidFill>
                  <a:srgbClr val="677384"/>
                </a:solidFill>
                <a:latin typeface="Aptos"/>
              </a:rPr>
              <a:t>νέοι έλεγχοι στον </a:t>
            </a:r>
            <a:r>
              <a:rPr lang="en-GB" sz="1600" dirty="0">
                <a:solidFill>
                  <a:srgbClr val="677384"/>
                </a:solidFill>
                <a:latin typeface="Aptos"/>
              </a:rPr>
              <a:t>Random Forest ·</a:t>
            </a:r>
            <a:r>
              <a:rPr lang="el-GR" sz="1600" dirty="0">
                <a:solidFill>
                  <a:srgbClr val="677384"/>
                </a:solidFill>
                <a:latin typeface="Aptos"/>
              </a:rPr>
              <a:t> </a:t>
            </a:r>
            <a:r>
              <a:rPr lang="en-GB" sz="1600" dirty="0">
                <a:solidFill>
                  <a:srgbClr val="677384"/>
                </a:solidFill>
                <a:latin typeface="Aptos"/>
              </a:rPr>
              <a:t>E11: </a:t>
            </a:r>
            <a:r>
              <a:rPr lang="el-GR" sz="1600" dirty="0">
                <a:solidFill>
                  <a:srgbClr val="677384"/>
                </a:solidFill>
                <a:latin typeface="Aptos"/>
              </a:rPr>
              <a:t>απευθείας πρόβλεψη από </a:t>
            </a:r>
            <a:r>
              <a:rPr lang="en-GB" sz="1600" dirty="0">
                <a:solidFill>
                  <a:srgbClr val="677384"/>
                </a:solidFill>
                <a:latin typeface="Aptos"/>
              </a:rPr>
              <a:t>transformer.</a:t>
            </a:r>
          </a:p>
        </p:txBody>
      </p:sp>
      <p:pic>
        <p:nvPicPr>
          <p:cNvPr id="103" name="Graphic 102" descr="Eye with solid fill">
            <a:extLst>
              <a:ext uri="{FF2B5EF4-FFF2-40B4-BE49-F238E27FC236}">
                <a16:creationId xmlns:a16="http://schemas.microsoft.com/office/drawing/2014/main" id="{97E48B40-8C87-EF5E-F423-5F57B64EB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8792" y="3682318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22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F3F3913-E1D5-FE2A-413B-9A8CEAD947FB}"/>
              </a:ext>
            </a:extLst>
          </p:cNvPr>
          <p:cNvSpPr>
            <a:spLocks noGrp="1"/>
          </p:cNvSpPr>
          <p:nvPr/>
        </p:nvSpPr>
        <p:spPr>
          <a:xfrm>
            <a:off x="411480" y="246888"/>
            <a:ext cx="11334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000" b="1">
                <a:solidFill>
                  <a:srgbClr val="10243D"/>
                </a:solidFill>
              </a:defRPr>
            </a:defPPr>
            <a:lvl1pPr algn="l">
              <a:defRPr sz="3000" b="1">
                <a:solidFill>
                  <a:srgbClr val="10243D"/>
                </a:solidFill>
              </a:defRPr>
            </a:lvl1pPr>
            <a:lvl2pPr algn="l">
              <a:defRPr sz="3000" b="1">
                <a:solidFill>
                  <a:srgbClr val="10243D"/>
                </a:solidFill>
              </a:defRPr>
            </a:lvl2pPr>
            <a:lvl3pPr algn="l">
              <a:defRPr sz="3000" b="1">
                <a:solidFill>
                  <a:srgbClr val="10243D"/>
                </a:solidFill>
              </a:defRPr>
            </a:lvl3pPr>
            <a:lvl4pPr algn="l">
              <a:defRPr sz="3000" b="1">
                <a:solidFill>
                  <a:srgbClr val="10243D"/>
                </a:solidFill>
              </a:defRPr>
            </a:lvl4pPr>
            <a:lvl5pPr algn="l">
              <a:defRPr sz="3000" b="1">
                <a:solidFill>
                  <a:srgbClr val="10243D"/>
                </a:solidFill>
              </a:defRPr>
            </a:lvl5pPr>
            <a:lvl6pPr algn="l">
              <a:defRPr sz="3000" b="1">
                <a:solidFill>
                  <a:srgbClr val="10243D"/>
                </a:solidFill>
              </a:defRPr>
            </a:lvl6pPr>
            <a:lvl7pPr algn="l">
              <a:defRPr sz="3000" b="1">
                <a:solidFill>
                  <a:srgbClr val="10243D"/>
                </a:solidFill>
              </a:defRPr>
            </a:lvl7pPr>
            <a:lvl8pPr algn="l">
              <a:defRPr sz="3000" b="1">
                <a:solidFill>
                  <a:srgbClr val="10243D"/>
                </a:solidFill>
              </a:defRPr>
            </a:lvl8pPr>
            <a:lvl9pPr algn="l">
              <a:defRPr sz="3000" b="1">
                <a:solidFill>
                  <a:srgbClr val="10243D"/>
                </a:solidFill>
              </a:defRPr>
            </a:lvl9pPr>
          </a:lstStyle>
          <a:p>
            <a:pPr algn="l">
              <a:defRPr sz="3000" b="1">
                <a:solidFill>
                  <a:srgbClr val="10243D"/>
                </a:solidFill>
              </a:defRPr>
            </a:pPr>
            <a:r>
              <a:rPr sz="3000" b="1" dirty="0">
                <a:solidFill>
                  <a:srgbClr val="10243D"/>
                </a:solidFill>
              </a:rPr>
              <a:t>Πώς α</a:t>
            </a:r>
            <a:r>
              <a:rPr sz="3000" b="1" dirty="0" err="1">
                <a:solidFill>
                  <a:srgbClr val="10243D"/>
                </a:solidFill>
              </a:rPr>
              <a:t>ξιολογούμε</a:t>
            </a:r>
            <a:r>
              <a:rPr sz="3000" b="1" dirty="0">
                <a:solidFill>
                  <a:srgbClr val="10243D"/>
                </a:solidFill>
              </a:rPr>
              <a:t> τα αποτελέσματα;</a:t>
            </a:r>
          </a:p>
        </p:txBody>
      </p:sp>
      <p:sp>
        <p:nvSpPr>
          <p:cNvPr id="5" name="Accuracy card">
            <a:extLst>
              <a:ext uri="{FF2B5EF4-FFF2-40B4-BE49-F238E27FC236}">
                <a16:creationId xmlns:a16="http://schemas.microsoft.com/office/drawing/2014/main" id="{227EDDD6-B102-D0AA-7BA0-5CCF6A0304CB}"/>
              </a:ext>
            </a:extLst>
          </p:cNvPr>
          <p:cNvSpPr>
            <a:spLocks noGrp="1"/>
          </p:cNvSpPr>
          <p:nvPr/>
        </p:nvSpPr>
        <p:spPr>
          <a:xfrm>
            <a:off x="419100" y="1066799"/>
            <a:ext cx="5505450" cy="2543175"/>
          </a:xfrm>
          <a:prstGeom prst="roundRect">
            <a:avLst>
              <a:gd name="adj" fmla="val 4000"/>
            </a:avLst>
          </a:prstGeom>
          <a:solidFill>
            <a:srgbClr val="FCFBF8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pearman card">
            <a:extLst>
              <a:ext uri="{FF2B5EF4-FFF2-40B4-BE49-F238E27FC236}">
                <a16:creationId xmlns:a16="http://schemas.microsoft.com/office/drawing/2014/main" id="{9CB67E7F-A90D-A7A0-7A62-AF3C2BE312AE}"/>
              </a:ext>
            </a:extLst>
          </p:cNvPr>
          <p:cNvSpPr>
            <a:spLocks noGrp="1"/>
          </p:cNvSpPr>
          <p:nvPr/>
        </p:nvSpPr>
        <p:spPr>
          <a:xfrm>
            <a:off x="6267450" y="1066799"/>
            <a:ext cx="5505450" cy="2543175"/>
          </a:xfrm>
          <a:prstGeom prst="roundRect">
            <a:avLst>
              <a:gd name="adj" fmla="val 4000"/>
            </a:avLst>
          </a:prstGeom>
          <a:solidFill>
            <a:srgbClr val="FCFBF8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Accuracy heading">
            <a:extLst>
              <a:ext uri="{FF2B5EF4-FFF2-40B4-BE49-F238E27FC236}">
                <a16:creationId xmlns:a16="http://schemas.microsoft.com/office/drawing/2014/main" id="{5301DCB3-A59A-6A89-BCE7-40FFBEA8B7D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10243D"/>
                </a:solidFill>
              </a:defRPr>
            </a:defPPr>
            <a:lvl1pPr algn="l">
              <a:defRPr sz="2250" b="1">
                <a:solidFill>
                  <a:srgbClr val="10243D"/>
                </a:solidFill>
              </a:defRPr>
            </a:lvl1pPr>
            <a:lvl2pPr algn="l">
              <a:defRPr sz="2250" b="1">
                <a:solidFill>
                  <a:srgbClr val="10243D"/>
                </a:solidFill>
              </a:defRPr>
            </a:lvl2pPr>
            <a:lvl3pPr algn="l">
              <a:defRPr sz="2250" b="1">
                <a:solidFill>
                  <a:srgbClr val="10243D"/>
                </a:solidFill>
              </a:defRPr>
            </a:lvl3pPr>
            <a:lvl4pPr algn="l">
              <a:defRPr sz="2250" b="1">
                <a:solidFill>
                  <a:srgbClr val="10243D"/>
                </a:solidFill>
              </a:defRPr>
            </a:lvl4pPr>
            <a:lvl5pPr algn="l">
              <a:defRPr sz="2250" b="1">
                <a:solidFill>
                  <a:srgbClr val="10243D"/>
                </a:solidFill>
              </a:defRPr>
            </a:lvl5pPr>
            <a:lvl6pPr algn="l">
              <a:defRPr sz="2250" b="1">
                <a:solidFill>
                  <a:srgbClr val="10243D"/>
                </a:solidFill>
              </a:defRPr>
            </a:lvl6pPr>
            <a:lvl7pPr algn="l">
              <a:defRPr sz="2250" b="1">
                <a:solidFill>
                  <a:srgbClr val="10243D"/>
                </a:solidFill>
              </a:defRPr>
            </a:lvl7pPr>
            <a:lvl8pPr algn="l">
              <a:defRPr sz="2250" b="1">
                <a:solidFill>
                  <a:srgbClr val="10243D"/>
                </a:solidFill>
              </a:defRPr>
            </a:lvl8pPr>
            <a:lvl9pPr algn="l">
              <a:defRPr sz="2250" b="1">
                <a:solidFill>
                  <a:srgbClr val="10243D"/>
                </a:solidFill>
              </a:defRPr>
            </a:lvl9pPr>
          </a:lstStyle>
          <a:p>
            <a:pPr algn="l">
              <a:defRPr sz="2250" b="1">
                <a:solidFill>
                  <a:srgbClr val="10243D"/>
                </a:solidFill>
              </a:defRPr>
            </a:pPr>
            <a:r>
              <a:rPr sz="2400" b="1" dirty="0">
                <a:solidFill>
                  <a:srgbClr val="10243D"/>
                </a:solidFill>
              </a:rPr>
              <a:t>Accuracy</a:t>
            </a:r>
          </a:p>
        </p:txBody>
      </p:sp>
      <p:sp>
        <p:nvSpPr>
          <p:cNvPr id="11" name="Spearman heading">
            <a:extLst>
              <a:ext uri="{FF2B5EF4-FFF2-40B4-BE49-F238E27FC236}">
                <a16:creationId xmlns:a16="http://schemas.microsoft.com/office/drawing/2014/main" id="{3F61D592-D5E5-394C-AD8D-4669745EF510}"/>
              </a:ext>
            </a:extLst>
          </p:cNvPr>
          <p:cNvSpPr>
            <a:spLocks noGrp="1"/>
          </p:cNvSpPr>
          <p:nvPr/>
        </p:nvSpPr>
        <p:spPr>
          <a:xfrm>
            <a:off x="6496050" y="12573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250" b="1">
                <a:solidFill>
                  <a:srgbClr val="10243D"/>
                </a:solidFill>
              </a:defRPr>
            </a:defPPr>
            <a:lvl1pPr algn="l">
              <a:defRPr sz="2250" b="1">
                <a:solidFill>
                  <a:srgbClr val="10243D"/>
                </a:solidFill>
              </a:defRPr>
            </a:lvl1pPr>
            <a:lvl2pPr algn="l">
              <a:defRPr sz="2250" b="1">
                <a:solidFill>
                  <a:srgbClr val="10243D"/>
                </a:solidFill>
              </a:defRPr>
            </a:lvl2pPr>
            <a:lvl3pPr algn="l">
              <a:defRPr sz="2250" b="1">
                <a:solidFill>
                  <a:srgbClr val="10243D"/>
                </a:solidFill>
              </a:defRPr>
            </a:lvl3pPr>
            <a:lvl4pPr algn="l">
              <a:defRPr sz="2250" b="1">
                <a:solidFill>
                  <a:srgbClr val="10243D"/>
                </a:solidFill>
              </a:defRPr>
            </a:lvl4pPr>
            <a:lvl5pPr algn="l">
              <a:defRPr sz="2250" b="1">
                <a:solidFill>
                  <a:srgbClr val="10243D"/>
                </a:solidFill>
              </a:defRPr>
            </a:lvl5pPr>
            <a:lvl6pPr algn="l">
              <a:defRPr sz="2250" b="1">
                <a:solidFill>
                  <a:srgbClr val="10243D"/>
                </a:solidFill>
              </a:defRPr>
            </a:lvl6pPr>
            <a:lvl7pPr algn="l">
              <a:defRPr sz="2250" b="1">
                <a:solidFill>
                  <a:srgbClr val="10243D"/>
                </a:solidFill>
              </a:defRPr>
            </a:lvl7pPr>
            <a:lvl8pPr algn="l">
              <a:defRPr sz="2250" b="1">
                <a:solidFill>
                  <a:srgbClr val="10243D"/>
                </a:solidFill>
              </a:defRPr>
            </a:lvl8pPr>
            <a:lvl9pPr algn="l">
              <a:defRPr sz="2250" b="1">
                <a:solidFill>
                  <a:srgbClr val="10243D"/>
                </a:solidFill>
              </a:defRPr>
            </a:lvl9pPr>
          </a:lstStyle>
          <a:p>
            <a:pPr algn="l">
              <a:defRPr sz="2250" b="1">
                <a:solidFill>
                  <a:srgbClr val="10243D"/>
                </a:solidFill>
              </a:defRPr>
            </a:pPr>
            <a:r>
              <a:rPr sz="2400" b="1" dirty="0">
                <a:solidFill>
                  <a:srgbClr val="10243D"/>
                </a:solidFill>
              </a:rPr>
              <a:t>Spearman (ρ)</a:t>
            </a:r>
          </a:p>
        </p:txBody>
      </p:sp>
      <p:sp>
        <p:nvSpPr>
          <p:cNvPr id="13" name="Accuracy question">
            <a:extLst>
              <a:ext uri="{FF2B5EF4-FFF2-40B4-BE49-F238E27FC236}">
                <a16:creationId xmlns:a16="http://schemas.microsoft.com/office/drawing/2014/main" id="{2D89AA03-3268-18B3-7C94-EB0407C7CF8E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800" b="0">
                <a:solidFill>
                  <a:srgbClr val="374357"/>
                </a:solidFill>
              </a:defRPr>
            </a:defPPr>
            <a:lvl1pPr algn="l">
              <a:defRPr sz="1800" b="0">
                <a:solidFill>
                  <a:srgbClr val="374357"/>
                </a:solidFill>
              </a:defRPr>
            </a:lvl1pPr>
            <a:lvl2pPr algn="l">
              <a:defRPr sz="1800" b="0">
                <a:solidFill>
                  <a:srgbClr val="374357"/>
                </a:solidFill>
              </a:defRPr>
            </a:lvl2pPr>
            <a:lvl3pPr algn="l">
              <a:defRPr sz="1800" b="0">
                <a:solidFill>
                  <a:srgbClr val="374357"/>
                </a:solidFill>
              </a:defRPr>
            </a:lvl3pPr>
            <a:lvl4pPr algn="l">
              <a:defRPr sz="1800" b="0">
                <a:solidFill>
                  <a:srgbClr val="374357"/>
                </a:solidFill>
              </a:defRPr>
            </a:lvl4pPr>
            <a:lvl5pPr algn="l">
              <a:defRPr sz="1800" b="0">
                <a:solidFill>
                  <a:srgbClr val="374357"/>
                </a:solidFill>
              </a:defRPr>
            </a:lvl5pPr>
            <a:lvl6pPr algn="l">
              <a:defRPr sz="1800" b="0">
                <a:solidFill>
                  <a:srgbClr val="374357"/>
                </a:solidFill>
              </a:defRPr>
            </a:lvl6pPr>
            <a:lvl7pPr algn="l">
              <a:defRPr sz="1800" b="0">
                <a:solidFill>
                  <a:srgbClr val="374357"/>
                </a:solidFill>
              </a:defRPr>
            </a:lvl7pPr>
            <a:lvl8pPr algn="l">
              <a:defRPr sz="1800" b="0">
                <a:solidFill>
                  <a:srgbClr val="374357"/>
                </a:solidFill>
              </a:defRPr>
            </a:lvl8pPr>
            <a:lvl9pPr algn="l">
              <a:defRPr sz="1800" b="0">
                <a:solidFill>
                  <a:srgbClr val="374357"/>
                </a:solidFill>
              </a:defRPr>
            </a:lvl9pPr>
          </a:lstStyle>
          <a:p>
            <a:pPr algn="l">
              <a:defRPr sz="1800" b="0">
                <a:solidFill>
                  <a:srgbClr val="374357"/>
                </a:solidFill>
              </a:defRPr>
            </a:pPr>
            <a:r>
              <a:rPr sz="1800" b="0" dirty="0" err="1">
                <a:solidFill>
                  <a:srgbClr val="374357"/>
                </a:solidFill>
              </a:rPr>
              <a:t>Πόσες</a:t>
            </a:r>
            <a:r>
              <a:rPr sz="1800" b="0" dirty="0">
                <a:solidFill>
                  <a:srgbClr val="374357"/>
                </a:solidFill>
              </a:rPr>
              <a:t> προβλέψεις είναι </a:t>
            </a:r>
            <a:r>
              <a:rPr sz="1800" b="0" dirty="0" err="1">
                <a:solidFill>
                  <a:srgbClr val="374357"/>
                </a:solidFill>
              </a:rPr>
              <a:t>σωστές</a:t>
            </a:r>
            <a:r>
              <a:rPr sz="1800" b="0" dirty="0">
                <a:solidFill>
                  <a:srgbClr val="374357"/>
                </a:solidFill>
              </a:rPr>
              <a:t>;</a:t>
            </a:r>
          </a:p>
        </p:txBody>
      </p:sp>
      <p:sp>
        <p:nvSpPr>
          <p:cNvPr id="15" name="Spearman question">
            <a:extLst>
              <a:ext uri="{FF2B5EF4-FFF2-40B4-BE49-F238E27FC236}">
                <a16:creationId xmlns:a16="http://schemas.microsoft.com/office/drawing/2014/main" id="{428F2AA4-055A-8F40-48EF-08D3B8D0B402}"/>
              </a:ext>
            </a:extLst>
          </p:cNvPr>
          <p:cNvSpPr>
            <a:spLocks noGrp="1"/>
          </p:cNvSpPr>
          <p:nvPr/>
        </p:nvSpPr>
        <p:spPr>
          <a:xfrm>
            <a:off x="6496050" y="175260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374357"/>
                </a:solidFill>
              </a:defRPr>
            </a:defPPr>
            <a:lvl1pPr algn="l">
              <a:defRPr sz="1575" b="0">
                <a:solidFill>
                  <a:srgbClr val="374357"/>
                </a:solidFill>
              </a:defRPr>
            </a:lvl1pPr>
            <a:lvl2pPr algn="l">
              <a:defRPr sz="1575" b="0">
                <a:solidFill>
                  <a:srgbClr val="374357"/>
                </a:solidFill>
              </a:defRPr>
            </a:lvl2pPr>
            <a:lvl3pPr algn="l">
              <a:defRPr sz="1575" b="0">
                <a:solidFill>
                  <a:srgbClr val="374357"/>
                </a:solidFill>
              </a:defRPr>
            </a:lvl3pPr>
            <a:lvl4pPr algn="l">
              <a:defRPr sz="1575" b="0">
                <a:solidFill>
                  <a:srgbClr val="374357"/>
                </a:solidFill>
              </a:defRPr>
            </a:lvl4pPr>
            <a:lvl5pPr algn="l">
              <a:defRPr sz="1575" b="0">
                <a:solidFill>
                  <a:srgbClr val="374357"/>
                </a:solidFill>
              </a:defRPr>
            </a:lvl5pPr>
            <a:lvl6pPr algn="l">
              <a:defRPr sz="1575" b="0">
                <a:solidFill>
                  <a:srgbClr val="374357"/>
                </a:solidFill>
              </a:defRPr>
            </a:lvl6pPr>
            <a:lvl7pPr algn="l">
              <a:defRPr sz="1575" b="0">
                <a:solidFill>
                  <a:srgbClr val="374357"/>
                </a:solidFill>
              </a:defRPr>
            </a:lvl7pPr>
            <a:lvl8pPr algn="l">
              <a:defRPr sz="1575" b="0">
                <a:solidFill>
                  <a:srgbClr val="374357"/>
                </a:solidFill>
              </a:defRPr>
            </a:lvl8pPr>
            <a:lvl9pPr algn="l">
              <a:defRPr sz="1575" b="0">
                <a:solidFill>
                  <a:srgbClr val="374357"/>
                </a:solidFill>
              </a:defRPr>
            </a:lvl9pPr>
          </a:lstStyle>
          <a:p>
            <a:pPr algn="l">
              <a:defRPr sz="1575" b="0">
                <a:solidFill>
                  <a:srgbClr val="374357"/>
                </a:solidFill>
              </a:defRPr>
            </a:pPr>
            <a:r>
              <a:rPr sz="1800" b="0" dirty="0">
                <a:solidFill>
                  <a:srgbClr val="374357"/>
                </a:solidFill>
              </a:rPr>
              <a:t>Πόσο </a:t>
            </a:r>
            <a:r>
              <a:rPr sz="1800" b="0" dirty="0" err="1">
                <a:solidFill>
                  <a:srgbClr val="374357"/>
                </a:solidFill>
              </a:rPr>
              <a:t>συμφωνεί</a:t>
            </a:r>
            <a:r>
              <a:rPr sz="1800" b="0" dirty="0">
                <a:solidFill>
                  <a:srgbClr val="374357"/>
                </a:solidFill>
              </a:rPr>
              <a:t> η κα</a:t>
            </a:r>
            <a:r>
              <a:rPr sz="1800" b="0" dirty="0" err="1">
                <a:solidFill>
                  <a:srgbClr val="374357"/>
                </a:solidFill>
              </a:rPr>
              <a:t>τάτ</a:t>
            </a:r>
            <a:r>
              <a:rPr sz="1800" b="0" dirty="0">
                <a:solidFill>
                  <a:srgbClr val="374357"/>
                </a:solidFill>
              </a:rPr>
              <a:t>αξη των scores του μοντέλου</a:t>
            </a:r>
            <a:r>
              <a:rPr lang="en-GB" sz="1800" b="0" dirty="0">
                <a:solidFill>
                  <a:srgbClr val="374357"/>
                </a:solidFill>
              </a:rPr>
              <a:t> </a:t>
            </a:r>
            <a:r>
              <a:rPr sz="1800" b="0" dirty="0">
                <a:solidFill>
                  <a:srgbClr val="374357"/>
                </a:solidFill>
              </a:rPr>
              <a:t>με την κα</a:t>
            </a:r>
            <a:r>
              <a:rPr sz="1800" b="0" dirty="0" err="1">
                <a:solidFill>
                  <a:srgbClr val="374357"/>
                </a:solidFill>
              </a:rPr>
              <a:t>τάτ</a:t>
            </a:r>
            <a:r>
              <a:rPr sz="1800" b="0" dirty="0">
                <a:solidFill>
                  <a:srgbClr val="374357"/>
                </a:solidFill>
              </a:rPr>
              <a:t>αξη των ανθρώπινων τιμών</a:t>
            </a:r>
          </a:p>
          <a:p>
            <a:pPr algn="l">
              <a:defRPr sz="1575" b="0">
                <a:solidFill>
                  <a:srgbClr val="374357"/>
                </a:solidFill>
              </a:defRPr>
            </a:pPr>
            <a:r>
              <a:rPr sz="1800" b="0" dirty="0">
                <a:solidFill>
                  <a:srgbClr val="374357"/>
                </a:solidFill>
              </a:rPr>
              <a:t>p(Hallucination);</a:t>
            </a:r>
          </a:p>
        </p:txBody>
      </p:sp>
      <p:sp>
        <p:nvSpPr>
          <p:cNvPr id="17" name="Accuracy formula prefix">
            <a:extLst>
              <a:ext uri="{FF2B5EF4-FFF2-40B4-BE49-F238E27FC236}">
                <a16:creationId xmlns:a16="http://schemas.microsoft.com/office/drawing/2014/main" id="{E8D0F043-0ACD-4519-1D63-82AE772EBE41}"/>
              </a:ext>
            </a:extLst>
          </p:cNvPr>
          <p:cNvSpPr>
            <a:spLocks noGrp="1"/>
          </p:cNvSpPr>
          <p:nvPr/>
        </p:nvSpPr>
        <p:spPr>
          <a:xfrm>
            <a:off x="621276" y="2457445"/>
            <a:ext cx="1436124" cy="345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r">
              <a:defRPr sz="1725" b="1">
                <a:solidFill>
                  <a:srgbClr val="325E83"/>
                </a:solidFill>
              </a:defRPr>
            </a:defPPr>
            <a:lvl1pPr algn="r">
              <a:defRPr sz="1725" b="1">
                <a:solidFill>
                  <a:srgbClr val="325E83"/>
                </a:solidFill>
              </a:defRPr>
            </a:lvl1pPr>
            <a:lvl2pPr algn="r">
              <a:defRPr sz="1725" b="1">
                <a:solidFill>
                  <a:srgbClr val="325E83"/>
                </a:solidFill>
              </a:defRPr>
            </a:lvl2pPr>
            <a:lvl3pPr algn="r">
              <a:defRPr sz="1725" b="1">
                <a:solidFill>
                  <a:srgbClr val="325E83"/>
                </a:solidFill>
              </a:defRPr>
            </a:lvl3pPr>
            <a:lvl4pPr algn="r">
              <a:defRPr sz="1725" b="1">
                <a:solidFill>
                  <a:srgbClr val="325E83"/>
                </a:solidFill>
              </a:defRPr>
            </a:lvl4pPr>
            <a:lvl5pPr algn="r">
              <a:defRPr sz="1725" b="1">
                <a:solidFill>
                  <a:srgbClr val="325E83"/>
                </a:solidFill>
              </a:defRPr>
            </a:lvl5pPr>
            <a:lvl6pPr algn="r">
              <a:defRPr sz="1725" b="1">
                <a:solidFill>
                  <a:srgbClr val="325E83"/>
                </a:solidFill>
              </a:defRPr>
            </a:lvl6pPr>
            <a:lvl7pPr algn="r">
              <a:defRPr sz="1725" b="1">
                <a:solidFill>
                  <a:srgbClr val="325E83"/>
                </a:solidFill>
              </a:defRPr>
            </a:lvl7pPr>
            <a:lvl8pPr algn="r">
              <a:defRPr sz="1725" b="1">
                <a:solidFill>
                  <a:srgbClr val="325E83"/>
                </a:solidFill>
              </a:defRPr>
            </a:lvl8pPr>
            <a:lvl9pPr algn="r">
              <a:defRPr sz="1725" b="1">
                <a:solidFill>
                  <a:srgbClr val="325E83"/>
                </a:solidFill>
              </a:defRPr>
            </a:lvl9pPr>
          </a:lstStyle>
          <a:p>
            <a:pPr algn="r">
              <a:defRPr sz="1725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Accuracy =</a:t>
            </a:r>
          </a:p>
        </p:txBody>
      </p:sp>
      <p:sp>
        <p:nvSpPr>
          <p:cNvPr id="19" name="Accuracy fraction numerator">
            <a:extLst>
              <a:ext uri="{FF2B5EF4-FFF2-40B4-BE49-F238E27FC236}">
                <a16:creationId xmlns:a16="http://schemas.microsoft.com/office/drawing/2014/main" id="{3D099DFA-2193-87D9-2C65-DD660DD6A38B}"/>
              </a:ext>
            </a:extLst>
          </p:cNvPr>
          <p:cNvSpPr>
            <a:spLocks noGrp="1"/>
          </p:cNvSpPr>
          <p:nvPr/>
        </p:nvSpPr>
        <p:spPr>
          <a:xfrm>
            <a:off x="2143125" y="2266946"/>
            <a:ext cx="2333625" cy="2848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75" b="1">
                <a:solidFill>
                  <a:srgbClr val="325E83"/>
                </a:solidFill>
              </a:defRPr>
            </a:defPPr>
            <a:lvl1pPr algn="ctr">
              <a:defRPr sz="1575" b="1">
                <a:solidFill>
                  <a:srgbClr val="325E83"/>
                </a:solidFill>
              </a:defRPr>
            </a:lvl1pPr>
            <a:lvl2pPr algn="ctr">
              <a:defRPr sz="1575" b="1">
                <a:solidFill>
                  <a:srgbClr val="325E83"/>
                </a:solidFill>
              </a:defRPr>
            </a:lvl2pPr>
            <a:lvl3pPr algn="ctr">
              <a:defRPr sz="1575" b="1">
                <a:solidFill>
                  <a:srgbClr val="325E83"/>
                </a:solidFill>
              </a:defRPr>
            </a:lvl3pPr>
            <a:lvl4pPr algn="ctr">
              <a:defRPr sz="1575" b="1">
                <a:solidFill>
                  <a:srgbClr val="325E83"/>
                </a:solidFill>
              </a:defRPr>
            </a:lvl4pPr>
            <a:lvl5pPr algn="ctr">
              <a:defRPr sz="1575" b="1">
                <a:solidFill>
                  <a:srgbClr val="325E83"/>
                </a:solidFill>
              </a:defRPr>
            </a:lvl5pPr>
            <a:lvl6pPr algn="ctr">
              <a:defRPr sz="1575" b="1">
                <a:solidFill>
                  <a:srgbClr val="325E83"/>
                </a:solidFill>
              </a:defRPr>
            </a:lvl6pPr>
            <a:lvl7pPr algn="ctr">
              <a:defRPr sz="1575" b="1">
                <a:solidFill>
                  <a:srgbClr val="325E83"/>
                </a:solidFill>
              </a:defRPr>
            </a:lvl7pPr>
            <a:lvl8pPr algn="ctr">
              <a:defRPr sz="1575" b="1">
                <a:solidFill>
                  <a:srgbClr val="325E83"/>
                </a:solidFill>
              </a:defRPr>
            </a:lvl8pPr>
            <a:lvl9pPr algn="ctr">
              <a:defRPr sz="1575" b="1">
                <a:solidFill>
                  <a:srgbClr val="325E83"/>
                </a:solidFill>
              </a:defRPr>
            </a:lvl9pPr>
          </a:lstStyle>
          <a:p>
            <a:pPr algn="ctr">
              <a:defRPr sz="1575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Σωστές προβλέψεις</a:t>
            </a:r>
          </a:p>
        </p:txBody>
      </p:sp>
      <p:sp>
        <p:nvSpPr>
          <p:cNvPr id="21" name="Accuracy fraction bar">
            <a:extLst>
              <a:ext uri="{FF2B5EF4-FFF2-40B4-BE49-F238E27FC236}">
                <a16:creationId xmlns:a16="http://schemas.microsoft.com/office/drawing/2014/main" id="{C24A0B7B-9A2D-031A-1D74-974D28B20F58}"/>
              </a:ext>
            </a:extLst>
          </p:cNvPr>
          <p:cNvSpPr>
            <a:spLocks noGrp="1"/>
          </p:cNvSpPr>
          <p:nvPr/>
        </p:nvSpPr>
        <p:spPr>
          <a:xfrm>
            <a:off x="2190750" y="2562220"/>
            <a:ext cx="2238375" cy="46592"/>
          </a:xfrm>
          <a:prstGeom prst="rect">
            <a:avLst/>
          </a:prstGeom>
          <a:solidFill>
            <a:srgbClr val="325E8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Accuracy fraction denominator">
            <a:extLst>
              <a:ext uri="{FF2B5EF4-FFF2-40B4-BE49-F238E27FC236}">
                <a16:creationId xmlns:a16="http://schemas.microsoft.com/office/drawing/2014/main" id="{AF91A897-6E81-35C7-186F-2A5A9C80EBBF}"/>
              </a:ext>
            </a:extLst>
          </p:cNvPr>
          <p:cNvSpPr>
            <a:spLocks noGrp="1"/>
          </p:cNvSpPr>
          <p:nvPr/>
        </p:nvSpPr>
        <p:spPr>
          <a:xfrm>
            <a:off x="2143125" y="2619371"/>
            <a:ext cx="2333625" cy="2848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75" b="1">
                <a:solidFill>
                  <a:srgbClr val="325E83"/>
                </a:solidFill>
              </a:defRPr>
            </a:defPPr>
            <a:lvl1pPr algn="ctr">
              <a:defRPr sz="1575" b="1">
                <a:solidFill>
                  <a:srgbClr val="325E83"/>
                </a:solidFill>
              </a:defRPr>
            </a:lvl1pPr>
            <a:lvl2pPr algn="ctr">
              <a:defRPr sz="1575" b="1">
                <a:solidFill>
                  <a:srgbClr val="325E83"/>
                </a:solidFill>
              </a:defRPr>
            </a:lvl2pPr>
            <a:lvl3pPr algn="ctr">
              <a:defRPr sz="1575" b="1">
                <a:solidFill>
                  <a:srgbClr val="325E83"/>
                </a:solidFill>
              </a:defRPr>
            </a:lvl3pPr>
            <a:lvl4pPr algn="ctr">
              <a:defRPr sz="1575" b="1">
                <a:solidFill>
                  <a:srgbClr val="325E83"/>
                </a:solidFill>
              </a:defRPr>
            </a:lvl4pPr>
            <a:lvl5pPr algn="ctr">
              <a:defRPr sz="1575" b="1">
                <a:solidFill>
                  <a:srgbClr val="325E83"/>
                </a:solidFill>
              </a:defRPr>
            </a:lvl5pPr>
            <a:lvl6pPr algn="ctr">
              <a:defRPr sz="1575" b="1">
                <a:solidFill>
                  <a:srgbClr val="325E83"/>
                </a:solidFill>
              </a:defRPr>
            </a:lvl6pPr>
            <a:lvl7pPr algn="ctr">
              <a:defRPr sz="1575" b="1">
                <a:solidFill>
                  <a:srgbClr val="325E83"/>
                </a:solidFill>
              </a:defRPr>
            </a:lvl7pPr>
            <a:lvl8pPr algn="ctr">
              <a:defRPr sz="1575" b="1">
                <a:solidFill>
                  <a:srgbClr val="325E83"/>
                </a:solidFill>
              </a:defRPr>
            </a:lvl8pPr>
            <a:lvl9pPr algn="ctr">
              <a:defRPr sz="1575" b="1">
                <a:solidFill>
                  <a:srgbClr val="325E83"/>
                </a:solidFill>
              </a:defRPr>
            </a:lvl9pPr>
          </a:lstStyle>
          <a:p>
            <a:pPr algn="ctr">
              <a:defRPr sz="1575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Σύνολο δειγμάτων</a:t>
            </a:r>
          </a:p>
        </p:txBody>
      </p:sp>
      <p:sp>
        <p:nvSpPr>
          <p:cNvPr id="25" name="Accuracy formula multiplier">
            <a:extLst>
              <a:ext uri="{FF2B5EF4-FFF2-40B4-BE49-F238E27FC236}">
                <a16:creationId xmlns:a16="http://schemas.microsoft.com/office/drawing/2014/main" id="{D3D098C3-84F3-214C-C69A-891B11BBB535}"/>
              </a:ext>
            </a:extLst>
          </p:cNvPr>
          <p:cNvSpPr>
            <a:spLocks noGrp="1"/>
          </p:cNvSpPr>
          <p:nvPr/>
        </p:nvSpPr>
        <p:spPr>
          <a:xfrm>
            <a:off x="4514850" y="2457445"/>
            <a:ext cx="895350" cy="345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325E83"/>
                </a:solidFill>
              </a:defRPr>
            </a:defPPr>
            <a:lvl1pPr algn="l">
              <a:defRPr sz="1725" b="1">
                <a:solidFill>
                  <a:srgbClr val="325E83"/>
                </a:solidFill>
              </a:defRPr>
            </a:lvl1pPr>
            <a:lvl2pPr algn="l">
              <a:defRPr sz="1725" b="1">
                <a:solidFill>
                  <a:srgbClr val="325E83"/>
                </a:solidFill>
              </a:defRPr>
            </a:lvl2pPr>
            <a:lvl3pPr algn="l">
              <a:defRPr sz="1725" b="1">
                <a:solidFill>
                  <a:srgbClr val="325E83"/>
                </a:solidFill>
              </a:defRPr>
            </a:lvl3pPr>
            <a:lvl4pPr algn="l">
              <a:defRPr sz="1725" b="1">
                <a:solidFill>
                  <a:srgbClr val="325E83"/>
                </a:solidFill>
              </a:defRPr>
            </a:lvl4pPr>
            <a:lvl5pPr algn="l">
              <a:defRPr sz="1725" b="1">
                <a:solidFill>
                  <a:srgbClr val="325E83"/>
                </a:solidFill>
              </a:defRPr>
            </a:lvl5pPr>
            <a:lvl6pPr algn="l">
              <a:defRPr sz="1725" b="1">
                <a:solidFill>
                  <a:srgbClr val="325E83"/>
                </a:solidFill>
              </a:defRPr>
            </a:lvl6pPr>
            <a:lvl7pPr algn="l">
              <a:defRPr sz="1725" b="1">
                <a:solidFill>
                  <a:srgbClr val="325E83"/>
                </a:solidFill>
              </a:defRPr>
            </a:lvl7pPr>
            <a:lvl8pPr algn="l">
              <a:defRPr sz="1725" b="1">
                <a:solidFill>
                  <a:srgbClr val="325E83"/>
                </a:solidFill>
              </a:defRPr>
            </a:lvl8pPr>
            <a:lvl9pPr algn="l">
              <a:defRPr sz="1725" b="1">
                <a:solidFill>
                  <a:srgbClr val="325E83"/>
                </a:solidFill>
              </a:defRPr>
            </a:lvl9pPr>
          </a:lstStyle>
          <a:p>
            <a:pPr algn="l">
              <a:defRPr sz="1725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× 100%</a:t>
            </a:r>
          </a:p>
        </p:txBody>
      </p:sp>
      <p:sp>
        <p:nvSpPr>
          <p:cNvPr id="27" name="Spearman calculation">
            <a:extLst>
              <a:ext uri="{FF2B5EF4-FFF2-40B4-BE49-F238E27FC236}">
                <a16:creationId xmlns:a16="http://schemas.microsoft.com/office/drawing/2014/main" id="{875FE401-8FE2-C0C4-5CEA-73740A0CBA1A}"/>
              </a:ext>
            </a:extLst>
          </p:cNvPr>
          <p:cNvSpPr>
            <a:spLocks noGrp="1"/>
          </p:cNvSpPr>
          <p:nvPr/>
        </p:nvSpPr>
        <p:spPr>
          <a:xfrm>
            <a:off x="6496050" y="2738898"/>
            <a:ext cx="5048250" cy="345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725" b="1">
                <a:solidFill>
                  <a:srgbClr val="325E83"/>
                </a:solidFill>
              </a:defRPr>
            </a:defPPr>
            <a:lvl1pPr algn="ctr">
              <a:defRPr sz="1725" b="1">
                <a:solidFill>
                  <a:srgbClr val="325E83"/>
                </a:solidFill>
              </a:defRPr>
            </a:lvl1pPr>
            <a:lvl2pPr algn="ctr">
              <a:defRPr sz="1725" b="1">
                <a:solidFill>
                  <a:srgbClr val="325E83"/>
                </a:solidFill>
              </a:defRPr>
            </a:lvl2pPr>
            <a:lvl3pPr algn="ctr">
              <a:defRPr sz="1725" b="1">
                <a:solidFill>
                  <a:srgbClr val="325E83"/>
                </a:solidFill>
              </a:defRPr>
            </a:lvl3pPr>
            <a:lvl4pPr algn="ctr">
              <a:defRPr sz="1725" b="1">
                <a:solidFill>
                  <a:srgbClr val="325E83"/>
                </a:solidFill>
              </a:defRPr>
            </a:lvl4pPr>
            <a:lvl5pPr algn="ctr">
              <a:defRPr sz="1725" b="1">
                <a:solidFill>
                  <a:srgbClr val="325E83"/>
                </a:solidFill>
              </a:defRPr>
            </a:lvl5pPr>
            <a:lvl6pPr algn="ctr">
              <a:defRPr sz="1725" b="1">
                <a:solidFill>
                  <a:srgbClr val="325E83"/>
                </a:solidFill>
              </a:defRPr>
            </a:lvl6pPr>
            <a:lvl7pPr algn="ctr">
              <a:defRPr sz="1725" b="1">
                <a:solidFill>
                  <a:srgbClr val="325E83"/>
                </a:solidFill>
              </a:defRPr>
            </a:lvl7pPr>
            <a:lvl8pPr algn="ctr">
              <a:defRPr sz="1725" b="1">
                <a:solidFill>
                  <a:srgbClr val="325E83"/>
                </a:solidFill>
              </a:defRPr>
            </a:lvl8pPr>
            <a:lvl9pPr algn="ctr">
              <a:defRPr sz="1725" b="1">
                <a:solidFill>
                  <a:srgbClr val="325E83"/>
                </a:solidFill>
              </a:defRPr>
            </a:lvl9pPr>
          </a:lstStyle>
          <a:p>
            <a:pPr algn="ctr">
              <a:defRPr sz="1725" b="1">
                <a:solidFill>
                  <a:srgbClr val="325E83"/>
                </a:solidFill>
              </a:defRPr>
            </a:pPr>
            <a:r>
              <a:rPr sz="2000" b="1" dirty="0" err="1">
                <a:solidFill>
                  <a:srgbClr val="325E83"/>
                </a:solidFill>
              </a:rPr>
              <a:t>Συσχέτιση</a:t>
            </a:r>
            <a:r>
              <a:rPr sz="2000" b="1" dirty="0">
                <a:solidFill>
                  <a:srgbClr val="325E83"/>
                </a:solidFill>
              </a:rPr>
              <a:t> μεταξύ των δύο κατα</a:t>
            </a:r>
            <a:r>
              <a:rPr sz="2000" b="1" dirty="0" err="1">
                <a:solidFill>
                  <a:srgbClr val="325E83"/>
                </a:solidFill>
              </a:rPr>
              <a:t>τάξεων</a:t>
            </a:r>
            <a:endParaRPr sz="2000" b="1" dirty="0">
              <a:solidFill>
                <a:srgbClr val="325E83"/>
              </a:solidFill>
            </a:endParaRPr>
          </a:p>
        </p:txBody>
      </p:sp>
      <p:sp>
        <p:nvSpPr>
          <p:cNvPr id="29" name="Accuracy criterion">
            <a:extLst>
              <a:ext uri="{FF2B5EF4-FFF2-40B4-BE49-F238E27FC236}">
                <a16:creationId xmlns:a16="http://schemas.microsoft.com/office/drawing/2014/main" id="{BA31538C-BB7A-DE7E-849C-38AEE256BBD3}"/>
              </a:ext>
            </a:extLst>
          </p:cNvPr>
          <p:cNvSpPr>
            <a:spLocks noGrp="1"/>
          </p:cNvSpPr>
          <p:nvPr/>
        </p:nvSpPr>
        <p:spPr>
          <a:xfrm>
            <a:off x="647700" y="3244642"/>
            <a:ext cx="5048250" cy="3255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10243D"/>
                </a:solidFill>
              </a:defRPr>
            </a:defPPr>
            <a:lvl1pPr algn="l">
              <a:defRPr sz="1725" b="1">
                <a:solidFill>
                  <a:srgbClr val="10243D"/>
                </a:solidFill>
              </a:defRPr>
            </a:lvl1pPr>
            <a:lvl2pPr algn="l">
              <a:defRPr sz="1725" b="1">
                <a:solidFill>
                  <a:srgbClr val="10243D"/>
                </a:solidFill>
              </a:defRPr>
            </a:lvl2pPr>
            <a:lvl3pPr algn="l">
              <a:defRPr sz="1725" b="1">
                <a:solidFill>
                  <a:srgbClr val="10243D"/>
                </a:solidFill>
              </a:defRPr>
            </a:lvl3pPr>
            <a:lvl4pPr algn="l">
              <a:defRPr sz="1725" b="1">
                <a:solidFill>
                  <a:srgbClr val="10243D"/>
                </a:solidFill>
              </a:defRPr>
            </a:lvl4pPr>
            <a:lvl5pPr algn="l">
              <a:defRPr sz="1725" b="1">
                <a:solidFill>
                  <a:srgbClr val="10243D"/>
                </a:solidFill>
              </a:defRPr>
            </a:lvl5pPr>
            <a:lvl6pPr algn="l">
              <a:defRPr sz="1725" b="1">
                <a:solidFill>
                  <a:srgbClr val="10243D"/>
                </a:solidFill>
              </a:defRPr>
            </a:lvl6pPr>
            <a:lvl7pPr algn="l">
              <a:defRPr sz="1725" b="1">
                <a:solidFill>
                  <a:srgbClr val="10243D"/>
                </a:solidFill>
              </a:defRPr>
            </a:lvl7pPr>
            <a:lvl8pPr algn="l">
              <a:defRPr sz="1725" b="1">
                <a:solidFill>
                  <a:srgbClr val="10243D"/>
                </a:solidFill>
              </a:defRPr>
            </a:lvl8pPr>
            <a:lvl9pPr algn="l">
              <a:defRPr sz="1725" b="1">
                <a:solidFill>
                  <a:srgbClr val="10243D"/>
                </a:solidFill>
              </a:defRPr>
            </a:lvl9pPr>
          </a:lstStyle>
          <a:p>
            <a:pPr algn="l">
              <a:defRPr sz="1725" b="1">
                <a:solidFill>
                  <a:srgbClr val="10243D"/>
                </a:solidFill>
              </a:defRPr>
            </a:pPr>
            <a:r>
              <a:rPr sz="1800" b="1" dirty="0">
                <a:solidFill>
                  <a:srgbClr val="10243D"/>
                </a:solidFill>
              </a:rPr>
              <a:t>Βα</a:t>
            </a:r>
            <a:r>
              <a:rPr sz="1800" b="1" dirty="0" err="1">
                <a:solidFill>
                  <a:srgbClr val="10243D"/>
                </a:solidFill>
              </a:rPr>
              <a:t>σικό</a:t>
            </a:r>
            <a:r>
              <a:rPr sz="1800" b="1" dirty="0">
                <a:solidFill>
                  <a:srgbClr val="10243D"/>
                </a:solidFill>
              </a:rPr>
              <a:t> κριτήριο επ</a:t>
            </a:r>
            <a:r>
              <a:rPr sz="1800" b="1" dirty="0" err="1">
                <a:solidFill>
                  <a:srgbClr val="10243D"/>
                </a:solidFill>
              </a:rPr>
              <a:t>ιλογής</a:t>
            </a:r>
            <a:endParaRPr sz="1800" b="1" dirty="0">
              <a:solidFill>
                <a:srgbClr val="10243D"/>
              </a:solidFill>
            </a:endParaRPr>
          </a:p>
        </p:txBody>
      </p:sp>
      <p:sp>
        <p:nvSpPr>
          <p:cNvPr id="31" name="Spearman criterion">
            <a:extLst>
              <a:ext uri="{FF2B5EF4-FFF2-40B4-BE49-F238E27FC236}">
                <a16:creationId xmlns:a16="http://schemas.microsoft.com/office/drawing/2014/main" id="{00F4E121-A05D-7E3E-E2F5-3A2F36392EF0}"/>
              </a:ext>
            </a:extLst>
          </p:cNvPr>
          <p:cNvSpPr>
            <a:spLocks noGrp="1"/>
          </p:cNvSpPr>
          <p:nvPr/>
        </p:nvSpPr>
        <p:spPr>
          <a:xfrm>
            <a:off x="6496050" y="3244642"/>
            <a:ext cx="5048250" cy="3255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10243D"/>
                </a:solidFill>
              </a:defRPr>
            </a:defPPr>
            <a:lvl1pPr algn="l">
              <a:defRPr sz="1725" b="1">
                <a:solidFill>
                  <a:srgbClr val="10243D"/>
                </a:solidFill>
              </a:defRPr>
            </a:lvl1pPr>
            <a:lvl2pPr algn="l">
              <a:defRPr sz="1725" b="1">
                <a:solidFill>
                  <a:srgbClr val="10243D"/>
                </a:solidFill>
              </a:defRPr>
            </a:lvl2pPr>
            <a:lvl3pPr algn="l">
              <a:defRPr sz="1725" b="1">
                <a:solidFill>
                  <a:srgbClr val="10243D"/>
                </a:solidFill>
              </a:defRPr>
            </a:lvl3pPr>
            <a:lvl4pPr algn="l">
              <a:defRPr sz="1725" b="1">
                <a:solidFill>
                  <a:srgbClr val="10243D"/>
                </a:solidFill>
              </a:defRPr>
            </a:lvl4pPr>
            <a:lvl5pPr algn="l">
              <a:defRPr sz="1725" b="1">
                <a:solidFill>
                  <a:srgbClr val="10243D"/>
                </a:solidFill>
              </a:defRPr>
            </a:lvl5pPr>
            <a:lvl6pPr algn="l">
              <a:defRPr sz="1725" b="1">
                <a:solidFill>
                  <a:srgbClr val="10243D"/>
                </a:solidFill>
              </a:defRPr>
            </a:lvl6pPr>
            <a:lvl7pPr algn="l">
              <a:defRPr sz="1725" b="1">
                <a:solidFill>
                  <a:srgbClr val="10243D"/>
                </a:solidFill>
              </a:defRPr>
            </a:lvl7pPr>
            <a:lvl8pPr algn="l">
              <a:defRPr sz="1725" b="1">
                <a:solidFill>
                  <a:srgbClr val="10243D"/>
                </a:solidFill>
              </a:defRPr>
            </a:lvl8pPr>
            <a:lvl9pPr algn="l">
              <a:defRPr sz="1725" b="1">
                <a:solidFill>
                  <a:srgbClr val="10243D"/>
                </a:solidFill>
              </a:defRPr>
            </a:lvl9pPr>
          </a:lstStyle>
          <a:p>
            <a:pPr algn="l">
              <a:defRPr sz="1725" b="1">
                <a:solidFill>
                  <a:srgbClr val="10243D"/>
                </a:solidFill>
              </a:defRPr>
            </a:pPr>
            <a:r>
              <a:rPr sz="1800" b="1" dirty="0">
                <a:solidFill>
                  <a:srgbClr val="10243D"/>
                </a:solidFill>
              </a:rPr>
              <a:t>Κριτήριο </a:t>
            </a:r>
            <a:r>
              <a:rPr sz="1800" b="1" dirty="0" err="1">
                <a:solidFill>
                  <a:srgbClr val="10243D"/>
                </a:solidFill>
              </a:rPr>
              <a:t>ισο</a:t>
            </a:r>
            <a:r>
              <a:rPr sz="1800" b="1" dirty="0">
                <a:solidFill>
                  <a:srgbClr val="10243D"/>
                </a:solidFill>
              </a:rPr>
              <a:t>βαθμίας</a:t>
            </a:r>
          </a:p>
        </p:txBody>
      </p:sp>
      <p:sp>
        <p:nvSpPr>
          <p:cNvPr id="33" name="Best development results background">
            <a:extLst>
              <a:ext uri="{FF2B5EF4-FFF2-40B4-BE49-F238E27FC236}">
                <a16:creationId xmlns:a16="http://schemas.microsoft.com/office/drawing/2014/main" id="{0741EFBF-DDEB-91C4-5D15-0120F5160A68}"/>
              </a:ext>
            </a:extLst>
          </p:cNvPr>
          <p:cNvSpPr>
            <a:spLocks noGrp="1"/>
          </p:cNvSpPr>
          <p:nvPr/>
        </p:nvSpPr>
        <p:spPr>
          <a:xfrm>
            <a:off x="419100" y="3714750"/>
            <a:ext cx="11353800" cy="2628900"/>
          </a:xfrm>
          <a:prstGeom prst="rect">
            <a:avLst/>
          </a:prstGeom>
          <a:solidFill>
            <a:srgbClr val="E8EE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Best results heading">
            <a:extLst>
              <a:ext uri="{FF2B5EF4-FFF2-40B4-BE49-F238E27FC236}">
                <a16:creationId xmlns:a16="http://schemas.microsoft.com/office/drawing/2014/main" id="{AACA3761-A165-C791-D2A1-CC5F09FB384E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10896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2100" b="1">
                <a:solidFill>
                  <a:srgbClr val="10243D"/>
                </a:solidFill>
              </a:defRPr>
            </a:defPPr>
            <a:lvl1pPr algn="l">
              <a:defRPr sz="2100" b="1">
                <a:solidFill>
                  <a:srgbClr val="10243D"/>
                </a:solidFill>
              </a:defRPr>
            </a:lvl1pPr>
            <a:lvl2pPr algn="l">
              <a:defRPr sz="2100" b="1">
                <a:solidFill>
                  <a:srgbClr val="10243D"/>
                </a:solidFill>
              </a:defRPr>
            </a:lvl2pPr>
            <a:lvl3pPr algn="l">
              <a:defRPr sz="2100" b="1">
                <a:solidFill>
                  <a:srgbClr val="10243D"/>
                </a:solidFill>
              </a:defRPr>
            </a:lvl3pPr>
            <a:lvl4pPr algn="l">
              <a:defRPr sz="2100" b="1">
                <a:solidFill>
                  <a:srgbClr val="10243D"/>
                </a:solidFill>
              </a:defRPr>
            </a:lvl4pPr>
            <a:lvl5pPr algn="l">
              <a:defRPr sz="2100" b="1">
                <a:solidFill>
                  <a:srgbClr val="10243D"/>
                </a:solidFill>
              </a:defRPr>
            </a:lvl5pPr>
            <a:lvl6pPr algn="l">
              <a:defRPr sz="2100" b="1">
                <a:solidFill>
                  <a:srgbClr val="10243D"/>
                </a:solidFill>
              </a:defRPr>
            </a:lvl6pPr>
            <a:lvl7pPr algn="l">
              <a:defRPr sz="2100" b="1">
                <a:solidFill>
                  <a:srgbClr val="10243D"/>
                </a:solidFill>
              </a:defRPr>
            </a:lvl7pPr>
            <a:lvl8pPr algn="l">
              <a:defRPr sz="2100" b="1">
                <a:solidFill>
                  <a:srgbClr val="10243D"/>
                </a:solidFill>
              </a:defRPr>
            </a:lvl8pPr>
            <a:lvl9pPr algn="l">
              <a:defRPr sz="2100" b="1">
                <a:solidFill>
                  <a:srgbClr val="10243D"/>
                </a:solidFill>
              </a:defRPr>
            </a:lvl9pPr>
          </a:lstStyle>
          <a:p>
            <a:pPr algn="l">
              <a:defRPr sz="2100" b="1">
                <a:solidFill>
                  <a:srgbClr val="10243D"/>
                </a:solidFill>
              </a:defRPr>
            </a:pPr>
            <a:r>
              <a:rPr sz="2400" b="1" dirty="0">
                <a:solidFill>
                  <a:srgbClr val="10243D"/>
                </a:solidFill>
              </a:rPr>
              <a:t>Κα</a:t>
            </a:r>
            <a:r>
              <a:rPr sz="2400" b="1" dirty="0" err="1">
                <a:solidFill>
                  <a:srgbClr val="10243D"/>
                </a:solidFill>
              </a:rPr>
              <a:t>λύτερες</a:t>
            </a:r>
            <a:r>
              <a:rPr sz="2400" b="1" dirty="0">
                <a:solidFill>
                  <a:srgbClr val="10243D"/>
                </a:solidFill>
              </a:rPr>
              <a:t> επ</a:t>
            </a:r>
            <a:r>
              <a:rPr sz="2400" b="1" dirty="0" err="1">
                <a:solidFill>
                  <a:srgbClr val="10243D"/>
                </a:solidFill>
              </a:rPr>
              <a:t>ιδόσεις</a:t>
            </a:r>
            <a:r>
              <a:rPr sz="2400" b="1" dirty="0">
                <a:solidFill>
                  <a:srgbClr val="10243D"/>
                </a:solidFill>
              </a:rPr>
              <a:t> στο Development Set</a:t>
            </a:r>
          </a:p>
        </p:txBody>
      </p:sp>
      <p:sp>
        <p:nvSpPr>
          <p:cNvPr id="37" name="Accuracy result label">
            <a:extLst>
              <a:ext uri="{FF2B5EF4-FFF2-40B4-BE49-F238E27FC236}">
                <a16:creationId xmlns:a16="http://schemas.microsoft.com/office/drawing/2014/main" id="{336EBF54-DEB2-A19F-19A8-FE05C9B8451F}"/>
              </a:ext>
            </a:extLst>
          </p:cNvPr>
          <p:cNvSpPr>
            <a:spLocks noGrp="1"/>
          </p:cNvSpPr>
          <p:nvPr/>
        </p:nvSpPr>
        <p:spPr>
          <a:xfrm>
            <a:off x="647700" y="4333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650" b="1">
                <a:solidFill>
                  <a:srgbClr val="325E83"/>
                </a:solidFill>
              </a:defRPr>
            </a:defPPr>
            <a:lvl1pPr algn="ctr">
              <a:defRPr sz="1650" b="1">
                <a:solidFill>
                  <a:srgbClr val="325E83"/>
                </a:solidFill>
              </a:defRPr>
            </a:lvl1pPr>
            <a:lvl2pPr algn="ctr">
              <a:defRPr sz="1650" b="1">
                <a:solidFill>
                  <a:srgbClr val="325E83"/>
                </a:solidFill>
              </a:defRPr>
            </a:lvl2pPr>
            <a:lvl3pPr algn="ctr">
              <a:defRPr sz="1650" b="1">
                <a:solidFill>
                  <a:srgbClr val="325E83"/>
                </a:solidFill>
              </a:defRPr>
            </a:lvl3pPr>
            <a:lvl4pPr algn="ctr">
              <a:defRPr sz="1650" b="1">
                <a:solidFill>
                  <a:srgbClr val="325E83"/>
                </a:solidFill>
              </a:defRPr>
            </a:lvl4pPr>
            <a:lvl5pPr algn="ctr">
              <a:defRPr sz="1650" b="1">
                <a:solidFill>
                  <a:srgbClr val="325E83"/>
                </a:solidFill>
              </a:defRPr>
            </a:lvl5pPr>
            <a:lvl6pPr algn="ctr">
              <a:defRPr sz="1650" b="1">
                <a:solidFill>
                  <a:srgbClr val="325E83"/>
                </a:solidFill>
              </a:defRPr>
            </a:lvl6pPr>
            <a:lvl7pPr algn="ctr">
              <a:defRPr sz="1650" b="1">
                <a:solidFill>
                  <a:srgbClr val="325E83"/>
                </a:solidFill>
              </a:defRPr>
            </a:lvl7pPr>
            <a:lvl8pPr algn="ctr">
              <a:defRPr sz="1650" b="1">
                <a:solidFill>
                  <a:srgbClr val="325E83"/>
                </a:solidFill>
              </a:defRPr>
            </a:lvl8pPr>
            <a:lvl9pPr algn="ctr">
              <a:defRPr sz="1650" b="1">
                <a:solidFill>
                  <a:srgbClr val="325E83"/>
                </a:solidFill>
              </a:defRPr>
            </a:lvl9pPr>
          </a:lstStyle>
          <a:p>
            <a:pPr algn="ctr">
              <a:defRPr sz="1650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Accuracy</a:t>
            </a:r>
          </a:p>
        </p:txBody>
      </p:sp>
      <p:sp>
        <p:nvSpPr>
          <p:cNvPr id="39" name="Spearman result label">
            <a:extLst>
              <a:ext uri="{FF2B5EF4-FFF2-40B4-BE49-F238E27FC236}">
                <a16:creationId xmlns:a16="http://schemas.microsoft.com/office/drawing/2014/main" id="{02F09E0D-9D70-F28C-91C9-B315A4EB50D5}"/>
              </a:ext>
            </a:extLst>
          </p:cNvPr>
          <p:cNvSpPr>
            <a:spLocks noGrp="1"/>
          </p:cNvSpPr>
          <p:nvPr/>
        </p:nvSpPr>
        <p:spPr>
          <a:xfrm>
            <a:off x="6686550" y="4333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650" b="1">
                <a:solidFill>
                  <a:srgbClr val="325E83"/>
                </a:solidFill>
              </a:defRPr>
            </a:defPPr>
            <a:lvl1pPr algn="ctr">
              <a:defRPr sz="1650" b="1">
                <a:solidFill>
                  <a:srgbClr val="325E83"/>
                </a:solidFill>
              </a:defRPr>
            </a:lvl1pPr>
            <a:lvl2pPr algn="ctr">
              <a:defRPr sz="1650" b="1">
                <a:solidFill>
                  <a:srgbClr val="325E83"/>
                </a:solidFill>
              </a:defRPr>
            </a:lvl2pPr>
            <a:lvl3pPr algn="ctr">
              <a:defRPr sz="1650" b="1">
                <a:solidFill>
                  <a:srgbClr val="325E83"/>
                </a:solidFill>
              </a:defRPr>
            </a:lvl3pPr>
            <a:lvl4pPr algn="ctr">
              <a:defRPr sz="1650" b="1">
                <a:solidFill>
                  <a:srgbClr val="325E83"/>
                </a:solidFill>
              </a:defRPr>
            </a:lvl4pPr>
            <a:lvl5pPr algn="ctr">
              <a:defRPr sz="1650" b="1">
                <a:solidFill>
                  <a:srgbClr val="325E83"/>
                </a:solidFill>
              </a:defRPr>
            </a:lvl5pPr>
            <a:lvl6pPr algn="ctr">
              <a:defRPr sz="1650" b="1">
                <a:solidFill>
                  <a:srgbClr val="325E83"/>
                </a:solidFill>
              </a:defRPr>
            </a:lvl6pPr>
            <a:lvl7pPr algn="ctr">
              <a:defRPr sz="1650" b="1">
                <a:solidFill>
                  <a:srgbClr val="325E83"/>
                </a:solidFill>
              </a:defRPr>
            </a:lvl7pPr>
            <a:lvl8pPr algn="ctr">
              <a:defRPr sz="1650" b="1">
                <a:solidFill>
                  <a:srgbClr val="325E83"/>
                </a:solidFill>
              </a:defRPr>
            </a:lvl8pPr>
            <a:lvl9pPr algn="ctr">
              <a:defRPr sz="1650" b="1">
                <a:solidFill>
                  <a:srgbClr val="325E83"/>
                </a:solidFill>
              </a:defRPr>
            </a:lvl9pPr>
          </a:lstStyle>
          <a:p>
            <a:pPr algn="ctr">
              <a:defRPr sz="1650" b="1">
                <a:solidFill>
                  <a:srgbClr val="325E83"/>
                </a:solidFill>
              </a:defRPr>
            </a:pPr>
            <a:r>
              <a:rPr sz="2000" b="1" dirty="0">
                <a:solidFill>
                  <a:srgbClr val="325E83"/>
                </a:solidFill>
              </a:rPr>
              <a:t>Spearman (ρ)</a:t>
            </a:r>
          </a:p>
        </p:txBody>
      </p:sp>
      <p:sp>
        <p:nvSpPr>
          <p:cNvPr id="41" name="Accuracy best value">
            <a:extLst>
              <a:ext uri="{FF2B5EF4-FFF2-40B4-BE49-F238E27FC236}">
                <a16:creationId xmlns:a16="http://schemas.microsoft.com/office/drawing/2014/main" id="{F213F2F3-1375-6148-B979-E69E80AF1B6D}"/>
              </a:ext>
            </a:extLst>
          </p:cNvPr>
          <p:cNvSpPr>
            <a:spLocks noGrp="1"/>
          </p:cNvSpPr>
          <p:nvPr/>
        </p:nvSpPr>
        <p:spPr>
          <a:xfrm>
            <a:off x="647700" y="4600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3750" b="1">
                <a:solidFill>
                  <a:srgbClr val="10243D"/>
                </a:solidFill>
              </a:defRPr>
            </a:defPPr>
            <a:lvl1pPr algn="ctr">
              <a:defRPr sz="3750" b="1">
                <a:solidFill>
                  <a:srgbClr val="10243D"/>
                </a:solidFill>
              </a:defRPr>
            </a:lvl1pPr>
            <a:lvl2pPr algn="ctr">
              <a:defRPr sz="3750" b="1">
                <a:solidFill>
                  <a:srgbClr val="10243D"/>
                </a:solidFill>
              </a:defRPr>
            </a:lvl2pPr>
            <a:lvl3pPr algn="ctr">
              <a:defRPr sz="3750" b="1">
                <a:solidFill>
                  <a:srgbClr val="10243D"/>
                </a:solidFill>
              </a:defRPr>
            </a:lvl3pPr>
            <a:lvl4pPr algn="ctr">
              <a:defRPr sz="3750" b="1">
                <a:solidFill>
                  <a:srgbClr val="10243D"/>
                </a:solidFill>
              </a:defRPr>
            </a:lvl4pPr>
            <a:lvl5pPr algn="ctr">
              <a:defRPr sz="3750" b="1">
                <a:solidFill>
                  <a:srgbClr val="10243D"/>
                </a:solidFill>
              </a:defRPr>
            </a:lvl5pPr>
            <a:lvl6pPr algn="ctr">
              <a:defRPr sz="3750" b="1">
                <a:solidFill>
                  <a:srgbClr val="10243D"/>
                </a:solidFill>
              </a:defRPr>
            </a:lvl6pPr>
            <a:lvl7pPr algn="ctr">
              <a:defRPr sz="3750" b="1">
                <a:solidFill>
                  <a:srgbClr val="10243D"/>
                </a:solidFill>
              </a:defRPr>
            </a:lvl7pPr>
            <a:lvl8pPr algn="ctr">
              <a:defRPr sz="3750" b="1">
                <a:solidFill>
                  <a:srgbClr val="10243D"/>
                </a:solidFill>
              </a:defRPr>
            </a:lvl8pPr>
            <a:lvl9pPr algn="ctr">
              <a:defRPr sz="3750" b="1">
                <a:solidFill>
                  <a:srgbClr val="10243D"/>
                </a:solidFill>
              </a:defRPr>
            </a:lvl9pPr>
          </a:lstStyle>
          <a:p>
            <a:pPr algn="ctr">
              <a:defRPr sz="3750" b="1">
                <a:solidFill>
                  <a:srgbClr val="10243D"/>
                </a:solidFill>
              </a:defRPr>
            </a:pPr>
            <a:r>
              <a:rPr sz="3750" b="1" dirty="0">
                <a:solidFill>
                  <a:srgbClr val="10243D"/>
                </a:solidFill>
              </a:rPr>
              <a:t>84,67%</a:t>
            </a:r>
          </a:p>
        </p:txBody>
      </p:sp>
      <p:sp>
        <p:nvSpPr>
          <p:cNvPr id="43" name="Spearman best value">
            <a:extLst>
              <a:ext uri="{FF2B5EF4-FFF2-40B4-BE49-F238E27FC236}">
                <a16:creationId xmlns:a16="http://schemas.microsoft.com/office/drawing/2014/main" id="{5CFCF89F-B09A-A7E3-D818-75ED7717E93F}"/>
              </a:ext>
            </a:extLst>
          </p:cNvPr>
          <p:cNvSpPr>
            <a:spLocks noGrp="1"/>
          </p:cNvSpPr>
          <p:nvPr/>
        </p:nvSpPr>
        <p:spPr>
          <a:xfrm>
            <a:off x="6686550" y="4600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3750" b="1">
                <a:solidFill>
                  <a:srgbClr val="10243D"/>
                </a:solidFill>
              </a:defRPr>
            </a:defPPr>
            <a:lvl1pPr algn="ctr">
              <a:defRPr sz="3750" b="1">
                <a:solidFill>
                  <a:srgbClr val="10243D"/>
                </a:solidFill>
              </a:defRPr>
            </a:lvl1pPr>
            <a:lvl2pPr algn="ctr">
              <a:defRPr sz="3750" b="1">
                <a:solidFill>
                  <a:srgbClr val="10243D"/>
                </a:solidFill>
              </a:defRPr>
            </a:lvl2pPr>
            <a:lvl3pPr algn="ctr">
              <a:defRPr sz="3750" b="1">
                <a:solidFill>
                  <a:srgbClr val="10243D"/>
                </a:solidFill>
              </a:defRPr>
            </a:lvl3pPr>
            <a:lvl4pPr algn="ctr">
              <a:defRPr sz="3750" b="1">
                <a:solidFill>
                  <a:srgbClr val="10243D"/>
                </a:solidFill>
              </a:defRPr>
            </a:lvl4pPr>
            <a:lvl5pPr algn="ctr">
              <a:defRPr sz="3750" b="1">
                <a:solidFill>
                  <a:srgbClr val="10243D"/>
                </a:solidFill>
              </a:defRPr>
            </a:lvl5pPr>
            <a:lvl6pPr algn="ctr">
              <a:defRPr sz="3750" b="1">
                <a:solidFill>
                  <a:srgbClr val="10243D"/>
                </a:solidFill>
              </a:defRPr>
            </a:lvl6pPr>
            <a:lvl7pPr algn="ctr">
              <a:defRPr sz="3750" b="1">
                <a:solidFill>
                  <a:srgbClr val="10243D"/>
                </a:solidFill>
              </a:defRPr>
            </a:lvl7pPr>
            <a:lvl8pPr algn="ctr">
              <a:defRPr sz="3750" b="1">
                <a:solidFill>
                  <a:srgbClr val="10243D"/>
                </a:solidFill>
              </a:defRPr>
            </a:lvl8pPr>
            <a:lvl9pPr algn="ctr">
              <a:defRPr sz="3750" b="1">
                <a:solidFill>
                  <a:srgbClr val="10243D"/>
                </a:solidFill>
              </a:defRPr>
            </a:lvl9pPr>
          </a:lstStyle>
          <a:p>
            <a:pPr algn="ctr">
              <a:defRPr sz="3750" b="1">
                <a:solidFill>
                  <a:srgbClr val="10243D"/>
                </a:solidFill>
              </a:defRPr>
            </a:pPr>
            <a:r>
              <a:rPr sz="3750" b="1" dirty="0">
                <a:solidFill>
                  <a:srgbClr val="10243D"/>
                </a:solidFill>
              </a:rPr>
              <a:t>0,7886</a:t>
            </a:r>
          </a:p>
        </p:txBody>
      </p:sp>
      <p:sp>
        <p:nvSpPr>
          <p:cNvPr id="45" name="Accuracy experiment">
            <a:extLst>
              <a:ext uri="{FF2B5EF4-FFF2-40B4-BE49-F238E27FC236}">
                <a16:creationId xmlns:a16="http://schemas.microsoft.com/office/drawing/2014/main" id="{A9CC87F1-911C-DB9D-B48E-D271438FAC38}"/>
              </a:ext>
            </a:extLst>
          </p:cNvPr>
          <p:cNvSpPr>
            <a:spLocks noGrp="1"/>
          </p:cNvSpPr>
          <p:nvPr/>
        </p:nvSpPr>
        <p:spPr>
          <a:xfrm>
            <a:off x="647700" y="51720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875" b="1">
                <a:solidFill>
                  <a:srgbClr val="10243D"/>
                </a:solidFill>
              </a:defRPr>
            </a:defPPr>
            <a:lvl1pPr algn="ctr">
              <a:defRPr sz="1875" b="1">
                <a:solidFill>
                  <a:srgbClr val="10243D"/>
                </a:solidFill>
              </a:defRPr>
            </a:lvl1pPr>
            <a:lvl2pPr algn="ctr">
              <a:defRPr sz="1875" b="1">
                <a:solidFill>
                  <a:srgbClr val="10243D"/>
                </a:solidFill>
              </a:defRPr>
            </a:lvl2pPr>
            <a:lvl3pPr algn="ctr">
              <a:defRPr sz="1875" b="1">
                <a:solidFill>
                  <a:srgbClr val="10243D"/>
                </a:solidFill>
              </a:defRPr>
            </a:lvl3pPr>
            <a:lvl4pPr algn="ctr">
              <a:defRPr sz="1875" b="1">
                <a:solidFill>
                  <a:srgbClr val="10243D"/>
                </a:solidFill>
              </a:defRPr>
            </a:lvl4pPr>
            <a:lvl5pPr algn="ctr">
              <a:defRPr sz="1875" b="1">
                <a:solidFill>
                  <a:srgbClr val="10243D"/>
                </a:solidFill>
              </a:defRPr>
            </a:lvl5pPr>
            <a:lvl6pPr algn="ctr">
              <a:defRPr sz="1875" b="1">
                <a:solidFill>
                  <a:srgbClr val="10243D"/>
                </a:solidFill>
              </a:defRPr>
            </a:lvl6pPr>
            <a:lvl7pPr algn="ctr">
              <a:defRPr sz="1875" b="1">
                <a:solidFill>
                  <a:srgbClr val="10243D"/>
                </a:solidFill>
              </a:defRPr>
            </a:lvl7pPr>
            <a:lvl8pPr algn="ctr">
              <a:defRPr sz="1875" b="1">
                <a:solidFill>
                  <a:srgbClr val="10243D"/>
                </a:solidFill>
              </a:defRPr>
            </a:lvl8pPr>
            <a:lvl9pPr algn="ctr">
              <a:defRPr sz="1875" b="1">
                <a:solidFill>
                  <a:srgbClr val="10243D"/>
                </a:solidFill>
              </a:defRPr>
            </a:lvl9pPr>
          </a:lstStyle>
          <a:p>
            <a:pPr algn="ctr">
              <a:defRPr sz="1875" b="1">
                <a:solidFill>
                  <a:srgbClr val="10243D"/>
                </a:solidFill>
              </a:defRPr>
            </a:pPr>
            <a:r>
              <a:rPr sz="2000" b="1" dirty="0">
                <a:solidFill>
                  <a:srgbClr val="10243D"/>
                </a:solidFill>
              </a:rPr>
              <a:t>E10</a:t>
            </a:r>
          </a:p>
        </p:txBody>
      </p:sp>
      <p:sp>
        <p:nvSpPr>
          <p:cNvPr id="47" name="Spearman experiment">
            <a:extLst>
              <a:ext uri="{FF2B5EF4-FFF2-40B4-BE49-F238E27FC236}">
                <a16:creationId xmlns:a16="http://schemas.microsoft.com/office/drawing/2014/main" id="{BEAB4BC1-49E4-B60F-17B7-E4BE9D72AA7B}"/>
              </a:ext>
            </a:extLst>
          </p:cNvPr>
          <p:cNvSpPr>
            <a:spLocks noGrp="1"/>
          </p:cNvSpPr>
          <p:nvPr/>
        </p:nvSpPr>
        <p:spPr>
          <a:xfrm>
            <a:off x="6686550" y="51720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875" b="1">
                <a:solidFill>
                  <a:srgbClr val="10243D"/>
                </a:solidFill>
              </a:defRPr>
            </a:defPPr>
            <a:lvl1pPr algn="ctr">
              <a:defRPr sz="1875" b="1">
                <a:solidFill>
                  <a:srgbClr val="10243D"/>
                </a:solidFill>
              </a:defRPr>
            </a:lvl1pPr>
            <a:lvl2pPr algn="ctr">
              <a:defRPr sz="1875" b="1">
                <a:solidFill>
                  <a:srgbClr val="10243D"/>
                </a:solidFill>
              </a:defRPr>
            </a:lvl2pPr>
            <a:lvl3pPr algn="ctr">
              <a:defRPr sz="1875" b="1">
                <a:solidFill>
                  <a:srgbClr val="10243D"/>
                </a:solidFill>
              </a:defRPr>
            </a:lvl3pPr>
            <a:lvl4pPr algn="ctr">
              <a:defRPr sz="1875" b="1">
                <a:solidFill>
                  <a:srgbClr val="10243D"/>
                </a:solidFill>
              </a:defRPr>
            </a:lvl4pPr>
            <a:lvl5pPr algn="ctr">
              <a:defRPr sz="1875" b="1">
                <a:solidFill>
                  <a:srgbClr val="10243D"/>
                </a:solidFill>
              </a:defRPr>
            </a:lvl5pPr>
            <a:lvl6pPr algn="ctr">
              <a:defRPr sz="1875" b="1">
                <a:solidFill>
                  <a:srgbClr val="10243D"/>
                </a:solidFill>
              </a:defRPr>
            </a:lvl6pPr>
            <a:lvl7pPr algn="ctr">
              <a:defRPr sz="1875" b="1">
                <a:solidFill>
                  <a:srgbClr val="10243D"/>
                </a:solidFill>
              </a:defRPr>
            </a:lvl7pPr>
            <a:lvl8pPr algn="ctr">
              <a:defRPr sz="1875" b="1">
                <a:solidFill>
                  <a:srgbClr val="10243D"/>
                </a:solidFill>
              </a:defRPr>
            </a:lvl8pPr>
            <a:lvl9pPr algn="ctr">
              <a:defRPr sz="1875" b="1">
                <a:solidFill>
                  <a:srgbClr val="10243D"/>
                </a:solidFill>
              </a:defRPr>
            </a:lvl9pPr>
          </a:lstStyle>
          <a:p>
            <a:pPr algn="ctr">
              <a:defRPr sz="1875" b="1">
                <a:solidFill>
                  <a:srgbClr val="10243D"/>
                </a:solidFill>
              </a:defRPr>
            </a:pPr>
            <a:r>
              <a:rPr sz="2000" b="1" dirty="0">
                <a:solidFill>
                  <a:srgbClr val="10243D"/>
                </a:solidFill>
              </a:rPr>
              <a:t>E9-B</a:t>
            </a:r>
          </a:p>
        </p:txBody>
      </p:sp>
      <p:sp>
        <p:nvSpPr>
          <p:cNvPr id="49" name="Accuracy detail">
            <a:extLst>
              <a:ext uri="{FF2B5EF4-FFF2-40B4-BE49-F238E27FC236}">
                <a16:creationId xmlns:a16="http://schemas.microsoft.com/office/drawing/2014/main" id="{5898CA8E-AC02-B53E-4BFA-B122A0624645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75" b="0">
                <a:solidFill>
                  <a:srgbClr val="374357"/>
                </a:solidFill>
              </a:defRPr>
            </a:defPPr>
            <a:lvl1pPr algn="ctr">
              <a:defRPr sz="1575" b="0">
                <a:solidFill>
                  <a:srgbClr val="374357"/>
                </a:solidFill>
              </a:defRPr>
            </a:lvl1pPr>
            <a:lvl2pPr algn="ctr">
              <a:defRPr sz="1575" b="0">
                <a:solidFill>
                  <a:srgbClr val="374357"/>
                </a:solidFill>
              </a:defRPr>
            </a:lvl2pPr>
            <a:lvl3pPr algn="ctr">
              <a:defRPr sz="1575" b="0">
                <a:solidFill>
                  <a:srgbClr val="374357"/>
                </a:solidFill>
              </a:defRPr>
            </a:lvl3pPr>
            <a:lvl4pPr algn="ctr">
              <a:defRPr sz="1575" b="0">
                <a:solidFill>
                  <a:srgbClr val="374357"/>
                </a:solidFill>
              </a:defRPr>
            </a:lvl4pPr>
            <a:lvl5pPr algn="ctr">
              <a:defRPr sz="1575" b="0">
                <a:solidFill>
                  <a:srgbClr val="374357"/>
                </a:solidFill>
              </a:defRPr>
            </a:lvl5pPr>
            <a:lvl6pPr algn="ctr">
              <a:defRPr sz="1575" b="0">
                <a:solidFill>
                  <a:srgbClr val="374357"/>
                </a:solidFill>
              </a:defRPr>
            </a:lvl6pPr>
            <a:lvl7pPr algn="ctr">
              <a:defRPr sz="1575" b="0">
                <a:solidFill>
                  <a:srgbClr val="374357"/>
                </a:solidFill>
              </a:defRPr>
            </a:lvl7pPr>
            <a:lvl8pPr algn="ctr">
              <a:defRPr sz="1575" b="0">
                <a:solidFill>
                  <a:srgbClr val="374357"/>
                </a:solidFill>
              </a:defRPr>
            </a:lvl8pPr>
            <a:lvl9pPr algn="ctr">
              <a:defRPr sz="1575" b="0">
                <a:solidFill>
                  <a:srgbClr val="374357"/>
                </a:solidFill>
              </a:defRPr>
            </a:lvl9pPr>
          </a:lstStyle>
          <a:p>
            <a:pPr algn="ctr">
              <a:defRPr sz="1575" b="0">
                <a:solidFill>
                  <a:srgbClr val="374357"/>
                </a:solidFill>
              </a:defRPr>
            </a:pPr>
            <a:r>
              <a:rPr sz="1800" b="0" dirty="0">
                <a:solidFill>
                  <a:srgbClr val="374357"/>
                </a:solidFill>
              </a:rPr>
              <a:t>475/561 </a:t>
            </a:r>
            <a:r>
              <a:rPr sz="1800" b="0" dirty="0" err="1">
                <a:solidFill>
                  <a:srgbClr val="374357"/>
                </a:solidFill>
              </a:rPr>
              <a:t>σωστές</a:t>
            </a:r>
            <a:r>
              <a:rPr sz="1800" b="0" dirty="0">
                <a:solidFill>
                  <a:srgbClr val="374357"/>
                </a:solidFill>
              </a:rPr>
              <a:t> προβλέψεις</a:t>
            </a:r>
          </a:p>
        </p:txBody>
      </p:sp>
      <p:sp>
        <p:nvSpPr>
          <p:cNvPr id="51" name="Spearman detail">
            <a:extLst>
              <a:ext uri="{FF2B5EF4-FFF2-40B4-BE49-F238E27FC236}">
                <a16:creationId xmlns:a16="http://schemas.microsoft.com/office/drawing/2014/main" id="{832A5491-EAE1-1A27-E7A8-DA30C6AEFAC2}"/>
              </a:ext>
            </a:extLst>
          </p:cNvPr>
          <p:cNvSpPr>
            <a:spLocks noGrp="1"/>
          </p:cNvSpPr>
          <p:nvPr/>
        </p:nvSpPr>
        <p:spPr>
          <a:xfrm>
            <a:off x="6686550" y="5476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75" b="0">
                <a:solidFill>
                  <a:srgbClr val="374357"/>
                </a:solidFill>
              </a:defRPr>
            </a:defPPr>
            <a:lvl1pPr algn="ctr">
              <a:defRPr sz="1575" b="0">
                <a:solidFill>
                  <a:srgbClr val="374357"/>
                </a:solidFill>
              </a:defRPr>
            </a:lvl1pPr>
            <a:lvl2pPr algn="ctr">
              <a:defRPr sz="1575" b="0">
                <a:solidFill>
                  <a:srgbClr val="374357"/>
                </a:solidFill>
              </a:defRPr>
            </a:lvl2pPr>
            <a:lvl3pPr algn="ctr">
              <a:defRPr sz="1575" b="0">
                <a:solidFill>
                  <a:srgbClr val="374357"/>
                </a:solidFill>
              </a:defRPr>
            </a:lvl3pPr>
            <a:lvl4pPr algn="ctr">
              <a:defRPr sz="1575" b="0">
                <a:solidFill>
                  <a:srgbClr val="374357"/>
                </a:solidFill>
              </a:defRPr>
            </a:lvl4pPr>
            <a:lvl5pPr algn="ctr">
              <a:defRPr sz="1575" b="0">
                <a:solidFill>
                  <a:srgbClr val="374357"/>
                </a:solidFill>
              </a:defRPr>
            </a:lvl5pPr>
            <a:lvl6pPr algn="ctr">
              <a:defRPr sz="1575" b="0">
                <a:solidFill>
                  <a:srgbClr val="374357"/>
                </a:solidFill>
              </a:defRPr>
            </a:lvl6pPr>
            <a:lvl7pPr algn="ctr">
              <a:defRPr sz="1575" b="0">
                <a:solidFill>
                  <a:srgbClr val="374357"/>
                </a:solidFill>
              </a:defRPr>
            </a:lvl7pPr>
            <a:lvl8pPr algn="ctr">
              <a:defRPr sz="1575" b="0">
                <a:solidFill>
                  <a:srgbClr val="374357"/>
                </a:solidFill>
              </a:defRPr>
            </a:lvl8pPr>
            <a:lvl9pPr algn="ctr">
              <a:defRPr sz="1575" b="0">
                <a:solidFill>
                  <a:srgbClr val="374357"/>
                </a:solidFill>
              </a:defRPr>
            </a:lvl9pPr>
          </a:lstStyle>
          <a:p>
            <a:pPr algn="ctr">
              <a:defRPr sz="1575" b="0">
                <a:solidFill>
                  <a:srgbClr val="374357"/>
                </a:solidFill>
              </a:defRPr>
            </a:pPr>
            <a:r>
              <a:rPr sz="1800" b="0" dirty="0" err="1">
                <a:solidFill>
                  <a:srgbClr val="374357"/>
                </a:solidFill>
              </a:rPr>
              <a:t>Υψηλότερη</a:t>
            </a:r>
            <a:r>
              <a:rPr sz="1800" b="0" dirty="0">
                <a:solidFill>
                  <a:srgbClr val="374357"/>
                </a:solidFill>
              </a:rPr>
              <a:t> </a:t>
            </a:r>
            <a:r>
              <a:rPr sz="1800" b="0" dirty="0" err="1">
                <a:solidFill>
                  <a:srgbClr val="374357"/>
                </a:solidFill>
              </a:rPr>
              <a:t>συσχέτιση</a:t>
            </a:r>
            <a:r>
              <a:rPr sz="1800" b="0" dirty="0">
                <a:solidFill>
                  <a:srgbClr val="374357"/>
                </a:solidFill>
              </a:rPr>
              <a:t> κατα</a:t>
            </a:r>
            <a:r>
              <a:rPr sz="1800" b="0" dirty="0" err="1">
                <a:solidFill>
                  <a:srgbClr val="374357"/>
                </a:solidFill>
              </a:rPr>
              <a:t>τάξεων</a:t>
            </a:r>
            <a:endParaRPr sz="1800" b="0" dirty="0">
              <a:solidFill>
                <a:srgbClr val="374357"/>
              </a:solidFill>
            </a:endParaRPr>
          </a:p>
        </p:txBody>
      </p:sp>
      <p:sp>
        <p:nvSpPr>
          <p:cNvPr id="53" name="Results divider">
            <a:extLst>
              <a:ext uri="{FF2B5EF4-FFF2-40B4-BE49-F238E27FC236}">
                <a16:creationId xmlns:a16="http://schemas.microsoft.com/office/drawing/2014/main" id="{8673E6DB-C056-32A1-02B6-159DAB331892}"/>
              </a:ext>
            </a:extLst>
          </p:cNvPr>
          <p:cNvSpPr>
            <a:spLocks noGrp="1"/>
          </p:cNvSpPr>
          <p:nvPr/>
        </p:nvSpPr>
        <p:spPr>
          <a:xfrm>
            <a:off x="6086475" y="4324350"/>
            <a:ext cx="19050" cy="1419225"/>
          </a:xfrm>
          <a:prstGeom prst="rect">
            <a:avLst/>
          </a:prstGeom>
          <a:solidFill>
            <a:srgbClr val="C8D4D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5" name="Selection statement">
            <a:extLst>
              <a:ext uri="{FF2B5EF4-FFF2-40B4-BE49-F238E27FC236}">
                <a16:creationId xmlns:a16="http://schemas.microsoft.com/office/drawing/2014/main" id="{86D05098-BC3E-D8CE-6854-F5F1E1C11B68}"/>
              </a:ext>
            </a:extLst>
          </p:cNvPr>
          <p:cNvSpPr>
            <a:spLocks noGrp="1"/>
          </p:cNvSpPr>
          <p:nvPr/>
        </p:nvSpPr>
        <p:spPr>
          <a:xfrm>
            <a:off x="647700" y="5943600"/>
            <a:ext cx="10896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50" b="1">
                <a:solidFill>
                  <a:srgbClr val="10243D"/>
                </a:solidFill>
              </a:defRPr>
            </a:defPPr>
            <a:lvl1pPr algn="ctr">
              <a:defRPr sz="1350" b="1">
                <a:solidFill>
                  <a:srgbClr val="10243D"/>
                </a:solidFill>
              </a:defRPr>
            </a:lvl1pPr>
            <a:lvl2pPr algn="ctr">
              <a:defRPr sz="1350" b="1">
                <a:solidFill>
                  <a:srgbClr val="10243D"/>
                </a:solidFill>
              </a:defRPr>
            </a:lvl2pPr>
            <a:lvl3pPr algn="ctr">
              <a:defRPr sz="1350" b="1">
                <a:solidFill>
                  <a:srgbClr val="10243D"/>
                </a:solidFill>
              </a:defRPr>
            </a:lvl3pPr>
            <a:lvl4pPr algn="ctr">
              <a:defRPr sz="1350" b="1">
                <a:solidFill>
                  <a:srgbClr val="10243D"/>
                </a:solidFill>
              </a:defRPr>
            </a:lvl4pPr>
            <a:lvl5pPr algn="ctr">
              <a:defRPr sz="1350" b="1">
                <a:solidFill>
                  <a:srgbClr val="10243D"/>
                </a:solidFill>
              </a:defRPr>
            </a:lvl5pPr>
            <a:lvl6pPr algn="ctr">
              <a:defRPr sz="1350" b="1">
                <a:solidFill>
                  <a:srgbClr val="10243D"/>
                </a:solidFill>
              </a:defRPr>
            </a:lvl6pPr>
            <a:lvl7pPr algn="ctr">
              <a:defRPr sz="1350" b="1">
                <a:solidFill>
                  <a:srgbClr val="10243D"/>
                </a:solidFill>
              </a:defRPr>
            </a:lvl7pPr>
            <a:lvl8pPr algn="ctr">
              <a:defRPr sz="1350" b="1">
                <a:solidFill>
                  <a:srgbClr val="10243D"/>
                </a:solidFill>
              </a:defRPr>
            </a:lvl8pPr>
            <a:lvl9pPr algn="ctr">
              <a:defRPr sz="1350" b="1">
                <a:solidFill>
                  <a:srgbClr val="10243D"/>
                </a:solidFill>
              </a:defRPr>
            </a:lvl9pPr>
          </a:lstStyle>
          <a:p>
            <a:pPr algn="ctr">
              <a:defRPr sz="1350" b="1">
                <a:solidFill>
                  <a:srgbClr val="10243D"/>
                </a:solidFill>
              </a:defRPr>
            </a:pPr>
            <a:r>
              <a:rPr sz="1800" b="1" dirty="0">
                <a:solidFill>
                  <a:srgbClr val="10243D"/>
                </a:solidFill>
              </a:rPr>
              <a:t>Το E10 επ</a:t>
            </a:r>
            <a:r>
              <a:rPr sz="1800" b="1" dirty="0" err="1">
                <a:solidFill>
                  <a:srgbClr val="10243D"/>
                </a:solidFill>
              </a:rPr>
              <a:t>ιλέγετ</a:t>
            </a:r>
            <a:r>
              <a:rPr sz="1800" b="1" dirty="0">
                <a:solidFill>
                  <a:srgbClr val="10243D"/>
                </a:solidFill>
              </a:rPr>
              <a:t>αι ως καλύτερο πείραμα, καθώς η Accuracy αποτελεί το κύριο κριτήριο αξιολόγησης.</a:t>
            </a:r>
          </a:p>
        </p:txBody>
      </p:sp>
      <p:sp>
        <p:nvSpPr>
          <p:cNvPr id="57" name="Evaluation footnote">
            <a:extLst>
              <a:ext uri="{FF2B5EF4-FFF2-40B4-BE49-F238E27FC236}">
                <a16:creationId xmlns:a16="http://schemas.microsoft.com/office/drawing/2014/main" id="{C7BCB5C1-6FE3-7CE9-BDA2-B1AE446686E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0620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00" b="0">
                <a:solidFill>
                  <a:srgbClr val="677384"/>
                </a:solidFill>
              </a:defRPr>
            </a:defPPr>
            <a:lvl1pPr algn="l">
              <a:defRPr sz="1500" b="0">
                <a:solidFill>
                  <a:srgbClr val="677384"/>
                </a:solidFill>
              </a:defRPr>
            </a:lvl1pPr>
            <a:lvl2pPr algn="l">
              <a:defRPr sz="1500" b="0">
                <a:solidFill>
                  <a:srgbClr val="677384"/>
                </a:solidFill>
              </a:defRPr>
            </a:lvl2pPr>
            <a:lvl3pPr algn="l">
              <a:defRPr sz="1500" b="0">
                <a:solidFill>
                  <a:srgbClr val="677384"/>
                </a:solidFill>
              </a:defRPr>
            </a:lvl3pPr>
            <a:lvl4pPr algn="l">
              <a:defRPr sz="1500" b="0">
                <a:solidFill>
                  <a:srgbClr val="677384"/>
                </a:solidFill>
              </a:defRPr>
            </a:lvl4pPr>
            <a:lvl5pPr algn="l">
              <a:defRPr sz="1500" b="0">
                <a:solidFill>
                  <a:srgbClr val="677384"/>
                </a:solidFill>
              </a:defRPr>
            </a:lvl5pPr>
            <a:lvl6pPr algn="l">
              <a:defRPr sz="1500" b="0">
                <a:solidFill>
                  <a:srgbClr val="677384"/>
                </a:solidFill>
              </a:defRPr>
            </a:lvl6pPr>
            <a:lvl7pPr algn="l">
              <a:defRPr sz="1500" b="0">
                <a:solidFill>
                  <a:srgbClr val="677384"/>
                </a:solidFill>
              </a:defRPr>
            </a:lvl7pPr>
            <a:lvl8pPr algn="l">
              <a:defRPr sz="1500" b="0">
                <a:solidFill>
                  <a:srgbClr val="677384"/>
                </a:solidFill>
              </a:defRPr>
            </a:lvl8pPr>
            <a:lvl9pPr algn="l">
              <a:defRPr sz="1500" b="0">
                <a:solidFill>
                  <a:srgbClr val="677384"/>
                </a:solidFill>
              </a:defRPr>
            </a:lvl9pPr>
          </a:lstStyle>
          <a:p>
            <a:pPr algn="l">
              <a:defRPr sz="1500" b="0">
                <a:solidFill>
                  <a:srgbClr val="677384"/>
                </a:solidFill>
              </a:defRPr>
            </a:pPr>
            <a:r>
              <a:rPr sz="1500" b="0" dirty="0">
                <a:solidFill>
                  <a:srgbClr val="677384"/>
                </a:solidFill>
              </a:rPr>
              <a:t>561 δείγματα ανάπ</a:t>
            </a:r>
            <a:r>
              <a:rPr sz="1500" b="0" dirty="0" err="1">
                <a:solidFill>
                  <a:srgbClr val="677384"/>
                </a:solidFill>
              </a:rPr>
              <a:t>τυξης</a:t>
            </a:r>
            <a:r>
              <a:rPr sz="1500" b="0" dirty="0">
                <a:solidFill>
                  <a:srgbClr val="677384"/>
                </a:solidFill>
              </a:rPr>
              <a:t> (development + trial) </a:t>
            </a:r>
            <a:r>
              <a:rPr lang="el-GR" sz="1500" b="0" dirty="0">
                <a:solidFill>
                  <a:srgbClr val="677384"/>
                </a:solidFill>
              </a:rPr>
              <a:t>και</a:t>
            </a:r>
            <a:r>
              <a:rPr sz="1500" b="0" dirty="0">
                <a:solidFill>
                  <a:srgbClr val="677384"/>
                </a:solidFill>
              </a:rPr>
              <a:t> 5-fold OOF αξιολόγηση</a:t>
            </a:r>
          </a:p>
        </p:txBody>
      </p:sp>
      <p:sp>
        <p:nvSpPr>
          <p:cNvPr id="59" name="Page number">
            <a:extLst>
              <a:ext uri="{FF2B5EF4-FFF2-40B4-BE49-F238E27FC236}">
                <a16:creationId xmlns:a16="http://schemas.microsoft.com/office/drawing/2014/main" id="{4B1CEEBB-32D7-0299-30FF-5E6FF144CBA2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00" b="0" dirty="0">
                <a:solidFill>
                  <a:srgbClr val="677384"/>
                </a:solidFill>
                <a:latin typeface="Aptos"/>
              </a:rPr>
              <a:t>2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  <p:pic>
        <p:nvPicPr>
          <p:cNvPr id="4" name="Graphic 3" descr="Stopwatch with solid fill">
            <a:extLst>
              <a:ext uri="{FF2B5EF4-FFF2-40B4-BE49-F238E27FC236}">
                <a16:creationId xmlns:a16="http://schemas.microsoft.com/office/drawing/2014/main" id="{7D4BD3D8-412B-F548-27BC-3AD3C265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09376" y="952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82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title">
            <a:extLst>
              <a:ext uri="{FF2B5EF4-FFF2-40B4-BE49-F238E27FC236}">
                <a16:creationId xmlns:a16="http://schemas.microsoft.com/office/drawing/2014/main" id="{F823F992-BC00-48AF-BA98-3CDFAD757CFD}"/>
              </a:ext>
            </a:extLst>
          </p:cNvPr>
          <p:cNvSpPr>
            <a:spLocks noGrp="1"/>
          </p:cNvSpPr>
          <p:nvPr/>
        </p:nvSpPr>
        <p:spPr>
          <a:xfrm>
            <a:off x="411480" y="246888"/>
            <a:ext cx="1133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3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Συγκριτικά</a:t>
            </a:r>
            <a:r>
              <a:rPr sz="3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αποτελέσματα των πειρα</a:t>
            </a:r>
            <a:r>
              <a:rPr sz="3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μάτων</a:t>
            </a:r>
            <a:endParaRPr sz="3000" b="1" dirty="0">
              <a:solidFill>
                <a:srgbClr val="10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hase 2 heading">
            <a:extLst>
              <a:ext uri="{FF2B5EF4-FFF2-40B4-BE49-F238E27FC236}">
                <a16:creationId xmlns:a16="http://schemas.microsoft.com/office/drawing/2014/main" id="{629E0C0D-4611-495E-9C0D-81B3D28F8DD8}"/>
              </a:ext>
            </a:extLst>
          </p:cNvPr>
          <p:cNvSpPr>
            <a:spLocks noGrp="1"/>
          </p:cNvSpPr>
          <p:nvPr/>
        </p:nvSpPr>
        <p:spPr>
          <a:xfrm>
            <a:off x="514350" y="962025"/>
            <a:ext cx="3619500" cy="2526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>
            <a:def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2η πειραματική </a:t>
            </a:r>
            <a:r>
              <a:rPr sz="1575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φάση</a:t>
            </a:r>
            <a:endParaRPr sz="1575" b="1" dirty="0">
              <a:solidFill>
                <a:srgbClr val="10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able 8.2 source">
            <a:extLst>
              <a:ext uri="{FF2B5EF4-FFF2-40B4-BE49-F238E27FC236}">
                <a16:creationId xmlns:a16="http://schemas.microsoft.com/office/drawing/2014/main" id="{E7D23C76-EFF4-4C57-B2B7-33FDD52CF426}"/>
              </a:ext>
            </a:extLst>
          </p:cNvPr>
          <p:cNvSpPr>
            <a:spLocks noGrp="1"/>
          </p:cNvSpPr>
          <p:nvPr/>
        </p:nvSpPr>
        <p:spPr>
          <a:xfrm>
            <a:off x="4324350" y="971550"/>
            <a:ext cx="1619250" cy="232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7384"/>
                </a:solidFill>
                <a:latin typeface="Aptos"/>
                <a:ea typeface="Aptos"/>
                <a:cs typeface="Aptos"/>
              </a:rPr>
              <a:t>Πίνακας 8.2</a:t>
            </a:r>
          </a:p>
        </p:txBody>
      </p:sp>
      <p:sp>
        <p:nvSpPr>
          <p:cNvPr id="4" name="Phase 3 heading">
            <a:extLst>
              <a:ext uri="{FF2B5EF4-FFF2-40B4-BE49-F238E27FC236}">
                <a16:creationId xmlns:a16="http://schemas.microsoft.com/office/drawing/2014/main" id="{08AA46DC-EC25-457A-9396-801F71C0A9A8}"/>
              </a:ext>
            </a:extLst>
          </p:cNvPr>
          <p:cNvSpPr>
            <a:spLocks noGrp="1"/>
          </p:cNvSpPr>
          <p:nvPr/>
        </p:nvSpPr>
        <p:spPr>
          <a:xfrm>
            <a:off x="6248400" y="962025"/>
            <a:ext cx="3619500" cy="2526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>
            <a:def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3η πειραματική </a:t>
            </a:r>
            <a:r>
              <a:rPr sz="1575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φάση</a:t>
            </a:r>
            <a:endParaRPr sz="1575" b="1" dirty="0">
              <a:solidFill>
                <a:srgbClr val="10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able 9.2 source">
            <a:extLst>
              <a:ext uri="{FF2B5EF4-FFF2-40B4-BE49-F238E27FC236}">
                <a16:creationId xmlns:a16="http://schemas.microsoft.com/office/drawing/2014/main" id="{4E8141A5-8552-4B2A-9047-FD3E2D5B6F10}"/>
              </a:ext>
            </a:extLst>
          </p:cNvPr>
          <p:cNvSpPr>
            <a:spLocks noGrp="1"/>
          </p:cNvSpPr>
          <p:nvPr/>
        </p:nvSpPr>
        <p:spPr>
          <a:xfrm>
            <a:off x="10058400" y="971550"/>
            <a:ext cx="1619250" cy="232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1">
                <a:solidFill>
                  <a:srgbClr val="6773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7384"/>
                </a:solidFill>
                <a:latin typeface="Aptos"/>
                <a:ea typeface="Aptos"/>
                <a:cs typeface="Aptos"/>
              </a:rPr>
              <a:t>Πίνακας 9.2</a:t>
            </a:r>
          </a:p>
        </p:txBody>
      </p:sp>
      <p:sp>
        <p:nvSpPr>
          <p:cNvPr id="6" name="Phase 2 rule">
            <a:extLst>
              <a:ext uri="{FF2B5EF4-FFF2-40B4-BE49-F238E27FC236}">
                <a16:creationId xmlns:a16="http://schemas.microsoft.com/office/drawing/2014/main" id="{7875EB15-6223-4676-9258-8BAB8C2BAE92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5429250" cy="0"/>
          </a:xfrm>
          <a:prstGeom prst="line">
            <a:avLst/>
          </a:prstGeom>
          <a:noFill/>
          <a:ln w="14288">
            <a:solidFill>
              <a:srgbClr val="1F6D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Phase 3 rule">
            <a:extLst>
              <a:ext uri="{FF2B5EF4-FFF2-40B4-BE49-F238E27FC236}">
                <a16:creationId xmlns:a16="http://schemas.microsoft.com/office/drawing/2014/main" id="{FB60FDF9-ADB0-41EF-87B8-75A631F5BE6E}"/>
              </a:ext>
            </a:extLst>
          </p:cNvPr>
          <p:cNvSpPr>
            <a:spLocks noGrp="1"/>
          </p:cNvSpPr>
          <p:nvPr/>
        </p:nvSpPr>
        <p:spPr>
          <a:xfrm>
            <a:off x="6248400" y="1219200"/>
            <a:ext cx="5429250" cy="0"/>
          </a:xfrm>
          <a:prstGeom prst="line">
            <a:avLst/>
          </a:prstGeom>
          <a:noFill/>
          <a:ln w="14288">
            <a:solidFill>
              <a:srgbClr val="287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8" name="Second phase results — Table 8.2">
            <a:extLst>
              <a:ext uri="{FF2B5EF4-FFF2-40B4-BE49-F238E27FC236}">
                <a16:creationId xmlns:a16="http://schemas.microsoft.com/office/drawing/2014/main" id="{0E6C99EB-D576-46E5-9C2F-E00A8EEA52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329836"/>
              </p:ext>
            </p:extLst>
          </p:nvPr>
        </p:nvGraphicFramePr>
        <p:xfrm>
          <a:off x="514350" y="1257300"/>
          <a:ext cx="5429250" cy="340595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47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Διαμόρφωση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1F6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1F6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Spearman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1F6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E3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79,32%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0,7390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E5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79,50%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0,7422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E6-v1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80,75%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0,7444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E6-v2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84,31%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0,7775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E6-v3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84,49%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0,7817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E6-v4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83,42%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0,7820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E7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79,86%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0,7403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E8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80,57%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0,7529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hird phase results — Table 9.2">
            <a:extLst>
              <a:ext uri="{FF2B5EF4-FFF2-40B4-BE49-F238E27FC236}">
                <a16:creationId xmlns:a16="http://schemas.microsoft.com/office/drawing/2014/main" id="{47892724-65BD-43F7-B937-96FB8C8E7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541618"/>
              </p:ext>
            </p:extLst>
          </p:nvPr>
        </p:nvGraphicFramePr>
        <p:xfrm>
          <a:off x="6248400" y="1257300"/>
          <a:ext cx="5429250" cy="340595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4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Διαμόρφωση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2876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2876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Spearman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>
                      <a:solidFill>
                        <a:srgbClr val="C7D6E0"/>
                      </a:solidFill>
                      <a:prstDash val="soli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287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E9-A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83,96%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0,7804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E9-B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83,42%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0,7886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E10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25E83"/>
                          </a:solidFill>
                          <a:latin typeface="Aptos"/>
                          <a:ea typeface="Aptos"/>
                          <a:cs typeface="Aptos"/>
                        </a:rPr>
                        <a:t>84,67%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0,7828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E11-A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82,00%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0,7173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E11-B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–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–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E11-C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83,07%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0,7270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E11-D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81,82%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0,7007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00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E11-E</a:t>
                      </a:r>
                    </a:p>
                  </a:txBody>
                  <a:tcPr anchor="ctr">
                    <a:lnL w="6668">
                      <a:solidFill>
                        <a:srgbClr val="C7D6E0"/>
                      </a:solidFill>
                      <a:prstDash val="soli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83,07%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74357"/>
                          </a:solidFill>
                          <a:latin typeface="Aptos"/>
                          <a:ea typeface="Aptos"/>
                          <a:cs typeface="Aptos"/>
                        </a:rPr>
                        <a:t>0,7151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7D6E0"/>
                      </a:solidFill>
                      <a:prstDash val="solid"/>
                    </a:lnR>
                    <a:lnT w="6668" cap="flat" cmpd="sng" algn="ctr">
                      <a:solidFill>
                        <a:srgbClr val="C7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7D6E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fficial test set panel">
            <a:extLst>
              <a:ext uri="{FF2B5EF4-FFF2-40B4-BE49-F238E27FC236}">
                <a16:creationId xmlns:a16="http://schemas.microsoft.com/office/drawing/2014/main" id="{F399045A-5F26-43B5-B661-6F2E551DD6DD}"/>
              </a:ext>
            </a:extLst>
          </p:cNvPr>
          <p:cNvSpPr>
            <a:spLocks noGrp="1"/>
          </p:cNvSpPr>
          <p:nvPr/>
        </p:nvSpPr>
        <p:spPr>
          <a:xfrm>
            <a:off x="514350" y="4862661"/>
            <a:ext cx="11163300" cy="1601107"/>
          </a:xfrm>
          <a:prstGeom prst="rect">
            <a:avLst/>
          </a:prstGeom>
          <a:solidFill>
            <a:srgbClr val="E8EEF3"/>
          </a:solidFill>
          <a:ln w="9525">
            <a:solidFill>
              <a:srgbClr val="D3E0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fficial test set heading">
            <a:extLst>
              <a:ext uri="{FF2B5EF4-FFF2-40B4-BE49-F238E27FC236}">
                <a16:creationId xmlns:a16="http://schemas.microsoft.com/office/drawing/2014/main" id="{4D624BD3-C413-4611-AE4D-31641BE6B628}"/>
              </a:ext>
            </a:extLst>
          </p:cNvPr>
          <p:cNvSpPr>
            <a:spLocks noGrp="1"/>
          </p:cNvSpPr>
          <p:nvPr/>
        </p:nvSpPr>
        <p:spPr>
          <a:xfrm>
            <a:off x="742950" y="4987101"/>
            <a:ext cx="1070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65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E10 </a:t>
            </a:r>
            <a:r>
              <a:rPr lang="el-GR"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-</a:t>
            </a: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Ανα</a:t>
            </a:r>
            <a:r>
              <a:rPr sz="2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δρομική</a:t>
            </a: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αξιολόγηση στο επ</a:t>
            </a:r>
            <a:r>
              <a:rPr sz="2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ίσημο</a:t>
            </a: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Test Set</a:t>
            </a:r>
          </a:p>
        </p:txBody>
      </p:sp>
      <p:sp>
        <p:nvSpPr>
          <p:cNvPr id="12" name="Test metric value 1">
            <a:extLst>
              <a:ext uri="{FF2B5EF4-FFF2-40B4-BE49-F238E27FC236}">
                <a16:creationId xmlns:a16="http://schemas.microsoft.com/office/drawing/2014/main" id="{8518C3F7-7033-4279-AEC8-115797565B9A}"/>
              </a:ext>
            </a:extLst>
          </p:cNvPr>
          <p:cNvSpPr>
            <a:spLocks noGrp="1"/>
          </p:cNvSpPr>
          <p:nvPr/>
        </p:nvSpPr>
        <p:spPr>
          <a:xfrm>
            <a:off x="952500" y="5389607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1.234/1.500</a:t>
            </a:r>
          </a:p>
        </p:txBody>
      </p:sp>
      <p:sp>
        <p:nvSpPr>
          <p:cNvPr id="13" name="Test metric label 1">
            <a:extLst>
              <a:ext uri="{FF2B5EF4-FFF2-40B4-BE49-F238E27FC236}">
                <a16:creationId xmlns:a16="http://schemas.microsoft.com/office/drawing/2014/main" id="{61E64ADC-74C3-459E-AF8B-7F977195731F}"/>
              </a:ext>
            </a:extLst>
          </p:cNvPr>
          <p:cNvSpPr>
            <a:spLocks noGrp="1"/>
          </p:cNvSpPr>
          <p:nvPr/>
        </p:nvSpPr>
        <p:spPr>
          <a:xfrm>
            <a:off x="952500" y="5742032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050" b="0">
                <a:solidFill>
                  <a:srgbClr val="325E83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325E83"/>
                </a:solidFill>
                <a:latin typeface="Aptos"/>
                <a:ea typeface="Aptos"/>
                <a:cs typeface="Aptos"/>
              </a:rPr>
              <a:t>σωστές</a:t>
            </a:r>
            <a:r>
              <a:rPr sz="1600" b="0" dirty="0">
                <a:solidFill>
                  <a:srgbClr val="325E83"/>
                </a:solidFill>
                <a:latin typeface="Aptos"/>
                <a:ea typeface="Aptos"/>
                <a:cs typeface="Aptos"/>
              </a:rPr>
              <a:t> προβλέψεις</a:t>
            </a:r>
          </a:p>
        </p:txBody>
      </p:sp>
      <p:sp>
        <p:nvSpPr>
          <p:cNvPr id="14" name="Test metric value 2">
            <a:extLst>
              <a:ext uri="{FF2B5EF4-FFF2-40B4-BE49-F238E27FC236}">
                <a16:creationId xmlns:a16="http://schemas.microsoft.com/office/drawing/2014/main" id="{61AE0FFC-C1AF-4834-B0C3-9F47518BF5A7}"/>
              </a:ext>
            </a:extLst>
          </p:cNvPr>
          <p:cNvSpPr>
            <a:spLocks noGrp="1"/>
          </p:cNvSpPr>
          <p:nvPr/>
        </p:nvSpPr>
        <p:spPr>
          <a:xfrm>
            <a:off x="4524375" y="5389607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82,27%</a:t>
            </a:r>
          </a:p>
        </p:txBody>
      </p:sp>
      <p:sp>
        <p:nvSpPr>
          <p:cNvPr id="15" name="Test metric label 2">
            <a:extLst>
              <a:ext uri="{FF2B5EF4-FFF2-40B4-BE49-F238E27FC236}">
                <a16:creationId xmlns:a16="http://schemas.microsoft.com/office/drawing/2014/main" id="{45512C9F-90A5-4973-8CF3-87B9D0454A89}"/>
              </a:ext>
            </a:extLst>
          </p:cNvPr>
          <p:cNvSpPr>
            <a:spLocks noGrp="1"/>
          </p:cNvSpPr>
          <p:nvPr/>
        </p:nvSpPr>
        <p:spPr>
          <a:xfrm>
            <a:off x="4524375" y="5742032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325E8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6" name="Test metric value 3">
            <a:extLst>
              <a:ext uri="{FF2B5EF4-FFF2-40B4-BE49-F238E27FC236}">
                <a16:creationId xmlns:a16="http://schemas.microsoft.com/office/drawing/2014/main" id="{F22FCEEE-52B9-41DB-942A-E7E6C670D9B2}"/>
              </a:ext>
            </a:extLst>
          </p:cNvPr>
          <p:cNvSpPr>
            <a:spLocks noGrp="1"/>
          </p:cNvSpPr>
          <p:nvPr/>
        </p:nvSpPr>
        <p:spPr>
          <a:xfrm>
            <a:off x="8096250" y="5389607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2175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0,7501</a:t>
            </a:r>
          </a:p>
        </p:txBody>
      </p:sp>
      <p:sp>
        <p:nvSpPr>
          <p:cNvPr id="17" name="Test metric label 3">
            <a:extLst>
              <a:ext uri="{FF2B5EF4-FFF2-40B4-BE49-F238E27FC236}">
                <a16:creationId xmlns:a16="http://schemas.microsoft.com/office/drawing/2014/main" id="{F1A7CBB4-5DEA-45FB-A29F-528CC698B51D}"/>
              </a:ext>
            </a:extLst>
          </p:cNvPr>
          <p:cNvSpPr>
            <a:spLocks noGrp="1"/>
          </p:cNvSpPr>
          <p:nvPr/>
        </p:nvSpPr>
        <p:spPr>
          <a:xfrm>
            <a:off x="8096250" y="5742032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defPPr>
            <a:lvl1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1pPr>
            <a:lvl2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2pPr>
            <a:lvl3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3pPr>
            <a:lvl4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4pPr>
            <a:lvl5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5pPr>
            <a:lvl6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6pPr>
            <a:lvl7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7pPr>
            <a:lvl8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8pPr>
            <a:lvl9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050" b="1">
                <a:solidFill>
                  <a:srgbClr val="325E8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325E83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8" name="Test metrics divider 1">
            <a:extLst>
              <a:ext uri="{FF2B5EF4-FFF2-40B4-BE49-F238E27FC236}">
                <a16:creationId xmlns:a16="http://schemas.microsoft.com/office/drawing/2014/main" id="{1554099C-3FFB-40B2-B403-6B88C937F007}"/>
              </a:ext>
            </a:extLst>
          </p:cNvPr>
          <p:cNvSpPr>
            <a:spLocks noGrp="1"/>
          </p:cNvSpPr>
          <p:nvPr/>
        </p:nvSpPr>
        <p:spPr>
          <a:xfrm>
            <a:off x="4267200" y="5408657"/>
            <a:ext cx="0" cy="514350"/>
          </a:xfrm>
          <a:prstGeom prst="line">
            <a:avLst/>
          </a:prstGeom>
          <a:noFill/>
          <a:ln w="9525">
            <a:solidFill>
              <a:srgbClr val="C5D5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st metrics divider 2">
            <a:extLst>
              <a:ext uri="{FF2B5EF4-FFF2-40B4-BE49-F238E27FC236}">
                <a16:creationId xmlns:a16="http://schemas.microsoft.com/office/drawing/2014/main" id="{651591CE-059D-456C-AD20-E50C821E7500}"/>
              </a:ext>
            </a:extLst>
          </p:cNvPr>
          <p:cNvSpPr>
            <a:spLocks noGrp="1"/>
          </p:cNvSpPr>
          <p:nvPr/>
        </p:nvSpPr>
        <p:spPr>
          <a:xfrm>
            <a:off x="7839075" y="5408657"/>
            <a:ext cx="0" cy="514350"/>
          </a:xfrm>
          <a:prstGeom prst="line">
            <a:avLst/>
          </a:prstGeom>
          <a:noFill/>
          <a:ln w="9525">
            <a:solidFill>
              <a:srgbClr val="C5D5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trospective note">
            <a:extLst>
              <a:ext uri="{FF2B5EF4-FFF2-40B4-BE49-F238E27FC236}">
                <a16:creationId xmlns:a16="http://schemas.microsoft.com/office/drawing/2014/main" id="{2017AE25-3D4F-4432-A561-989E814415A6}"/>
              </a:ext>
            </a:extLst>
          </p:cNvPr>
          <p:cNvSpPr>
            <a:spLocks noGrp="1"/>
          </p:cNvSpPr>
          <p:nvPr/>
        </p:nvSpPr>
        <p:spPr>
          <a:xfrm>
            <a:off x="742950" y="6124567"/>
            <a:ext cx="10706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Ανα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δρομική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αξιολόγηση 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μετά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τη 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δημοσίευση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των labels </a:t>
            </a:r>
            <a:r>
              <a:rPr lang="en-GB"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-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όχι επ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ίσημη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συμμετοχή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 στον δια</a:t>
            </a:r>
            <a:r>
              <a:rPr sz="1600" b="0" dirty="0" err="1">
                <a:solidFill>
                  <a:srgbClr val="526174"/>
                </a:solidFill>
                <a:latin typeface="Aptos"/>
                <a:ea typeface="Aptos"/>
                <a:cs typeface="Aptos"/>
              </a:rPr>
              <a:t>γωνισμό</a:t>
            </a:r>
            <a:r>
              <a:rPr sz="1600" b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1" name="Page number">
            <a:extLst>
              <a:ext uri="{FF2B5EF4-FFF2-40B4-BE49-F238E27FC236}">
                <a16:creationId xmlns:a16="http://schemas.microsoft.com/office/drawing/2014/main" id="{4B1CEEBB-32D7-0299-30FF-5E6FF144CBA2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00" b="0" dirty="0">
                <a:solidFill>
                  <a:srgbClr val="677384"/>
                </a:solidFill>
                <a:latin typeface="Aptos"/>
              </a:rPr>
              <a:t>3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86258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title">
            <a:extLst>
              <a:ext uri="{FF2B5EF4-FFF2-40B4-BE49-F238E27FC236}">
                <a16:creationId xmlns:a16="http://schemas.microsoft.com/office/drawing/2014/main" id="{E87D9DF5-BF89-4769-8BF9-5E1356C5394D}"/>
              </a:ext>
            </a:extLst>
          </p:cNvPr>
          <p:cNvSpPr>
            <a:spLocks noGrp="1"/>
          </p:cNvSpPr>
          <p:nvPr/>
        </p:nvSpPr>
        <p:spPr>
          <a:xfrm>
            <a:off x="411480" y="246888"/>
            <a:ext cx="1133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30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3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Συμπ</a:t>
            </a:r>
            <a:r>
              <a:rPr sz="3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εράσμ</a:t>
            </a:r>
            <a:r>
              <a:rPr sz="3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ατα και μελλοντικές κατευθύνσεις</a:t>
            </a:r>
          </a:p>
        </p:txBody>
      </p:sp>
      <p:sp>
        <p:nvSpPr>
          <p:cNvPr id="2" name="Conclusions heading">
            <a:extLst>
              <a:ext uri="{FF2B5EF4-FFF2-40B4-BE49-F238E27FC236}">
                <a16:creationId xmlns:a16="http://schemas.microsoft.com/office/drawing/2014/main" id="{FBDE90D3-2055-4634-B2B3-45DC6F40DD2B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535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Συμπ</a:t>
            </a:r>
            <a:r>
              <a:rPr sz="24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εράσμ</a:t>
            </a: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ατα</a:t>
            </a:r>
          </a:p>
        </p:txBody>
      </p:sp>
      <p:sp>
        <p:nvSpPr>
          <p:cNvPr id="3" name="Future directions heading">
            <a:extLst>
              <a:ext uri="{FF2B5EF4-FFF2-40B4-BE49-F238E27FC236}">
                <a16:creationId xmlns:a16="http://schemas.microsoft.com/office/drawing/2014/main" id="{1AF41306-C19C-48CC-BFD6-3C2A4D02DC01}"/>
              </a:ext>
            </a:extLst>
          </p:cNvPr>
          <p:cNvSpPr>
            <a:spLocks noGrp="1"/>
          </p:cNvSpPr>
          <p:nvPr/>
        </p:nvSpPr>
        <p:spPr>
          <a:xfrm>
            <a:off x="6286500" y="1133475"/>
            <a:ext cx="535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800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Μελλοντικές</a:t>
            </a:r>
            <a:r>
              <a:rPr sz="24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κα</a:t>
            </a:r>
            <a:r>
              <a:rPr sz="24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τευθύνσεις</a:t>
            </a:r>
            <a:endParaRPr sz="2400" b="1" dirty="0">
              <a:solidFill>
                <a:srgbClr val="1024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Conclusions heading accent">
            <a:extLst>
              <a:ext uri="{FF2B5EF4-FFF2-40B4-BE49-F238E27FC236}">
                <a16:creationId xmlns:a16="http://schemas.microsoft.com/office/drawing/2014/main" id="{390AE619-4A76-46E1-806E-C02396F23890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895350" cy="0"/>
          </a:xfrm>
          <a:prstGeom prst="line">
            <a:avLst/>
          </a:prstGeom>
          <a:noFill/>
          <a:ln w="20955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Future heading accent">
            <a:extLst>
              <a:ext uri="{FF2B5EF4-FFF2-40B4-BE49-F238E27FC236}">
                <a16:creationId xmlns:a16="http://schemas.microsoft.com/office/drawing/2014/main" id="{3F3C4835-44F2-49C6-A049-1A808B1A0A6A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895350" cy="0"/>
          </a:xfrm>
          <a:prstGeom prst="line">
            <a:avLst/>
          </a:prstGeom>
          <a:noFill/>
          <a:ln w="20955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Conclusion vertical accent 1">
            <a:extLst>
              <a:ext uri="{FF2B5EF4-FFF2-40B4-BE49-F238E27FC236}">
                <a16:creationId xmlns:a16="http://schemas.microsoft.com/office/drawing/2014/main" id="{C24EDCEF-303B-44C9-BFBD-D48E804794D8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Conclusion title 1">
            <a:extLst>
              <a:ext uri="{FF2B5EF4-FFF2-40B4-BE49-F238E27FC236}">
                <a16:creationId xmlns:a16="http://schemas.microsoft.com/office/drawing/2014/main" id="{F28128D3-DD98-4295-86FA-E20AFA06BB5B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Το NLI </a:t>
            </a:r>
            <a:r>
              <a:rPr sz="2000" b="1" dirty="0" err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έδωσε</a:t>
            </a:r>
            <a:r>
              <a:rPr sz="2000" b="1" dirty="0">
                <a:solidFill>
                  <a:srgbClr val="10243D"/>
                </a:solidFill>
                <a:latin typeface="Aptos"/>
                <a:ea typeface="Aptos"/>
                <a:cs typeface="Aptos"/>
              </a:rPr>
              <a:t> την ισχυρότερη αρχική ένδειξη</a:t>
            </a:r>
          </a:p>
        </p:txBody>
      </p:sp>
      <p:sp>
        <p:nvSpPr>
          <p:cNvPr id="8" name="Conclusion body 1">
            <a:extLst>
              <a:ext uri="{FF2B5EF4-FFF2-40B4-BE49-F238E27FC236}">
                <a16:creationId xmlns:a16="http://schemas.microsoft.com/office/drawing/2014/main" id="{8BE19E20-5D32-42AB-B79E-0EF4009BAF45}"/>
              </a:ext>
            </a:extLst>
          </p:cNvPr>
          <p:cNvSpPr>
            <a:spLocks noGrp="1"/>
          </p:cNvSpPr>
          <p:nvPr/>
        </p:nvSpPr>
        <p:spPr>
          <a:xfrm>
            <a:off x="714375" y="225742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374357"/>
                </a:solidFill>
                <a:latin typeface="Aptos"/>
                <a:ea typeface="Aptos"/>
                <a:cs typeface="Aptos"/>
              </a:rPr>
              <a:t>Στην π</a:t>
            </a:r>
            <a:r>
              <a:rPr sz="1800" b="0" dirty="0" err="1">
                <a:solidFill>
                  <a:srgbClr val="374357"/>
                </a:solidFill>
                <a:latin typeface="Aptos"/>
                <a:ea typeface="Aptos"/>
                <a:cs typeface="Aptos"/>
              </a:rPr>
              <a:t>ρώτη</a:t>
            </a:r>
            <a:r>
              <a:rPr sz="1800" b="0" dirty="0">
                <a:solidFill>
                  <a:srgbClr val="37435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374357"/>
                </a:solidFill>
                <a:latin typeface="Aptos"/>
                <a:ea typeface="Aptos"/>
                <a:cs typeface="Aptos"/>
              </a:rPr>
              <a:t>φάση</a:t>
            </a:r>
            <a:r>
              <a:rPr sz="1800" b="0" dirty="0">
                <a:solidFill>
                  <a:srgbClr val="374357"/>
                </a:solidFill>
                <a:latin typeface="Aptos"/>
                <a:ea typeface="Aptos"/>
                <a:cs typeface="Aptos"/>
              </a:rPr>
              <a:t>, το NLI απ</a:t>
            </a:r>
            <a:r>
              <a:rPr sz="1800" b="0" dirty="0" err="1">
                <a:solidFill>
                  <a:srgbClr val="374357"/>
                </a:solidFill>
                <a:latin typeface="Aptos"/>
                <a:ea typeface="Aptos"/>
                <a:cs typeface="Aptos"/>
              </a:rPr>
              <a:t>έδωσε</a:t>
            </a:r>
            <a:r>
              <a:rPr sz="1800" b="0" dirty="0">
                <a:solidFill>
                  <a:srgbClr val="374357"/>
                </a:solidFill>
                <a:latin typeface="Aptos"/>
                <a:ea typeface="Aptos"/>
                <a:cs typeface="Aptos"/>
              </a:rPr>
              <a:t> καλύτερα από τη σημασιολογική ομοιότητα, η οπ</a:t>
            </a:r>
            <a:r>
              <a:rPr sz="1800" b="0" dirty="0" err="1">
                <a:solidFill>
                  <a:srgbClr val="374357"/>
                </a:solidFill>
                <a:latin typeface="Aptos"/>
                <a:ea typeface="Aptos"/>
                <a:cs typeface="Aptos"/>
              </a:rPr>
              <a:t>οί</a:t>
            </a:r>
            <a:r>
              <a:rPr sz="1800" b="0" dirty="0">
                <a:solidFill>
                  <a:srgbClr val="374357"/>
                </a:solidFill>
                <a:latin typeface="Aptos"/>
                <a:ea typeface="Aptos"/>
                <a:cs typeface="Aptos"/>
              </a:rPr>
              <a:t>α λειτούργησε συμπληρωματικά.</a:t>
            </a:r>
          </a:p>
        </p:txBody>
      </p:sp>
      <p:sp>
        <p:nvSpPr>
          <p:cNvPr id="10" name="Conclusion vertical accent 2">
            <a:extLst>
              <a:ext uri="{FF2B5EF4-FFF2-40B4-BE49-F238E27FC236}">
                <a16:creationId xmlns:a16="http://schemas.microsoft.com/office/drawing/2014/main" id="{1C61ECDA-2856-48CD-9DED-F740DC84375A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Conclusion title 2">
            <a:extLst>
              <a:ext uri="{FF2B5EF4-FFF2-40B4-BE49-F238E27FC236}">
                <a16:creationId xmlns:a16="http://schemas.microsoft.com/office/drawing/2014/main" id="{D1DFB620-8382-4413-8BC6-7D9893D5C4AC}"/>
              </a:ext>
            </a:extLst>
          </p:cNvPr>
          <p:cNvSpPr>
            <a:spLocks noGrp="1"/>
          </p:cNvSpPr>
          <p:nvPr/>
        </p:nvSpPr>
        <p:spPr>
          <a:xfrm>
            <a:off x="714375" y="331470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Δυνατότητες της αυτόματης επίβλεψης</a:t>
            </a:r>
          </a:p>
        </p:txBody>
      </p:sp>
      <p:sp>
        <p:nvSpPr>
          <p:cNvPr id="12" name="Conclusion body 2">
            <a:extLst>
              <a:ext uri="{FF2B5EF4-FFF2-40B4-BE49-F238E27FC236}">
                <a16:creationId xmlns:a16="http://schemas.microsoft.com/office/drawing/2014/main" id="{9AA1D215-F861-4E5B-891C-307B49AB23FF}"/>
              </a:ext>
            </a:extLst>
          </p:cNvPr>
          <p:cNvSpPr>
            <a:spLocks noGrp="1"/>
          </p:cNvSpPr>
          <p:nvPr/>
        </p:nvSpPr>
        <p:spPr>
          <a:xfrm>
            <a:off x="714375" y="376237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357"/>
                </a:solidFill>
                <a:latin typeface="Aptos"/>
                <a:ea typeface="Aptos"/>
                <a:cs typeface="Aptos"/>
              </a:rPr>
              <a:t>Η αξιοποίηση ετικετών από LLM βελτίωσε το fine-tuning, χωρίς όμως να ξεπεράσει τη μέθοδο που βασίζεται σε αριθμητικά χαρακτηριστικά.</a:t>
            </a:r>
          </a:p>
        </p:txBody>
      </p:sp>
      <p:sp>
        <p:nvSpPr>
          <p:cNvPr id="14" name="Conclusion vertical accent 3">
            <a:extLst>
              <a:ext uri="{FF2B5EF4-FFF2-40B4-BE49-F238E27FC236}">
                <a16:creationId xmlns:a16="http://schemas.microsoft.com/office/drawing/2014/main" id="{EBCAA4F4-FE46-4695-81DB-AE1E1A583A5E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Conclusion title 3">
            <a:extLst>
              <a:ext uri="{FF2B5EF4-FFF2-40B4-BE49-F238E27FC236}">
                <a16:creationId xmlns:a16="http://schemas.microsoft.com/office/drawing/2014/main" id="{8BDF14E9-8D5A-4AE6-A2D0-CCDE57BD3A76}"/>
              </a:ext>
            </a:extLst>
          </p:cNvPr>
          <p:cNvSpPr>
            <a:spLocks noGrp="1"/>
          </p:cNvSpPr>
          <p:nvPr/>
        </p:nvSpPr>
        <p:spPr>
          <a:xfrm>
            <a:off x="714375" y="481965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Η πολυπλοκότητα δεν αρκεί</a:t>
            </a:r>
          </a:p>
        </p:txBody>
      </p:sp>
      <p:sp>
        <p:nvSpPr>
          <p:cNvPr id="16" name="Conclusion body 3">
            <a:extLst>
              <a:ext uri="{FF2B5EF4-FFF2-40B4-BE49-F238E27FC236}">
                <a16:creationId xmlns:a16="http://schemas.microsoft.com/office/drawing/2014/main" id="{C6CD8310-9B42-4B67-ACF9-D84F048FD652}"/>
              </a:ext>
            </a:extLst>
          </p:cNvPr>
          <p:cNvSpPr>
            <a:spLocks noGrp="1"/>
          </p:cNvSpPr>
          <p:nvPr/>
        </p:nvSpPr>
        <p:spPr>
          <a:xfrm>
            <a:off x="714375" y="526732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357"/>
                </a:solidFill>
                <a:latin typeface="Aptos"/>
                <a:ea typeface="Aptos"/>
                <a:cs typeface="Aptos"/>
              </a:rPr>
              <a:t>Περισσότερα χαρακτηριστικά ή πιο σύνθετες μέθοδοι δεν εξασφαλίζουν καλύτερη απόδοση.</a:t>
            </a:r>
          </a:p>
        </p:txBody>
      </p:sp>
      <p:sp>
        <p:nvSpPr>
          <p:cNvPr id="17" name="Direction vertical accent 1">
            <a:extLst>
              <a:ext uri="{FF2B5EF4-FFF2-40B4-BE49-F238E27FC236}">
                <a16:creationId xmlns:a16="http://schemas.microsoft.com/office/drawing/2014/main" id="{4A8E5A48-7657-42E3-807A-660493AE637D}"/>
              </a:ext>
            </a:extLst>
          </p:cNvPr>
          <p:cNvSpPr>
            <a:spLocks noGrp="1"/>
          </p:cNvSpPr>
          <p:nvPr/>
        </p:nvSpPr>
        <p:spPr>
          <a:xfrm>
            <a:off x="6286500" y="182880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Direction title 1">
            <a:extLst>
              <a:ext uri="{FF2B5EF4-FFF2-40B4-BE49-F238E27FC236}">
                <a16:creationId xmlns:a16="http://schemas.microsoft.com/office/drawing/2014/main" id="{A939248B-CA5A-4B46-ADDF-23F49DB2B2FA}"/>
              </a:ext>
            </a:extLst>
          </p:cNvPr>
          <p:cNvSpPr>
            <a:spLocks noGrp="1"/>
          </p:cNvSpPr>
          <p:nvPr/>
        </p:nvSpPr>
        <p:spPr>
          <a:xfrm>
            <a:off x="6448425" y="180975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Προσαρμοστικό Agentic RAG</a:t>
            </a:r>
          </a:p>
        </p:txBody>
      </p:sp>
      <p:sp>
        <p:nvSpPr>
          <p:cNvPr id="19" name="Direction body 1">
            <a:extLst>
              <a:ext uri="{FF2B5EF4-FFF2-40B4-BE49-F238E27FC236}">
                <a16:creationId xmlns:a16="http://schemas.microsoft.com/office/drawing/2014/main" id="{33F35465-6803-4666-A397-90EF29D36DDC}"/>
              </a:ext>
            </a:extLst>
          </p:cNvPr>
          <p:cNvSpPr>
            <a:spLocks noGrp="1"/>
          </p:cNvSpPr>
          <p:nvPr/>
        </p:nvSpPr>
        <p:spPr>
          <a:xfrm>
            <a:off x="6448425" y="225742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357"/>
                </a:solidFill>
                <a:latin typeface="Aptos"/>
                <a:ea typeface="Aptos"/>
                <a:cs typeface="Aptos"/>
              </a:rPr>
              <a:t>Δυναμική επιλογή της χρήσης εξωτερικής γνώσης, με βάση την αβεβαιότητα και τη σημασιολογική υποστήριξη.</a:t>
            </a:r>
          </a:p>
        </p:txBody>
      </p:sp>
      <p:sp>
        <p:nvSpPr>
          <p:cNvPr id="21" name="Direction vertical accent 2">
            <a:extLst>
              <a:ext uri="{FF2B5EF4-FFF2-40B4-BE49-F238E27FC236}">
                <a16:creationId xmlns:a16="http://schemas.microsoft.com/office/drawing/2014/main" id="{0FD24284-4763-4A38-A3E8-2F7D66591B0F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Direction title 2">
            <a:extLst>
              <a:ext uri="{FF2B5EF4-FFF2-40B4-BE49-F238E27FC236}">
                <a16:creationId xmlns:a16="http://schemas.microsoft.com/office/drawing/2014/main" id="{BF0EA242-78C3-4DA8-9EFC-4EC52747F8B4}"/>
              </a:ext>
            </a:extLst>
          </p:cNvPr>
          <p:cNvSpPr>
            <a:spLocks noGrp="1"/>
          </p:cNvSpPr>
          <p:nvPr/>
        </p:nvSpPr>
        <p:spPr>
          <a:xfrm>
            <a:off x="6448425" y="331470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0243D"/>
                </a:solidFill>
                <a:latin typeface="Aptos"/>
                <a:ea typeface="Aptos"/>
                <a:cs typeface="Aptos"/>
              </a:rPr>
              <a:t>Βελτίωση εξωτερικής γνώσης</a:t>
            </a:r>
          </a:p>
        </p:txBody>
      </p:sp>
      <p:sp>
        <p:nvSpPr>
          <p:cNvPr id="23" name="Direction body 2">
            <a:extLst>
              <a:ext uri="{FF2B5EF4-FFF2-40B4-BE49-F238E27FC236}">
                <a16:creationId xmlns:a16="http://schemas.microsoft.com/office/drawing/2014/main" id="{96A0B610-4D06-44AF-AEDF-E93E98DE3623}"/>
              </a:ext>
            </a:extLst>
          </p:cNvPr>
          <p:cNvSpPr>
            <a:spLocks noGrp="1"/>
          </p:cNvSpPr>
          <p:nvPr/>
        </p:nvSpPr>
        <p:spPr>
          <a:xfrm>
            <a:off x="6448425" y="376237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357"/>
                </a:solidFill>
                <a:latin typeface="Aptos"/>
                <a:ea typeface="Aptos"/>
                <a:cs typeface="Aptos"/>
              </a:rPr>
              <a:t>Περισσότερες αξιόπιστες πηγές και καλύτερη επιλογή πληροφορίας με βάση τα συμφραζόμενα.</a:t>
            </a:r>
          </a:p>
        </p:txBody>
      </p:sp>
      <p:sp>
        <p:nvSpPr>
          <p:cNvPr id="25" name="Direction vertical accent 3">
            <a:extLst>
              <a:ext uri="{FF2B5EF4-FFF2-40B4-BE49-F238E27FC236}">
                <a16:creationId xmlns:a16="http://schemas.microsoft.com/office/drawing/2014/main" id="{4A4C92DF-3598-465A-92F2-C4ED82CF17E1}"/>
              </a:ext>
            </a:extLst>
          </p:cNvPr>
          <p:cNvSpPr>
            <a:spLocks noGrp="1"/>
          </p:cNvSpPr>
          <p:nvPr/>
        </p:nvSpPr>
        <p:spPr>
          <a:xfrm>
            <a:off x="6286500" y="4838700"/>
            <a:ext cx="0" cy="342900"/>
          </a:xfrm>
          <a:prstGeom prst="line">
            <a:avLst/>
          </a:prstGeom>
          <a:noFill/>
          <a:ln w="30480">
            <a:solidFill>
              <a:srgbClr val="325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Direction title 3">
            <a:extLst>
              <a:ext uri="{FF2B5EF4-FFF2-40B4-BE49-F238E27FC236}">
                <a16:creationId xmlns:a16="http://schemas.microsoft.com/office/drawing/2014/main" id="{0380BDBA-79B9-4871-8CE2-D63DA4483AAE}"/>
              </a:ext>
            </a:extLst>
          </p:cNvPr>
          <p:cNvSpPr>
            <a:spLocks noGrp="1"/>
          </p:cNvSpPr>
          <p:nvPr/>
        </p:nvSpPr>
        <p:spPr>
          <a:xfrm>
            <a:off x="6448425" y="4819650"/>
            <a:ext cx="519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defPPr>
            <a:lvl1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1pPr>
            <a:lvl2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2pPr>
            <a:lvl3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3pPr>
            <a:lvl4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4pPr>
            <a:lvl5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5pPr>
            <a:lvl6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6pPr>
            <a:lvl7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7pPr>
            <a:lvl8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8pPr>
            <a:lvl9pPr algn="l"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3000"/>
              </a:lnSpc>
              <a:buNone/>
              <a:defRPr sz="1463" b="1">
                <a:solidFill>
                  <a:srgbClr val="10243D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0243D"/>
                </a:solidFill>
                <a:latin typeface="Aptos"/>
                <a:ea typeface="Aptos"/>
                <a:cs typeface="Aptos"/>
              </a:rPr>
              <a:t>Πιο αξιόπιστη αυτόματη επίβλεψη</a:t>
            </a:r>
          </a:p>
        </p:txBody>
      </p:sp>
      <p:sp>
        <p:nvSpPr>
          <p:cNvPr id="27" name="Direction body 3">
            <a:extLst>
              <a:ext uri="{FF2B5EF4-FFF2-40B4-BE49-F238E27FC236}">
                <a16:creationId xmlns:a16="http://schemas.microsoft.com/office/drawing/2014/main" id="{97D19ABE-8F9A-4E86-9399-1BB81224F51D}"/>
              </a:ext>
            </a:extLst>
          </p:cNvPr>
          <p:cNvSpPr>
            <a:spLocks noGrp="1"/>
          </p:cNvSpPr>
          <p:nvPr/>
        </p:nvSpPr>
        <p:spPr>
          <a:xfrm>
            <a:off x="6448425" y="5267325"/>
            <a:ext cx="51339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defPPr>
            <a:lvl1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1pPr>
            <a:lvl2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2pPr>
            <a:lvl3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3pPr>
            <a:lvl4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4pPr>
            <a:lvl5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5pPr>
            <a:lvl6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6pPr>
            <a:lvl7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7pPr>
            <a:lvl8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8pPr>
            <a:lvl9pPr algn="l"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4000"/>
              </a:lnSpc>
              <a:buNone/>
              <a:defRPr sz="1313" b="0">
                <a:solidFill>
                  <a:srgbClr val="37435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357"/>
                </a:solidFill>
                <a:latin typeface="Aptos"/>
                <a:ea typeface="Aptos"/>
                <a:cs typeface="Aptos"/>
              </a:rPr>
              <a:t>Ανάπτυξη μεθόδων ελέγχου και επιλογής των ετικετών που παράγουν LLMs.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4B1CEEBB-32D7-0299-30FF-5E6FF144CBA2}"/>
              </a:ext>
            </a:extLst>
          </p:cNvPr>
          <p:cNvSpPr txBox="1"/>
          <p:nvPr/>
        </p:nvSpPr>
        <p:spPr>
          <a:xfrm>
            <a:off x="11466576" y="6537960"/>
            <a:ext cx="274320" cy="2022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77384"/>
                </a:solidFill>
                <a:latin typeface="Aptos"/>
              </a:rPr>
              <a:t>1</a:t>
            </a:r>
            <a:r>
              <a:rPr lang="en-GB" sz="1300" b="0" dirty="0">
                <a:solidFill>
                  <a:srgbClr val="677384"/>
                </a:solidFill>
                <a:latin typeface="Aptos"/>
              </a:rPr>
              <a:t>4</a:t>
            </a:r>
            <a:endParaRPr sz="1300" b="0" dirty="0">
              <a:solidFill>
                <a:srgbClr val="6773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71701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2058543" y="10977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ΠΑΝΕΠΙΣΤΗΜΙΟ ΙΩΑΝΝΙΝΩΝ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Text 1"/>
          <p:cNvSpPr/>
          <p:nvPr/>
        </p:nvSpPr>
        <p:spPr>
          <a:xfrm>
            <a:off x="2058543" y="131694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8EFF5"/>
                </a:solidFill>
                <a:effectLst/>
                <a:uLnTx/>
                <a:uFillTx/>
                <a:ea typeface="Aptos" pitchFamily="34" charset="-122"/>
                <a:cs typeface="Aptos" pitchFamily="34" charset="-120"/>
              </a:rPr>
              <a:t>Τμήμα Μηχανικών Ηλεκτρονικών Υπολογιστών και Πληροφορικής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Text 2"/>
          <p:cNvSpPr/>
          <p:nvPr/>
        </p:nvSpPr>
        <p:spPr>
          <a:xfrm>
            <a:off x="240487" y="2571750"/>
            <a:ext cx="850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defRPr sz="3600" b="1"/>
            </a:pPr>
            <a:endParaRPr lang="el-GR" sz="3600" dirty="0">
              <a:solidFill>
                <a:srgbClr val="FFFFFF"/>
              </a:solidFill>
            </a:endParaRPr>
          </a:p>
        </p:txBody>
      </p:sp>
      <p:sp>
        <p:nvSpPr>
          <p:cNvPr id="40" name="Text 3"/>
          <p:cNvSpPr/>
          <p:nvPr/>
        </p:nvSpPr>
        <p:spPr>
          <a:xfrm>
            <a:off x="241402" y="3733800"/>
            <a:ext cx="6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defRPr sz="2400" b="0"/>
            </a:pPr>
            <a:endParaRPr lang="el-GR" sz="2400" dirty="0">
              <a:solidFill>
                <a:srgbClr val="B6D1E7"/>
              </a:solidFill>
            </a:endParaRPr>
          </a:p>
        </p:txBody>
      </p:sp>
      <p:pic>
        <p:nvPicPr>
          <p:cNvPr id="50" name="Image 0" descr="/mnt/data/SHROOM_CSE_logo_transparent.png">
            <a:extLst>
              <a:ext uri="{FF2B5EF4-FFF2-40B4-BE49-F238E27FC236}">
                <a16:creationId xmlns:a16="http://schemas.microsoft.com/office/drawing/2014/main" id="{B58D901B-6AAF-E569-F33E-AF7500C7C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55" y="230238"/>
            <a:ext cx="1745913" cy="2059151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9378814-BD3D-1765-6429-7AA579AF7DE6}"/>
              </a:ext>
            </a:extLst>
          </p:cNvPr>
          <p:cNvSpPr/>
          <p:nvPr/>
        </p:nvSpPr>
        <p:spPr>
          <a:xfrm>
            <a:off x="240487" y="2896386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3600" b="1"/>
            </a:pPr>
            <a:endParaRPr lang="el-GR" sz="3200" dirty="0">
              <a:solidFill>
                <a:srgbClr val="FFFFFF"/>
              </a:solidFill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B92EA1C-06BF-102B-EC37-471541B89665}"/>
              </a:ext>
            </a:extLst>
          </p:cNvPr>
          <p:cNvSpPr/>
          <p:nvPr/>
        </p:nvSpPr>
        <p:spPr>
          <a:xfrm>
            <a:off x="241402" y="353327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sz="2400" kern="0" dirty="0">
                <a:solidFill>
                  <a:srgbClr val="B6D1E7"/>
                </a:solidFill>
              </a:rPr>
              <a:t>Ερωτήσεις;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29E73FE-36BC-5868-7F7D-5081B2EEEC47}"/>
              </a:ext>
            </a:extLst>
          </p:cNvPr>
          <p:cNvSpPr/>
          <p:nvPr/>
        </p:nvSpPr>
        <p:spPr>
          <a:xfrm>
            <a:off x="241402" y="3995042"/>
            <a:ext cx="1042416" cy="48463"/>
          </a:xfrm>
          <a:prstGeom prst="rect">
            <a:avLst/>
          </a:prstGeom>
          <a:solidFill>
            <a:srgbClr val="2563A6"/>
          </a:solidFill>
          <a:ln w="12700">
            <a:solidFill>
              <a:srgbClr val="2563A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3AEF46F-879D-6280-DAED-B72855729705}"/>
              </a:ext>
            </a:extLst>
          </p:cNvPr>
          <p:cNvSpPr/>
          <p:nvPr/>
        </p:nvSpPr>
        <p:spPr>
          <a:xfrm>
            <a:off x="240487" y="2989794"/>
            <a:ext cx="1176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Ευχαριστώ για την προσοχή σας!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1819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5659</TotalTime>
  <Words>1841</Words>
  <Application>Microsoft Office PowerPoint</Application>
  <PresentationFormat>Widescreen</PresentationFormat>
  <Paragraphs>517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Spyros Kontakis</dc:creator>
  <cp:lastModifiedBy>Spyros Kontakis</cp:lastModifiedBy>
  <cp:revision>100</cp:revision>
  <dcterms:created xsi:type="dcterms:W3CDTF">2026-10-10T09:19:12Z</dcterms:created>
  <dcterms:modified xsi:type="dcterms:W3CDTF">2026-10-21T14:52:30Z</dcterms:modified>
</cp:coreProperties>
</file>